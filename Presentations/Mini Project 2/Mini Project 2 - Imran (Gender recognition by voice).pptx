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1" r:id="rId4"/>
    <p:sldId id="260" r:id="rId5"/>
    <p:sldId id="258" r:id="rId6"/>
    <p:sldId id="262" r:id="rId7"/>
    <p:sldId id="272" r:id="rId8"/>
    <p:sldId id="270" r:id="rId9"/>
    <p:sldId id="271" r:id="rId10"/>
    <p:sldId id="273" r:id="rId11"/>
    <p:sldId id="274" r:id="rId12"/>
    <p:sldId id="263" r:id="rId13"/>
    <p:sldId id="264" r:id="rId14"/>
    <p:sldId id="266" r:id="rId15"/>
    <p:sldId id="267" r:id="rId16"/>
    <p:sldId id="275" r:id="rId17"/>
    <p:sldId id="276" r:id="rId18"/>
    <p:sldId id="268" r:id="rId19"/>
    <p:sldId id="277" r:id="rId20"/>
    <p:sldId id="278" r:id="rId21"/>
    <p:sldId id="279" r:id="rId22"/>
    <p:sldId id="269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173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E95D5-2F35-4C24-9061-42B9E6B8FE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E09640-0BE0-4A55-9A43-73A7F67602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3D8E50-6F99-4C44-AAA1-954C97512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F0EBB-E19D-429B-8990-2178230B6148}" type="datetimeFigureOut">
              <a:rPr lang="en-SG" smtClean="0"/>
              <a:t>10/6/2021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162095-7A3C-4CDC-A697-2FE910B6E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93CDA1-2362-466E-B6CB-5C87D4A3D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F05C7-CF7A-43D5-8CD8-2926274C7E1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03071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883F2-7612-4FFE-BE35-BF8B28A99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9F384-6372-4C55-9770-7AFDCD651A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28475A-A215-4F9A-AC01-C751EC2B9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F0EBB-E19D-429B-8990-2178230B6148}" type="datetimeFigureOut">
              <a:rPr lang="en-SG" smtClean="0"/>
              <a:t>10/6/2021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41367E-C0DC-4991-9ACA-3132CB412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364692-8001-4CD2-8A4B-371505FF3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F05C7-CF7A-43D5-8CD8-2926274C7E1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76874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1892B-CF3D-4581-96B5-3C9DDA829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527A44-EAFD-4313-B249-A6A145F912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30916F-16C7-49D7-829A-E0CA3640B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F0EBB-E19D-429B-8990-2178230B6148}" type="datetimeFigureOut">
              <a:rPr lang="en-SG" smtClean="0"/>
              <a:t>10/6/2021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93E779-8F93-4528-9BED-AC884C3F7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992562-685E-4F1E-9633-37E33AE91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F05C7-CF7A-43D5-8CD8-2926274C7E1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77033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64825-828A-4397-B694-36ECBA63E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C7590-3928-4557-914E-A7A48D3381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E10781-DD74-43CF-9267-A00FF6C442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58956D-3FC2-4F56-9A2E-C66476F72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F0EBB-E19D-429B-8990-2178230B6148}" type="datetimeFigureOut">
              <a:rPr lang="en-SG" smtClean="0"/>
              <a:t>10/6/2021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3AD090-9721-4414-B541-B08511BE9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0631A2-7386-4ECC-A052-DD38EB028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F05C7-CF7A-43D5-8CD8-2926274C7E1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86547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64022-B247-456B-8371-D23ADD5D9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A627B1-0A00-427D-95F1-54B5954756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75B442-8221-404C-98C2-25839A60F2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535DD4-6468-44A3-8889-F6447021EB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C53768-CF2B-485E-87D9-D36EBB4F8E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B98DB8-9CFD-4190-9F43-62205C3D4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F0EBB-E19D-429B-8990-2178230B6148}" type="datetimeFigureOut">
              <a:rPr lang="en-SG" smtClean="0"/>
              <a:t>10/6/2021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E6158E-F8C9-4AD6-8464-585882E91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7A6333-275A-466A-92C5-C14563B61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F05C7-CF7A-43D5-8CD8-2926274C7E1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62168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CF4B6-4A28-438F-8F47-8324CF3CE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3E1133-BFED-46A2-8069-EDBD7BBB4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F0EBB-E19D-429B-8990-2178230B6148}" type="datetimeFigureOut">
              <a:rPr lang="en-SG" smtClean="0"/>
              <a:t>10/6/2021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446B30-DA0A-45EF-B15E-FB9A5B59A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363F99-4A4F-40CB-AF80-FB44A1751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F05C7-CF7A-43D5-8CD8-2926274C7E1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92026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9C24F8-9F50-4094-8108-454773AF4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F0EBB-E19D-429B-8990-2178230B6148}" type="datetimeFigureOut">
              <a:rPr lang="en-SG" smtClean="0"/>
              <a:t>10/6/2021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8246BA-E72D-4830-923F-281153419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DEC3A-7BA7-46D3-B867-86148083A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F05C7-CF7A-43D5-8CD8-2926274C7E1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99117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B2E41-9BB7-43BA-BA40-089F1245F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907ED-A629-4CD7-9898-16F2FC2AEF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233E2A-3F77-465A-82DE-6CC822910D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17E7E0-3BC5-466C-91B1-47398FA98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F0EBB-E19D-429B-8990-2178230B6148}" type="datetimeFigureOut">
              <a:rPr lang="en-SG" smtClean="0"/>
              <a:t>10/6/2021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05219B-9483-48D5-8C9A-A1D49D5DB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A4373C-8743-466E-A788-D9D459120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F05C7-CF7A-43D5-8CD8-2926274C7E1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5484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588EB-AD4A-4D60-A92F-07144064F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7D9D36-4205-4274-8801-09459EDB5B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F430EE-FF91-444E-A619-ADCF65F6EF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DBED66-04AA-4073-B1F4-DC8D9B55E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F0EBB-E19D-429B-8990-2178230B6148}" type="datetimeFigureOut">
              <a:rPr lang="en-SG" smtClean="0"/>
              <a:t>10/6/2021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13C71B-0001-4E3C-B7EB-58C2F9AD5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AC050D-F2C3-43C6-A8AE-B828FB138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F05C7-CF7A-43D5-8CD8-2926274C7E1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00748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5FE39-BE31-49A7-AB7A-8A2035901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144C36-CEE3-4526-8DDF-6EB13C9CB8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BF8A6A-D7C9-4F7E-ACAF-262D6762F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F0EBB-E19D-429B-8990-2178230B6148}" type="datetimeFigureOut">
              <a:rPr lang="en-SG" smtClean="0"/>
              <a:t>10/6/2021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2A98B1-3D1B-420F-9A4F-35BE2F6F4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E825A-0951-451C-91B7-91DC30D36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F05C7-CF7A-43D5-8CD8-2926274C7E1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57718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506ED4-685F-4FE9-8506-0E2CDF3F07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3FF0B7-4A49-4A23-8771-6955F934EC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B9D021-BBD8-4F46-BBC6-8D4FE77C7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F0EBB-E19D-429B-8990-2178230B6148}" type="datetimeFigureOut">
              <a:rPr lang="en-SG" smtClean="0"/>
              <a:t>10/6/2021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0800C6-4751-4682-94DF-DA2601284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4B533E-87A9-44B5-AFE9-47F2CE215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F05C7-CF7A-43D5-8CD8-2926274C7E1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40168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8C3E21-B92F-469F-AF47-61423C2D6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B2661B-ED1F-4702-A987-6EBCBC85A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041700-7DD8-496D-BDC9-07CB406948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2F0EBB-E19D-429B-8990-2178230B6148}" type="datetimeFigureOut">
              <a:rPr lang="en-SG" smtClean="0"/>
              <a:t>10/6/2021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59EABE-23E0-49A6-ABF2-66C79B6E51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6D4E42-CDA4-4A1F-93A3-57B3B35A67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EF05C7-CF7A-43D5-8CD8-2926274C7E1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48525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primaryobjects/voicegender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2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7">
            <a:extLst>
              <a:ext uri="{FF2B5EF4-FFF2-40B4-BE49-F238E27FC236}">
                <a16:creationId xmlns:a16="http://schemas.microsoft.com/office/drawing/2014/main" id="{88294908-8B00-4F58-BBBA-20F71A40A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Freeform: Shape 9">
            <a:extLst>
              <a:ext uri="{FF2B5EF4-FFF2-40B4-BE49-F238E27FC236}">
                <a16:creationId xmlns:a16="http://schemas.microsoft.com/office/drawing/2014/main" id="{4364C879-1404-4203-8E9D-CC5DE0A62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2782" y="-1386168"/>
            <a:ext cx="2424873" cy="3611191"/>
          </a:xfrm>
          <a:custGeom>
            <a:avLst/>
            <a:gdLst>
              <a:gd name="connsiteX0" fmla="*/ 0 w 2424873"/>
              <a:gd name="connsiteY0" fmla="*/ 2424874 h 3611191"/>
              <a:gd name="connsiteX1" fmla="*/ 2424873 w 2424873"/>
              <a:gd name="connsiteY1" fmla="*/ 0 h 3611191"/>
              <a:gd name="connsiteX2" fmla="*/ 2424873 w 2424873"/>
              <a:gd name="connsiteY2" fmla="*/ 3611191 h 3611191"/>
              <a:gd name="connsiteX3" fmla="*/ 1186317 w 2424873"/>
              <a:gd name="connsiteY3" fmla="*/ 3611191 h 3611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24873" h="3611191">
                <a:moveTo>
                  <a:pt x="0" y="2424874"/>
                </a:moveTo>
                <a:lnTo>
                  <a:pt x="2424873" y="0"/>
                </a:lnTo>
                <a:lnTo>
                  <a:pt x="2424873" y="3611191"/>
                </a:lnTo>
                <a:lnTo>
                  <a:pt x="1186317" y="361119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4617302-4B0D-4351-A6BB-6F0930D9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571000" y="-338582"/>
            <a:ext cx="1635955" cy="1635955"/>
          </a:xfrm>
          <a:custGeom>
            <a:avLst/>
            <a:gdLst>
              <a:gd name="connsiteX0" fmla="*/ 0 w 1635955"/>
              <a:gd name="connsiteY0" fmla="*/ 957987 h 1635955"/>
              <a:gd name="connsiteX1" fmla="*/ 957987 w 1635955"/>
              <a:gd name="connsiteY1" fmla="*/ 0 h 1635955"/>
              <a:gd name="connsiteX2" fmla="*/ 1635955 w 1635955"/>
              <a:gd name="connsiteY2" fmla="*/ 0 h 1635955"/>
              <a:gd name="connsiteX3" fmla="*/ 1635955 w 1635955"/>
              <a:gd name="connsiteY3" fmla="*/ 1635955 h 1635955"/>
              <a:gd name="connsiteX4" fmla="*/ 0 w 1635955"/>
              <a:gd name="connsiteY4" fmla="*/ 1635955 h 1635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35955" h="1635955">
                <a:moveTo>
                  <a:pt x="0" y="957987"/>
                </a:moveTo>
                <a:lnTo>
                  <a:pt x="957987" y="0"/>
                </a:lnTo>
                <a:lnTo>
                  <a:pt x="1635955" y="0"/>
                </a:lnTo>
                <a:lnTo>
                  <a:pt x="1635955" y="1635955"/>
                </a:lnTo>
                <a:lnTo>
                  <a:pt x="0" y="1635955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4" name="Freeform: Shape 13">
            <a:extLst>
              <a:ext uri="{FF2B5EF4-FFF2-40B4-BE49-F238E27FC236}">
                <a16:creationId xmlns:a16="http://schemas.microsoft.com/office/drawing/2014/main" id="{DA2C7802-C2E0-4218-8F89-8DD7CCD2C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7985" y="-6588"/>
            <a:ext cx="4059393" cy="2548110"/>
          </a:xfrm>
          <a:custGeom>
            <a:avLst/>
            <a:gdLst>
              <a:gd name="connsiteX0" fmla="*/ 0 w 4059393"/>
              <a:gd name="connsiteY0" fmla="*/ 1511282 h 2548110"/>
              <a:gd name="connsiteX1" fmla="*/ 1511282 w 4059393"/>
              <a:gd name="connsiteY1" fmla="*/ 0 h 2548110"/>
              <a:gd name="connsiteX2" fmla="*/ 4059393 w 4059393"/>
              <a:gd name="connsiteY2" fmla="*/ 2548110 h 2548110"/>
              <a:gd name="connsiteX3" fmla="*/ 0 w 4059393"/>
              <a:gd name="connsiteY3" fmla="*/ 2548110 h 2548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59393" h="2548110">
                <a:moveTo>
                  <a:pt x="0" y="1511282"/>
                </a:moveTo>
                <a:lnTo>
                  <a:pt x="1511282" y="0"/>
                </a:lnTo>
                <a:lnTo>
                  <a:pt x="4059393" y="2548110"/>
                </a:lnTo>
                <a:lnTo>
                  <a:pt x="0" y="254811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5" name="Rectangle 15">
            <a:extLst>
              <a:ext uri="{FF2B5EF4-FFF2-40B4-BE49-F238E27FC236}">
                <a16:creationId xmlns:a16="http://schemas.microsoft.com/office/drawing/2014/main" id="{A6D7111A-21E5-4EE9-8A78-10E5530F0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262924" y="1465780"/>
            <a:ext cx="1185708" cy="118570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6" name="Freeform: Shape 17">
            <a:extLst>
              <a:ext uri="{FF2B5EF4-FFF2-40B4-BE49-F238E27FC236}">
                <a16:creationId xmlns:a16="http://schemas.microsoft.com/office/drawing/2014/main" id="{A3969E80-A77B-49FC-9122-D89AFD5EE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-29557" y="5198743"/>
            <a:ext cx="2444907" cy="2366116"/>
          </a:xfrm>
          <a:custGeom>
            <a:avLst/>
            <a:gdLst>
              <a:gd name="connsiteX0" fmla="*/ 0 w 2203753"/>
              <a:gd name="connsiteY0" fmla="*/ 0 h 2132734"/>
              <a:gd name="connsiteX1" fmla="*/ 2203753 w 2203753"/>
              <a:gd name="connsiteY1" fmla="*/ 0 h 2132734"/>
              <a:gd name="connsiteX2" fmla="*/ 2203753 w 2203753"/>
              <a:gd name="connsiteY2" fmla="*/ 576461 h 2132734"/>
              <a:gd name="connsiteX3" fmla="*/ 647480 w 2203753"/>
              <a:gd name="connsiteY3" fmla="*/ 2132734 h 2132734"/>
              <a:gd name="connsiteX4" fmla="*/ 0 w 2203753"/>
              <a:gd name="connsiteY4" fmla="*/ 1485255 h 2132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3753" h="2132734">
                <a:moveTo>
                  <a:pt x="0" y="0"/>
                </a:moveTo>
                <a:lnTo>
                  <a:pt x="2203753" y="0"/>
                </a:lnTo>
                <a:lnTo>
                  <a:pt x="2203753" y="576461"/>
                </a:lnTo>
                <a:lnTo>
                  <a:pt x="647480" y="2132734"/>
                </a:lnTo>
                <a:lnTo>
                  <a:pt x="0" y="1485255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849CA57-76BD-4CF2-80BA-D7A46A01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769787" y="5439893"/>
            <a:ext cx="928467" cy="928467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5E9085E-E730-4768-83D4-6CB7E98971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401311" y="734311"/>
            <a:ext cx="5389379" cy="5389379"/>
          </a:xfrm>
          <a:custGeom>
            <a:avLst/>
            <a:gdLst>
              <a:gd name="connsiteX0" fmla="*/ 0 w 5389379"/>
              <a:gd name="connsiteY0" fmla="*/ 540040 h 5389379"/>
              <a:gd name="connsiteX1" fmla="*/ 540040 w 5389379"/>
              <a:gd name="connsiteY1" fmla="*/ 0 h 5389379"/>
              <a:gd name="connsiteX2" fmla="*/ 5389379 w 5389379"/>
              <a:gd name="connsiteY2" fmla="*/ 0 h 5389379"/>
              <a:gd name="connsiteX3" fmla="*/ 5389379 w 5389379"/>
              <a:gd name="connsiteY3" fmla="*/ 4838655 h 5389379"/>
              <a:gd name="connsiteX4" fmla="*/ 4838655 w 5389379"/>
              <a:gd name="connsiteY4" fmla="*/ 5389379 h 5389379"/>
              <a:gd name="connsiteX5" fmla="*/ 0 w 5389379"/>
              <a:gd name="connsiteY5" fmla="*/ 5389379 h 538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89379" h="5389379">
                <a:moveTo>
                  <a:pt x="0" y="540040"/>
                </a:moveTo>
                <a:lnTo>
                  <a:pt x="540040" y="0"/>
                </a:lnTo>
                <a:lnTo>
                  <a:pt x="5389379" y="0"/>
                </a:lnTo>
                <a:lnTo>
                  <a:pt x="5389379" y="4838655"/>
                </a:lnTo>
                <a:lnTo>
                  <a:pt x="4838655" y="5389379"/>
                </a:lnTo>
                <a:lnTo>
                  <a:pt x="0" y="538937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73272FE-A474-4CAE-8CA2-BCC8B476C3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00283" y="33283"/>
            <a:ext cx="6791435" cy="6791435"/>
          </a:xfrm>
          <a:custGeom>
            <a:avLst/>
            <a:gdLst>
              <a:gd name="connsiteX0" fmla="*/ 1860938 w 6791435"/>
              <a:gd name="connsiteY0" fmla="*/ 81158 h 6791435"/>
              <a:gd name="connsiteX1" fmla="*/ 1942096 w 6791435"/>
              <a:gd name="connsiteY1" fmla="*/ 0 h 6791435"/>
              <a:gd name="connsiteX2" fmla="*/ 6791435 w 6791435"/>
              <a:gd name="connsiteY2" fmla="*/ 0 h 6791435"/>
              <a:gd name="connsiteX3" fmla="*/ 6791435 w 6791435"/>
              <a:gd name="connsiteY3" fmla="*/ 4838655 h 6791435"/>
              <a:gd name="connsiteX4" fmla="*/ 6710277 w 6791435"/>
              <a:gd name="connsiteY4" fmla="*/ 4919813 h 6791435"/>
              <a:gd name="connsiteX5" fmla="*/ 6710277 w 6791435"/>
              <a:gd name="connsiteY5" fmla="*/ 81158 h 6791435"/>
              <a:gd name="connsiteX6" fmla="*/ 0 w 6791435"/>
              <a:gd name="connsiteY6" fmla="*/ 1942096 h 6791435"/>
              <a:gd name="connsiteX7" fmla="*/ 81158 w 6791435"/>
              <a:gd name="connsiteY7" fmla="*/ 1860938 h 6791435"/>
              <a:gd name="connsiteX8" fmla="*/ 81158 w 6791435"/>
              <a:gd name="connsiteY8" fmla="*/ 6710277 h 6791435"/>
              <a:gd name="connsiteX9" fmla="*/ 4919813 w 6791435"/>
              <a:gd name="connsiteY9" fmla="*/ 6710277 h 6791435"/>
              <a:gd name="connsiteX10" fmla="*/ 4838655 w 6791435"/>
              <a:gd name="connsiteY10" fmla="*/ 6791435 h 6791435"/>
              <a:gd name="connsiteX11" fmla="*/ 0 w 6791435"/>
              <a:gd name="connsiteY11" fmla="*/ 6791435 h 6791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91435" h="6791435">
                <a:moveTo>
                  <a:pt x="1860938" y="81158"/>
                </a:moveTo>
                <a:lnTo>
                  <a:pt x="1942096" y="0"/>
                </a:lnTo>
                <a:lnTo>
                  <a:pt x="6791435" y="0"/>
                </a:lnTo>
                <a:lnTo>
                  <a:pt x="6791435" y="4838655"/>
                </a:lnTo>
                <a:lnTo>
                  <a:pt x="6710277" y="4919813"/>
                </a:lnTo>
                <a:lnTo>
                  <a:pt x="6710277" y="81158"/>
                </a:lnTo>
                <a:close/>
                <a:moveTo>
                  <a:pt x="0" y="1942096"/>
                </a:moveTo>
                <a:lnTo>
                  <a:pt x="81158" y="1860938"/>
                </a:lnTo>
                <a:lnTo>
                  <a:pt x="81158" y="6710277"/>
                </a:lnTo>
                <a:lnTo>
                  <a:pt x="4919813" y="6710277"/>
                </a:lnTo>
                <a:lnTo>
                  <a:pt x="4838655" y="6791435"/>
                </a:lnTo>
                <a:lnTo>
                  <a:pt x="0" y="6791435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13FB20-48C5-4E31-A7AD-786BE20285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379657" y="6214143"/>
            <a:ext cx="1656367" cy="367303"/>
          </a:xfrm>
          <a:noFill/>
        </p:spPr>
        <p:txBody>
          <a:bodyPr>
            <a:normAutofit/>
          </a:bodyPr>
          <a:lstStyle/>
          <a:p>
            <a:r>
              <a:rPr lang="en-SG" sz="2000" dirty="0">
                <a:solidFill>
                  <a:srgbClr val="080808"/>
                </a:solidFill>
              </a:rPr>
              <a:t>Imran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12408C-F7C7-49AA-9565-7D7CF6E223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4642" y="2353641"/>
            <a:ext cx="5782716" cy="2150719"/>
          </a:xfrm>
          <a:noFill/>
        </p:spPr>
        <p:txBody>
          <a:bodyPr anchor="ctr">
            <a:normAutofit/>
          </a:bodyPr>
          <a:lstStyle/>
          <a:p>
            <a:r>
              <a:rPr lang="en-US" sz="3600" dirty="0">
                <a:solidFill>
                  <a:srgbClr val="080808"/>
                </a:solidFill>
              </a:rPr>
              <a:t>Gender Recognition by Voice and Speech Analysis</a:t>
            </a:r>
            <a:endParaRPr lang="en-SG" sz="3600" dirty="0">
              <a:solidFill>
                <a:srgbClr val="080808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07981EA-05A6-437C-88D7-B377B92B0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9823" y="5457591"/>
            <a:ext cx="2231794" cy="2568811"/>
          </a:xfrm>
          <a:custGeom>
            <a:avLst/>
            <a:gdLst>
              <a:gd name="connsiteX0" fmla="*/ 0 w 2940086"/>
              <a:gd name="connsiteY0" fmla="*/ 0 h 3384061"/>
              <a:gd name="connsiteX1" fmla="*/ 2496112 w 2940086"/>
              <a:gd name="connsiteY1" fmla="*/ 0 h 3384061"/>
              <a:gd name="connsiteX2" fmla="*/ 2940086 w 2940086"/>
              <a:gd name="connsiteY2" fmla="*/ 443975 h 3384061"/>
              <a:gd name="connsiteX3" fmla="*/ 0 w 2940086"/>
              <a:gd name="connsiteY3" fmla="*/ 3384061 h 3384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0086" h="3384061">
                <a:moveTo>
                  <a:pt x="0" y="0"/>
                </a:moveTo>
                <a:lnTo>
                  <a:pt x="2496112" y="0"/>
                </a:lnTo>
                <a:lnTo>
                  <a:pt x="2940086" y="443975"/>
                </a:lnTo>
                <a:lnTo>
                  <a:pt x="0" y="338406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5E3C750-986E-4769-B1AE-49289FBEE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720059" y="5243545"/>
            <a:ext cx="959985" cy="959985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608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54E792-9109-4597-9235-7E3B8B70E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lang="en-SG" sz="3600" dirty="0"/>
              <a:t>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28FF2-293E-42F2-8391-2BEACDE282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7" y="1782981"/>
            <a:ext cx="10905066" cy="4393982"/>
          </a:xfrm>
        </p:spPr>
        <p:txBody>
          <a:bodyPr>
            <a:normAutofit/>
          </a:bodyPr>
          <a:lstStyle/>
          <a:p>
            <a:r>
              <a:rPr lang="en-SG" sz="2000" dirty="0"/>
              <a:t>1) Define – What is the problem statement?</a:t>
            </a:r>
          </a:p>
          <a:p>
            <a:r>
              <a:rPr lang="en-SG" sz="2000" dirty="0"/>
              <a:t>2) Prepare – Obtain the data and cleanse it</a:t>
            </a:r>
          </a:p>
          <a:p>
            <a:r>
              <a:rPr lang="en-SG" sz="2000" dirty="0"/>
              <a:t>3) Analyse – Analyse the data and create a model which targets the problem</a:t>
            </a:r>
          </a:p>
          <a:p>
            <a:r>
              <a:rPr lang="en-SG" sz="2000" dirty="0"/>
              <a:t>4) Deliver – Propose a model to address the problem</a:t>
            </a:r>
          </a:p>
          <a:p>
            <a:pPr marL="0" indent="0">
              <a:buNone/>
            </a:pPr>
            <a:endParaRPr lang="en-SG" sz="2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365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7">
            <a:extLst>
              <a:ext uri="{FF2B5EF4-FFF2-40B4-BE49-F238E27FC236}">
                <a16:creationId xmlns:a16="http://schemas.microsoft.com/office/drawing/2014/main" id="{88294908-8B00-4F58-BBBA-20F71A40A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Freeform: Shape 9">
            <a:extLst>
              <a:ext uri="{FF2B5EF4-FFF2-40B4-BE49-F238E27FC236}">
                <a16:creationId xmlns:a16="http://schemas.microsoft.com/office/drawing/2014/main" id="{4364C879-1404-4203-8E9D-CC5DE0A62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2782" y="-1386168"/>
            <a:ext cx="2424873" cy="3611191"/>
          </a:xfrm>
          <a:custGeom>
            <a:avLst/>
            <a:gdLst>
              <a:gd name="connsiteX0" fmla="*/ 0 w 2424873"/>
              <a:gd name="connsiteY0" fmla="*/ 2424874 h 3611191"/>
              <a:gd name="connsiteX1" fmla="*/ 2424873 w 2424873"/>
              <a:gd name="connsiteY1" fmla="*/ 0 h 3611191"/>
              <a:gd name="connsiteX2" fmla="*/ 2424873 w 2424873"/>
              <a:gd name="connsiteY2" fmla="*/ 3611191 h 3611191"/>
              <a:gd name="connsiteX3" fmla="*/ 1186317 w 2424873"/>
              <a:gd name="connsiteY3" fmla="*/ 3611191 h 3611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24873" h="3611191">
                <a:moveTo>
                  <a:pt x="0" y="2424874"/>
                </a:moveTo>
                <a:lnTo>
                  <a:pt x="2424873" y="0"/>
                </a:lnTo>
                <a:lnTo>
                  <a:pt x="2424873" y="3611191"/>
                </a:lnTo>
                <a:lnTo>
                  <a:pt x="1186317" y="361119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4617302-4B0D-4351-A6BB-6F0930D9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571000" y="-338582"/>
            <a:ext cx="1635955" cy="1635955"/>
          </a:xfrm>
          <a:custGeom>
            <a:avLst/>
            <a:gdLst>
              <a:gd name="connsiteX0" fmla="*/ 0 w 1635955"/>
              <a:gd name="connsiteY0" fmla="*/ 957987 h 1635955"/>
              <a:gd name="connsiteX1" fmla="*/ 957987 w 1635955"/>
              <a:gd name="connsiteY1" fmla="*/ 0 h 1635955"/>
              <a:gd name="connsiteX2" fmla="*/ 1635955 w 1635955"/>
              <a:gd name="connsiteY2" fmla="*/ 0 h 1635955"/>
              <a:gd name="connsiteX3" fmla="*/ 1635955 w 1635955"/>
              <a:gd name="connsiteY3" fmla="*/ 1635955 h 1635955"/>
              <a:gd name="connsiteX4" fmla="*/ 0 w 1635955"/>
              <a:gd name="connsiteY4" fmla="*/ 1635955 h 1635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35955" h="1635955">
                <a:moveTo>
                  <a:pt x="0" y="957987"/>
                </a:moveTo>
                <a:lnTo>
                  <a:pt x="957987" y="0"/>
                </a:lnTo>
                <a:lnTo>
                  <a:pt x="1635955" y="0"/>
                </a:lnTo>
                <a:lnTo>
                  <a:pt x="1635955" y="1635955"/>
                </a:lnTo>
                <a:lnTo>
                  <a:pt x="0" y="1635955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4" name="Freeform: Shape 13">
            <a:extLst>
              <a:ext uri="{FF2B5EF4-FFF2-40B4-BE49-F238E27FC236}">
                <a16:creationId xmlns:a16="http://schemas.microsoft.com/office/drawing/2014/main" id="{DA2C7802-C2E0-4218-8F89-8DD7CCD2C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7985" y="-6588"/>
            <a:ext cx="4059393" cy="2548110"/>
          </a:xfrm>
          <a:custGeom>
            <a:avLst/>
            <a:gdLst>
              <a:gd name="connsiteX0" fmla="*/ 0 w 4059393"/>
              <a:gd name="connsiteY0" fmla="*/ 1511282 h 2548110"/>
              <a:gd name="connsiteX1" fmla="*/ 1511282 w 4059393"/>
              <a:gd name="connsiteY1" fmla="*/ 0 h 2548110"/>
              <a:gd name="connsiteX2" fmla="*/ 4059393 w 4059393"/>
              <a:gd name="connsiteY2" fmla="*/ 2548110 h 2548110"/>
              <a:gd name="connsiteX3" fmla="*/ 0 w 4059393"/>
              <a:gd name="connsiteY3" fmla="*/ 2548110 h 2548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59393" h="2548110">
                <a:moveTo>
                  <a:pt x="0" y="1511282"/>
                </a:moveTo>
                <a:lnTo>
                  <a:pt x="1511282" y="0"/>
                </a:lnTo>
                <a:lnTo>
                  <a:pt x="4059393" y="2548110"/>
                </a:lnTo>
                <a:lnTo>
                  <a:pt x="0" y="254811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5" name="Rectangle 15">
            <a:extLst>
              <a:ext uri="{FF2B5EF4-FFF2-40B4-BE49-F238E27FC236}">
                <a16:creationId xmlns:a16="http://schemas.microsoft.com/office/drawing/2014/main" id="{A6D7111A-21E5-4EE9-8A78-10E5530F0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262924" y="1465780"/>
            <a:ext cx="1185708" cy="118570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6" name="Freeform: Shape 17">
            <a:extLst>
              <a:ext uri="{FF2B5EF4-FFF2-40B4-BE49-F238E27FC236}">
                <a16:creationId xmlns:a16="http://schemas.microsoft.com/office/drawing/2014/main" id="{A3969E80-A77B-49FC-9122-D89AFD5EE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-29557" y="5198743"/>
            <a:ext cx="2444907" cy="2366116"/>
          </a:xfrm>
          <a:custGeom>
            <a:avLst/>
            <a:gdLst>
              <a:gd name="connsiteX0" fmla="*/ 0 w 2203753"/>
              <a:gd name="connsiteY0" fmla="*/ 0 h 2132734"/>
              <a:gd name="connsiteX1" fmla="*/ 2203753 w 2203753"/>
              <a:gd name="connsiteY1" fmla="*/ 0 h 2132734"/>
              <a:gd name="connsiteX2" fmla="*/ 2203753 w 2203753"/>
              <a:gd name="connsiteY2" fmla="*/ 576461 h 2132734"/>
              <a:gd name="connsiteX3" fmla="*/ 647480 w 2203753"/>
              <a:gd name="connsiteY3" fmla="*/ 2132734 h 2132734"/>
              <a:gd name="connsiteX4" fmla="*/ 0 w 2203753"/>
              <a:gd name="connsiteY4" fmla="*/ 1485255 h 2132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3753" h="2132734">
                <a:moveTo>
                  <a:pt x="0" y="0"/>
                </a:moveTo>
                <a:lnTo>
                  <a:pt x="2203753" y="0"/>
                </a:lnTo>
                <a:lnTo>
                  <a:pt x="2203753" y="576461"/>
                </a:lnTo>
                <a:lnTo>
                  <a:pt x="647480" y="2132734"/>
                </a:lnTo>
                <a:lnTo>
                  <a:pt x="0" y="1485255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849CA57-76BD-4CF2-80BA-D7A46A01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769787" y="5439893"/>
            <a:ext cx="928467" cy="928467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5E9085E-E730-4768-83D4-6CB7E98971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401311" y="734311"/>
            <a:ext cx="5389379" cy="5389379"/>
          </a:xfrm>
          <a:custGeom>
            <a:avLst/>
            <a:gdLst>
              <a:gd name="connsiteX0" fmla="*/ 0 w 5389379"/>
              <a:gd name="connsiteY0" fmla="*/ 540040 h 5389379"/>
              <a:gd name="connsiteX1" fmla="*/ 540040 w 5389379"/>
              <a:gd name="connsiteY1" fmla="*/ 0 h 5389379"/>
              <a:gd name="connsiteX2" fmla="*/ 5389379 w 5389379"/>
              <a:gd name="connsiteY2" fmla="*/ 0 h 5389379"/>
              <a:gd name="connsiteX3" fmla="*/ 5389379 w 5389379"/>
              <a:gd name="connsiteY3" fmla="*/ 4838655 h 5389379"/>
              <a:gd name="connsiteX4" fmla="*/ 4838655 w 5389379"/>
              <a:gd name="connsiteY4" fmla="*/ 5389379 h 5389379"/>
              <a:gd name="connsiteX5" fmla="*/ 0 w 5389379"/>
              <a:gd name="connsiteY5" fmla="*/ 5389379 h 538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89379" h="5389379">
                <a:moveTo>
                  <a:pt x="0" y="540040"/>
                </a:moveTo>
                <a:lnTo>
                  <a:pt x="540040" y="0"/>
                </a:lnTo>
                <a:lnTo>
                  <a:pt x="5389379" y="0"/>
                </a:lnTo>
                <a:lnTo>
                  <a:pt x="5389379" y="4838655"/>
                </a:lnTo>
                <a:lnTo>
                  <a:pt x="4838655" y="5389379"/>
                </a:lnTo>
                <a:lnTo>
                  <a:pt x="0" y="538937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73272FE-A474-4CAE-8CA2-BCC8B476C3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00283" y="33283"/>
            <a:ext cx="6791435" cy="6791435"/>
          </a:xfrm>
          <a:custGeom>
            <a:avLst/>
            <a:gdLst>
              <a:gd name="connsiteX0" fmla="*/ 1860938 w 6791435"/>
              <a:gd name="connsiteY0" fmla="*/ 81158 h 6791435"/>
              <a:gd name="connsiteX1" fmla="*/ 1942096 w 6791435"/>
              <a:gd name="connsiteY1" fmla="*/ 0 h 6791435"/>
              <a:gd name="connsiteX2" fmla="*/ 6791435 w 6791435"/>
              <a:gd name="connsiteY2" fmla="*/ 0 h 6791435"/>
              <a:gd name="connsiteX3" fmla="*/ 6791435 w 6791435"/>
              <a:gd name="connsiteY3" fmla="*/ 4838655 h 6791435"/>
              <a:gd name="connsiteX4" fmla="*/ 6710277 w 6791435"/>
              <a:gd name="connsiteY4" fmla="*/ 4919813 h 6791435"/>
              <a:gd name="connsiteX5" fmla="*/ 6710277 w 6791435"/>
              <a:gd name="connsiteY5" fmla="*/ 81158 h 6791435"/>
              <a:gd name="connsiteX6" fmla="*/ 0 w 6791435"/>
              <a:gd name="connsiteY6" fmla="*/ 1942096 h 6791435"/>
              <a:gd name="connsiteX7" fmla="*/ 81158 w 6791435"/>
              <a:gd name="connsiteY7" fmla="*/ 1860938 h 6791435"/>
              <a:gd name="connsiteX8" fmla="*/ 81158 w 6791435"/>
              <a:gd name="connsiteY8" fmla="*/ 6710277 h 6791435"/>
              <a:gd name="connsiteX9" fmla="*/ 4919813 w 6791435"/>
              <a:gd name="connsiteY9" fmla="*/ 6710277 h 6791435"/>
              <a:gd name="connsiteX10" fmla="*/ 4838655 w 6791435"/>
              <a:gd name="connsiteY10" fmla="*/ 6791435 h 6791435"/>
              <a:gd name="connsiteX11" fmla="*/ 0 w 6791435"/>
              <a:gd name="connsiteY11" fmla="*/ 6791435 h 6791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91435" h="6791435">
                <a:moveTo>
                  <a:pt x="1860938" y="81158"/>
                </a:moveTo>
                <a:lnTo>
                  <a:pt x="1942096" y="0"/>
                </a:lnTo>
                <a:lnTo>
                  <a:pt x="6791435" y="0"/>
                </a:lnTo>
                <a:lnTo>
                  <a:pt x="6791435" y="4838655"/>
                </a:lnTo>
                <a:lnTo>
                  <a:pt x="6710277" y="4919813"/>
                </a:lnTo>
                <a:lnTo>
                  <a:pt x="6710277" y="81158"/>
                </a:lnTo>
                <a:close/>
                <a:moveTo>
                  <a:pt x="0" y="1942096"/>
                </a:moveTo>
                <a:lnTo>
                  <a:pt x="81158" y="1860938"/>
                </a:lnTo>
                <a:lnTo>
                  <a:pt x="81158" y="6710277"/>
                </a:lnTo>
                <a:lnTo>
                  <a:pt x="4919813" y="6710277"/>
                </a:lnTo>
                <a:lnTo>
                  <a:pt x="4838655" y="6791435"/>
                </a:lnTo>
                <a:lnTo>
                  <a:pt x="0" y="6791435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12408C-F7C7-49AA-9565-7D7CF6E223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34365" y="2182953"/>
            <a:ext cx="6702225" cy="2327207"/>
          </a:xfrm>
          <a:noFill/>
        </p:spPr>
        <p:txBody>
          <a:bodyPr anchor="ctr">
            <a:normAutofit/>
          </a:bodyPr>
          <a:lstStyle/>
          <a:p>
            <a:r>
              <a:rPr lang="en-SG" sz="3600" dirty="0">
                <a:solidFill>
                  <a:srgbClr val="080808"/>
                </a:solidFill>
              </a:rPr>
              <a:t>Using machine learning techniques, can we design a model which is able to classify a person’s gender by their voice?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07981EA-05A6-437C-88D7-B377B92B0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9823" y="5457591"/>
            <a:ext cx="2231794" cy="2568811"/>
          </a:xfrm>
          <a:custGeom>
            <a:avLst/>
            <a:gdLst>
              <a:gd name="connsiteX0" fmla="*/ 0 w 2940086"/>
              <a:gd name="connsiteY0" fmla="*/ 0 h 3384061"/>
              <a:gd name="connsiteX1" fmla="*/ 2496112 w 2940086"/>
              <a:gd name="connsiteY1" fmla="*/ 0 h 3384061"/>
              <a:gd name="connsiteX2" fmla="*/ 2940086 w 2940086"/>
              <a:gd name="connsiteY2" fmla="*/ 443975 h 3384061"/>
              <a:gd name="connsiteX3" fmla="*/ 0 w 2940086"/>
              <a:gd name="connsiteY3" fmla="*/ 3384061 h 3384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0086" h="3384061">
                <a:moveTo>
                  <a:pt x="0" y="0"/>
                </a:moveTo>
                <a:lnTo>
                  <a:pt x="2496112" y="0"/>
                </a:lnTo>
                <a:lnTo>
                  <a:pt x="2940086" y="443975"/>
                </a:lnTo>
                <a:lnTo>
                  <a:pt x="0" y="338406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5E3C750-986E-4769-B1AE-49289FBEE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720059" y="5243545"/>
            <a:ext cx="959985" cy="959985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511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54E792-9109-4597-9235-7E3B8B70E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lang="en-SG" sz="3600" dirty="0"/>
              <a:t>Background of the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28FF2-293E-42F2-8391-2BEACDE282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7" y="1782981"/>
            <a:ext cx="10905066" cy="4393982"/>
          </a:xfrm>
        </p:spPr>
        <p:txBody>
          <a:bodyPr>
            <a:normAutofit/>
          </a:bodyPr>
          <a:lstStyle/>
          <a:p>
            <a:r>
              <a:rPr lang="en-US" sz="2000" dirty="0"/>
              <a:t>This dataset was based upon acoustic properties of the voice and speech to see if it can be used in a model to identify a voice as male or female.</a:t>
            </a:r>
          </a:p>
          <a:p>
            <a:r>
              <a:rPr lang="en-US" sz="2000" dirty="0"/>
              <a:t>The dataset consists of 3,168 recorded voice samples, collected from male and female speakers. </a:t>
            </a:r>
          </a:p>
          <a:p>
            <a:r>
              <a:rPr lang="en-US" sz="2000" dirty="0"/>
              <a:t>The voice samples have been pre-processed by acoustic analysis in R using the </a:t>
            </a:r>
            <a:r>
              <a:rPr lang="en-US" sz="2000" dirty="0" err="1"/>
              <a:t>seewave</a:t>
            </a:r>
            <a:r>
              <a:rPr lang="en-US" sz="2000" dirty="0"/>
              <a:t> and </a:t>
            </a:r>
            <a:r>
              <a:rPr lang="en-US" sz="2000" dirty="0" err="1"/>
              <a:t>tuneR</a:t>
            </a:r>
            <a:r>
              <a:rPr lang="en-US" sz="2000" dirty="0"/>
              <a:t> packages, with an analyzed frequency range of 0hz-280hz (human vocal range).</a:t>
            </a:r>
          </a:p>
          <a:p>
            <a:r>
              <a:rPr lang="en-SG" sz="2000" dirty="0">
                <a:hlinkClick r:id="rId2"/>
              </a:rPr>
              <a:t>https://www.kaggle.com/primaryobjects/voicegender</a:t>
            </a:r>
            <a:endParaRPr lang="en-SG" sz="2000" dirty="0"/>
          </a:p>
          <a:p>
            <a:r>
              <a:rPr lang="en-SG" sz="2000" dirty="0"/>
              <a:t>We shall now take a look at the processed data and analyse it and apply it to a machine learning algorithm.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735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54E792-9109-4597-9235-7E3B8B70E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70635"/>
            <a:ext cx="10905066" cy="1135737"/>
          </a:xfrm>
        </p:spPr>
        <p:txBody>
          <a:bodyPr>
            <a:normAutofit/>
          </a:bodyPr>
          <a:lstStyle/>
          <a:p>
            <a:r>
              <a:rPr lang="en-SG" sz="3600" dirty="0"/>
              <a:t>Data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28FF2-293E-42F2-8391-2BEACDE282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7" y="995236"/>
            <a:ext cx="10905066" cy="4393982"/>
          </a:xfrm>
        </p:spPr>
        <p:txBody>
          <a:bodyPr>
            <a:normAutofit/>
          </a:bodyPr>
          <a:lstStyle/>
          <a:p>
            <a:r>
              <a:rPr lang="en-SG" sz="2000" dirty="0"/>
              <a:t>Understanding the data (20 features)</a:t>
            </a:r>
          </a:p>
          <a:p>
            <a:endParaRPr lang="en-SG" sz="2000" dirty="0"/>
          </a:p>
          <a:p>
            <a:pPr marL="0" indent="0">
              <a:buNone/>
            </a:pPr>
            <a:endParaRPr lang="en-SG" sz="2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F70395-73AE-4220-9818-73144987B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4987" y="1468782"/>
            <a:ext cx="5295681" cy="4585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5098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54E792-9109-4597-9235-7E3B8B70E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lang="en-SG" sz="3600" dirty="0"/>
              <a:t>EDA – checking dataset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FB09C5-E91A-444F-8E6A-2F118A8254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274579"/>
            <a:ext cx="1666875" cy="37052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7903335-EF7C-40E7-886E-AF550C541C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349" y="5034024"/>
            <a:ext cx="4981575" cy="11525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ACCE8F7-9E12-4A80-BED5-0D92959EEE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2685" y="1274579"/>
            <a:ext cx="1835983" cy="370522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35F7F9D-13B2-4D7A-AA93-D5DF7593DC7C}"/>
              </a:ext>
            </a:extLst>
          </p:cNvPr>
          <p:cNvSpPr/>
          <p:nvPr/>
        </p:nvSpPr>
        <p:spPr>
          <a:xfrm>
            <a:off x="397647" y="5677607"/>
            <a:ext cx="1887523" cy="4597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7D699D6-15D1-4EFD-8717-326E1D685F0C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2285170" y="5907488"/>
            <a:ext cx="327349" cy="3926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id="{FDE94BDB-C1D2-4A37-972E-D031FCD6648F}"/>
              </a:ext>
            </a:extLst>
          </p:cNvPr>
          <p:cNvSpPr txBox="1">
            <a:spLocks/>
          </p:cNvSpPr>
          <p:nvPr/>
        </p:nvSpPr>
        <p:spPr>
          <a:xfrm>
            <a:off x="2573544" y="6187656"/>
            <a:ext cx="1387177" cy="3926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SG" sz="1600" dirty="0"/>
              <a:t>Balanced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40D3F3D-D95F-4F40-B289-5A086C9A9E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9346" y="965172"/>
            <a:ext cx="6369506" cy="5615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37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54E792-9109-4597-9235-7E3B8B70E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lang="en-SG" sz="3600" dirty="0"/>
              <a:t>EDA – target and predictors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C299F3-B3B6-4DB5-9276-99F089E9F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673588"/>
            <a:ext cx="2876550" cy="16097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59BF5F8-C2EF-4B5A-BA2B-58D0DDC1E1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3788" y="1673588"/>
            <a:ext cx="6150488" cy="4116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1618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54E792-9109-4597-9235-7E3B8B70E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lang="en-SG" sz="3600" dirty="0"/>
              <a:t>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28FF2-293E-42F2-8391-2BEACDE282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7" y="1782981"/>
            <a:ext cx="10905066" cy="4393982"/>
          </a:xfrm>
        </p:spPr>
        <p:txBody>
          <a:bodyPr>
            <a:normAutofit/>
          </a:bodyPr>
          <a:lstStyle/>
          <a:p>
            <a:r>
              <a:rPr lang="en-SG" sz="2000" dirty="0"/>
              <a:t>We shall now see which of the following 3 models will obtain the best result:</a:t>
            </a:r>
          </a:p>
          <a:p>
            <a:pPr marL="457200" indent="-457200">
              <a:buFont typeface="+mj-lt"/>
              <a:buAutoNum type="arabicPeriod"/>
            </a:pPr>
            <a:r>
              <a:rPr lang="en-SG" sz="2000" dirty="0"/>
              <a:t>Logistic Regression</a:t>
            </a:r>
          </a:p>
          <a:p>
            <a:pPr marL="457200" indent="-457200">
              <a:buFont typeface="+mj-lt"/>
              <a:buAutoNum type="arabicPeriod"/>
            </a:pPr>
            <a:r>
              <a:rPr lang="en-SG" sz="2000" dirty="0"/>
              <a:t>Support Vector Machine</a:t>
            </a:r>
          </a:p>
          <a:p>
            <a:pPr marL="457200" indent="-457200">
              <a:buFont typeface="+mj-lt"/>
              <a:buAutoNum type="arabicPeriod"/>
            </a:pPr>
            <a:r>
              <a:rPr lang="en-SG" sz="2000" dirty="0"/>
              <a:t>K-NN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2476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54E792-9109-4597-9235-7E3B8B70E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229" y="39060"/>
            <a:ext cx="8137735" cy="633533"/>
          </a:xfrm>
        </p:spPr>
        <p:txBody>
          <a:bodyPr>
            <a:normAutofit/>
          </a:bodyPr>
          <a:lstStyle/>
          <a:p>
            <a:r>
              <a:rPr lang="en-SG" sz="3600" dirty="0"/>
              <a:t>Initial comparisons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C89DC3-8966-4963-A723-80699C02F6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229" y="646101"/>
            <a:ext cx="5754772" cy="14840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A8A838B-1685-4AA1-A211-5862DC8695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229" y="2059616"/>
            <a:ext cx="3742707" cy="181345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0FE4640-4413-4318-8AAE-050CBA6B68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705" y="3988741"/>
            <a:ext cx="3363845" cy="252950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600C082-800E-4137-9EAD-8F23A41A56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2406" y="2071938"/>
            <a:ext cx="3450660" cy="191680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E4E4678-C247-4469-A513-56EC5B76D0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7906" y="3982629"/>
            <a:ext cx="3523220" cy="252950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407BFFF-63F9-43BC-8B7C-2ACD6330D8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4193" y="2059616"/>
            <a:ext cx="3720788" cy="192912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2744AF6-39E9-48E4-97B2-7D668145CA8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74134" y="4061994"/>
            <a:ext cx="3913734" cy="2252859"/>
          </a:xfrm>
          <a:prstGeom prst="rect">
            <a:avLst/>
          </a:prstGeom>
        </p:spPr>
      </p:pic>
      <p:sp>
        <p:nvSpPr>
          <p:cNvPr id="27" name="Oval 26">
            <a:extLst>
              <a:ext uri="{FF2B5EF4-FFF2-40B4-BE49-F238E27FC236}">
                <a16:creationId xmlns:a16="http://schemas.microsoft.com/office/drawing/2014/main" id="{BDA1F36A-4E9A-474E-A3FC-DC6C074A71B8}"/>
              </a:ext>
            </a:extLst>
          </p:cNvPr>
          <p:cNvSpPr/>
          <p:nvPr/>
        </p:nvSpPr>
        <p:spPr>
          <a:xfrm>
            <a:off x="5611287" y="3523376"/>
            <a:ext cx="1234130" cy="17616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23B2DD9-3064-4596-AD8E-8F41BB4A6811}"/>
              </a:ext>
            </a:extLst>
          </p:cNvPr>
          <p:cNvSpPr/>
          <p:nvPr/>
        </p:nvSpPr>
        <p:spPr>
          <a:xfrm>
            <a:off x="6015901" y="3806460"/>
            <a:ext cx="1234130" cy="17616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293235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54E792-9109-4597-9235-7E3B8B70E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245099"/>
            <a:ext cx="10905066" cy="1135737"/>
          </a:xfrm>
        </p:spPr>
        <p:txBody>
          <a:bodyPr>
            <a:normAutofit/>
          </a:bodyPr>
          <a:lstStyle/>
          <a:p>
            <a:r>
              <a:rPr lang="en-SG" sz="3600" dirty="0"/>
              <a:t>Comparing Models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21C354-8ED7-4007-9734-EC788A2165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8" y="1380837"/>
            <a:ext cx="5348960" cy="24516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E4D5AFE-89C8-40B0-BDE9-4C3E0CE1E9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172" y="4096704"/>
            <a:ext cx="3096746" cy="2408580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435C4009-03AF-495E-85DC-557EE5CCE0A5}"/>
              </a:ext>
            </a:extLst>
          </p:cNvPr>
          <p:cNvSpPr/>
          <p:nvPr/>
        </p:nvSpPr>
        <p:spPr>
          <a:xfrm>
            <a:off x="2926701" y="4883048"/>
            <a:ext cx="1100831" cy="29126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D89C3F9-60E4-41A1-B4E0-318D07826CE5}"/>
              </a:ext>
            </a:extLst>
          </p:cNvPr>
          <p:cNvSpPr/>
          <p:nvPr/>
        </p:nvSpPr>
        <p:spPr>
          <a:xfrm>
            <a:off x="3013827" y="5300994"/>
            <a:ext cx="1036338" cy="23867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99F8C86-DCE8-42EB-9D79-9E0409371F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9020" y="1512272"/>
            <a:ext cx="5476875" cy="446722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6796916A-5DC6-4E38-92EB-327A365FFD2C}"/>
              </a:ext>
            </a:extLst>
          </p:cNvPr>
          <p:cNvSpPr/>
          <p:nvPr/>
        </p:nvSpPr>
        <p:spPr>
          <a:xfrm>
            <a:off x="7796170" y="5539666"/>
            <a:ext cx="1515610" cy="2029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209952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54E792-9109-4597-9235-7E3B8B70E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lang="en-SG" sz="3600" dirty="0"/>
              <a:t>Parameter tuning - SVM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C4474C-2B31-4776-BB15-500F05F7FF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637378"/>
            <a:ext cx="7772400" cy="12382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ACDD66C-2064-4030-8E7E-C0EE7B7EE7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61" y="3048607"/>
            <a:ext cx="6715125" cy="8001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B3076FF-DA5B-4054-B2C4-C468DB1481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961" y="4180184"/>
            <a:ext cx="6876556" cy="904810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F650ACC7-E421-49F5-A88A-BB75DDA7C1F4}"/>
              </a:ext>
            </a:extLst>
          </p:cNvPr>
          <p:cNvSpPr/>
          <p:nvPr/>
        </p:nvSpPr>
        <p:spPr>
          <a:xfrm>
            <a:off x="2750886" y="4601496"/>
            <a:ext cx="1829992" cy="26531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9C11A55-9BB3-4873-BF49-4E7784A0E70D}"/>
              </a:ext>
            </a:extLst>
          </p:cNvPr>
          <p:cNvCxnSpPr>
            <a:stCxn id="21" idx="5"/>
          </p:cNvCxnSpPr>
          <p:nvPr/>
        </p:nvCxnSpPr>
        <p:spPr>
          <a:xfrm>
            <a:off x="4312882" y="4827958"/>
            <a:ext cx="631980" cy="5696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itle 1">
            <a:extLst>
              <a:ext uri="{FF2B5EF4-FFF2-40B4-BE49-F238E27FC236}">
                <a16:creationId xmlns:a16="http://schemas.microsoft.com/office/drawing/2014/main" id="{A2F06410-77DD-4C95-95DE-2D2E247820ED}"/>
              </a:ext>
            </a:extLst>
          </p:cNvPr>
          <p:cNvSpPr txBox="1">
            <a:spLocks/>
          </p:cNvSpPr>
          <p:nvPr/>
        </p:nvSpPr>
        <p:spPr>
          <a:xfrm>
            <a:off x="4580878" y="5530118"/>
            <a:ext cx="4350646" cy="5701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SG" sz="2800" dirty="0"/>
              <a:t>Accuracy improved by 0.002!</a:t>
            </a:r>
          </a:p>
        </p:txBody>
      </p:sp>
    </p:spTree>
    <p:extLst>
      <p:ext uri="{BB962C8B-B14F-4D97-AF65-F5344CB8AC3E}">
        <p14:creationId xmlns:p14="http://schemas.microsoft.com/office/powerpoint/2010/main" val="5731233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54E792-9109-4597-9235-7E3B8B70E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lang="en-SG" sz="3600" dirty="0" err="1"/>
              <a:t>Prameter</a:t>
            </a:r>
            <a:r>
              <a:rPr lang="en-SG" sz="3600" dirty="0"/>
              <a:t> tuning - </a:t>
            </a:r>
            <a:r>
              <a:rPr lang="en-SG" sz="3600" dirty="0" err="1"/>
              <a:t>kNN</a:t>
            </a:r>
            <a:endParaRPr lang="en-SG" sz="36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CDED3E-09EB-4BF0-A043-D1C41CAC7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457471"/>
            <a:ext cx="8801100" cy="12573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12655DF-78C9-427A-88AA-DEFF572539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705" y="2942731"/>
            <a:ext cx="6686550" cy="81915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CF2BBA6-C043-42D1-ABC3-277E24AF33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705" y="4220497"/>
            <a:ext cx="7670453" cy="981818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A3B99447-B27D-460E-B128-C47B4B52974E}"/>
              </a:ext>
            </a:extLst>
          </p:cNvPr>
          <p:cNvSpPr/>
          <p:nvPr/>
        </p:nvSpPr>
        <p:spPr>
          <a:xfrm>
            <a:off x="2591088" y="4711406"/>
            <a:ext cx="1936524" cy="26531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9A8DEF6-1621-4730-9504-E91259F1BAD2}"/>
              </a:ext>
            </a:extLst>
          </p:cNvPr>
          <p:cNvCxnSpPr/>
          <p:nvPr/>
        </p:nvCxnSpPr>
        <p:spPr>
          <a:xfrm>
            <a:off x="4361619" y="4897967"/>
            <a:ext cx="631980" cy="5696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itle 1">
            <a:extLst>
              <a:ext uri="{FF2B5EF4-FFF2-40B4-BE49-F238E27FC236}">
                <a16:creationId xmlns:a16="http://schemas.microsoft.com/office/drawing/2014/main" id="{06522D3F-2910-4262-838F-DC69F4D62F59}"/>
              </a:ext>
            </a:extLst>
          </p:cNvPr>
          <p:cNvSpPr txBox="1">
            <a:spLocks/>
          </p:cNvSpPr>
          <p:nvPr/>
        </p:nvSpPr>
        <p:spPr>
          <a:xfrm>
            <a:off x="4580878" y="5530118"/>
            <a:ext cx="4350646" cy="5701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SG" sz="2800" dirty="0"/>
              <a:t>No change</a:t>
            </a:r>
          </a:p>
        </p:txBody>
      </p:sp>
    </p:spTree>
    <p:extLst>
      <p:ext uri="{BB962C8B-B14F-4D97-AF65-F5344CB8AC3E}">
        <p14:creationId xmlns:p14="http://schemas.microsoft.com/office/powerpoint/2010/main" val="15328452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54E792-9109-4597-9235-7E3B8B70E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lang="en-SG" sz="3600" dirty="0"/>
              <a:t>Parameter tuning – Logistic Regression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3F1E90-414C-4AF9-8327-9F6D6B48DE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705" y="1490447"/>
            <a:ext cx="9048750" cy="15716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AF07528-95C5-476B-96F4-9CE6DAA7E1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835" y="3245959"/>
            <a:ext cx="6838950" cy="10382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CDB6FD2-45BE-4A27-A2C2-389BB90A3C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254" y="4470954"/>
            <a:ext cx="5819775" cy="733425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C721B751-15B1-4F17-81E3-9382D75615A0}"/>
              </a:ext>
            </a:extLst>
          </p:cNvPr>
          <p:cNvSpPr/>
          <p:nvPr/>
        </p:nvSpPr>
        <p:spPr>
          <a:xfrm>
            <a:off x="2347454" y="4823671"/>
            <a:ext cx="1578594" cy="19352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299BE12-AE18-4588-842D-B754DF1AD63D}"/>
              </a:ext>
            </a:extLst>
          </p:cNvPr>
          <p:cNvCxnSpPr/>
          <p:nvPr/>
        </p:nvCxnSpPr>
        <p:spPr>
          <a:xfrm>
            <a:off x="3693141" y="4987431"/>
            <a:ext cx="631980" cy="5696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itle 1">
            <a:extLst>
              <a:ext uri="{FF2B5EF4-FFF2-40B4-BE49-F238E27FC236}">
                <a16:creationId xmlns:a16="http://schemas.microsoft.com/office/drawing/2014/main" id="{CF982E91-EFB4-434B-B325-BF0FE5A626A3}"/>
              </a:ext>
            </a:extLst>
          </p:cNvPr>
          <p:cNvSpPr txBox="1">
            <a:spLocks/>
          </p:cNvSpPr>
          <p:nvPr/>
        </p:nvSpPr>
        <p:spPr>
          <a:xfrm>
            <a:off x="4427706" y="5557096"/>
            <a:ext cx="4350646" cy="5701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SG" sz="2800" dirty="0"/>
              <a:t>Performed slightly poorer</a:t>
            </a:r>
          </a:p>
        </p:txBody>
      </p:sp>
    </p:spTree>
    <p:extLst>
      <p:ext uri="{BB962C8B-B14F-4D97-AF65-F5344CB8AC3E}">
        <p14:creationId xmlns:p14="http://schemas.microsoft.com/office/powerpoint/2010/main" val="33666109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54E792-9109-4597-9235-7E3B8B70E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96" y="-4975"/>
            <a:ext cx="10775388" cy="1059489"/>
          </a:xfrm>
        </p:spPr>
        <p:txBody>
          <a:bodyPr>
            <a:normAutofit/>
          </a:bodyPr>
          <a:lstStyle/>
          <a:p>
            <a:r>
              <a:rPr lang="en-SG" sz="3600" dirty="0"/>
              <a:t>Overall Comparison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7E469FAD-1E22-428C-BB5A-4CE92C4449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319" y="1046992"/>
            <a:ext cx="4089013" cy="789645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79EF654C-EEF6-4A2D-AEA1-209C067883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342" y="1879162"/>
            <a:ext cx="2417934" cy="2307083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591FF0A4-0D96-4F32-B9AC-D44D3DF9C6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3838" y="986842"/>
            <a:ext cx="4413664" cy="849795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267B6076-5052-49E0-8FD2-88A32A7805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0584" y="1836637"/>
            <a:ext cx="2417934" cy="2454570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C55FA233-9E00-478E-A2FB-476BEC08C0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6665" y="5028678"/>
            <a:ext cx="4193552" cy="846232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E7216884-CBF8-42E0-B06D-F32AACD8F6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49978" y="4172289"/>
            <a:ext cx="2522133" cy="2537281"/>
          </a:xfrm>
          <a:prstGeom prst="rect">
            <a:avLst/>
          </a:prstGeom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D51C490B-5BC0-4C14-A429-B36C9242641A}"/>
              </a:ext>
            </a:extLst>
          </p:cNvPr>
          <p:cNvSpPr/>
          <p:nvPr/>
        </p:nvSpPr>
        <p:spPr>
          <a:xfrm>
            <a:off x="360342" y="1411739"/>
            <a:ext cx="1515610" cy="2029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5055FAC8-1B5A-4673-8553-1B32B99A9000}"/>
              </a:ext>
            </a:extLst>
          </p:cNvPr>
          <p:cNvCxnSpPr>
            <a:cxnSpLocks/>
          </p:cNvCxnSpPr>
          <p:nvPr/>
        </p:nvCxnSpPr>
        <p:spPr>
          <a:xfrm flipH="1">
            <a:off x="969760" y="1601345"/>
            <a:ext cx="210882" cy="31887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itle 1">
            <a:extLst>
              <a:ext uri="{FF2B5EF4-FFF2-40B4-BE49-F238E27FC236}">
                <a16:creationId xmlns:a16="http://schemas.microsoft.com/office/drawing/2014/main" id="{C2848F7D-3702-4527-955A-65D08119116B}"/>
              </a:ext>
            </a:extLst>
          </p:cNvPr>
          <p:cNvSpPr txBox="1">
            <a:spLocks/>
          </p:cNvSpPr>
          <p:nvPr/>
        </p:nvSpPr>
        <p:spPr>
          <a:xfrm>
            <a:off x="386130" y="4832639"/>
            <a:ext cx="4350646" cy="5701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SG" sz="2800" b="1" dirty="0"/>
              <a:t>SVM</a:t>
            </a:r>
            <a:r>
              <a:rPr lang="en-SG" sz="2800" dirty="0"/>
              <a:t> has the best accuracy and precision of amongst the 3 models.</a:t>
            </a:r>
          </a:p>
        </p:txBody>
      </p:sp>
    </p:spTree>
    <p:extLst>
      <p:ext uri="{BB962C8B-B14F-4D97-AF65-F5344CB8AC3E}">
        <p14:creationId xmlns:p14="http://schemas.microsoft.com/office/powerpoint/2010/main" val="2375415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54E792-9109-4597-9235-7E3B8B70E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lang="en-SG" sz="3600" dirty="0"/>
              <a:t>Proposed Solution &amp; further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28FF2-293E-42F2-8391-2BEACDE282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7" y="1782981"/>
            <a:ext cx="10905066" cy="4393982"/>
          </a:xfrm>
        </p:spPr>
        <p:txBody>
          <a:bodyPr>
            <a:normAutofit/>
          </a:bodyPr>
          <a:lstStyle/>
          <a:p>
            <a:r>
              <a:rPr lang="en-SG" sz="2000" dirty="0"/>
              <a:t>All models actually produced good accuracy and precision scores and the increments in the scores between them are minimal</a:t>
            </a:r>
          </a:p>
          <a:p>
            <a:r>
              <a:rPr lang="en-SG" sz="2000" dirty="0"/>
              <a:t>The SVM ‘</a:t>
            </a:r>
            <a:r>
              <a:rPr lang="en-SG" sz="2000" dirty="0" err="1"/>
              <a:t>rbf</a:t>
            </a:r>
            <a:r>
              <a:rPr lang="en-SG" sz="2000" dirty="0"/>
              <a:t>’ model produces the model with the best accuracy, precision scores and ROC AUC.</a:t>
            </a:r>
          </a:p>
          <a:p>
            <a:r>
              <a:rPr lang="en-SG" sz="2000" dirty="0"/>
              <a:t>Is there any further way to improve the model? – Feature Selection</a:t>
            </a:r>
          </a:p>
          <a:p>
            <a:endParaRPr lang="en-SG" sz="2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3785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54E792-9109-4597-9235-7E3B8B70E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lang="en-SG" sz="3600" dirty="0"/>
              <a:t>Using forward feature selection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28FF2-293E-42F2-8391-2BEACDE282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7" y="1782981"/>
            <a:ext cx="10905066" cy="4393982"/>
          </a:xfrm>
        </p:spPr>
        <p:txBody>
          <a:bodyPr>
            <a:normAutofit/>
          </a:bodyPr>
          <a:lstStyle/>
          <a:p>
            <a:r>
              <a:rPr lang="en-US" sz="2000" dirty="0"/>
              <a:t>The forward selection method:</a:t>
            </a:r>
          </a:p>
          <a:p>
            <a:r>
              <a:rPr lang="en-US" sz="2000" dirty="0"/>
              <a:t>Keeps a list of selected features</a:t>
            </a:r>
          </a:p>
          <a:p>
            <a:r>
              <a:rPr lang="en-US" sz="2000" dirty="0"/>
              <a:t>Keeps a list of features still available for selection</a:t>
            </a:r>
          </a:p>
          <a:p>
            <a:r>
              <a:rPr lang="en-US" sz="2000" dirty="0"/>
              <a:t>Loops through available features:</a:t>
            </a:r>
          </a:p>
          <a:p>
            <a:pPr lvl="1"/>
            <a:r>
              <a:rPr lang="en-US" sz="1600" dirty="0"/>
              <a:t>Calculates added value for each feature (using stratified k-fold validation)</a:t>
            </a:r>
          </a:p>
          <a:p>
            <a:pPr lvl="1"/>
            <a:r>
              <a:rPr lang="en-US" sz="1600" dirty="0"/>
              <a:t>Selects feature that adds most value</a:t>
            </a:r>
          </a:p>
          <a:p>
            <a:pPr lvl="1"/>
            <a:r>
              <a:rPr lang="en-US" sz="1600" dirty="0"/>
              <a:t>Adds selected feature to selected features list and removes it from available features list</a:t>
            </a:r>
          </a:p>
          <a:p>
            <a:r>
              <a:rPr lang="en-US" sz="2000" dirty="0"/>
              <a:t>This method uses a while loop to keep exploring features until no more are available.</a:t>
            </a:r>
            <a:endParaRPr lang="en-SG" sz="2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5286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8AF81-B1CF-4BC0-B651-9B4ED407D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136" y="0"/>
            <a:ext cx="10515600" cy="1325563"/>
          </a:xfrm>
        </p:spPr>
        <p:txBody>
          <a:bodyPr/>
          <a:lstStyle/>
          <a:p>
            <a:r>
              <a:rPr lang="en-SG" dirty="0"/>
              <a:t>Forward Feature selection (Stratified k-fold)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A34705-80EB-41EB-9833-F0730A658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136" y="913660"/>
            <a:ext cx="3397485" cy="18206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70DBA8-25FC-43AA-83BE-B37FCB7BC8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136" y="2657265"/>
            <a:ext cx="3860788" cy="41130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15BE3CD-E272-41A4-BF43-DE893FF548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4778" y="2657265"/>
            <a:ext cx="3697625" cy="41130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30CA9EF-EBA5-425B-9C7E-A79066C15D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2403" y="5189251"/>
            <a:ext cx="3697625" cy="1581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0948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54E792-9109-4597-9235-7E3B8B70E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86" y="16840"/>
            <a:ext cx="10905066" cy="1135737"/>
          </a:xfrm>
        </p:spPr>
        <p:txBody>
          <a:bodyPr>
            <a:normAutofit/>
          </a:bodyPr>
          <a:lstStyle/>
          <a:p>
            <a:r>
              <a:rPr lang="en-SG" sz="3600" dirty="0"/>
              <a:t>Other Considerations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921F4F9-E488-479C-9372-FA4F95B13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7576" y="971272"/>
            <a:ext cx="4838700" cy="55340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175E5E2-78CE-4888-A75C-82A3038E99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930" y="1009428"/>
            <a:ext cx="1933575" cy="530542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3EA9966-C65E-49CF-9A9E-2289D2372515}"/>
              </a:ext>
            </a:extLst>
          </p:cNvPr>
          <p:cNvSpPr/>
          <p:nvPr/>
        </p:nvSpPr>
        <p:spPr>
          <a:xfrm>
            <a:off x="1109764" y="1324890"/>
            <a:ext cx="1515610" cy="17203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498A591-AE53-45B1-9FFB-AEC080E299E2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2625374" y="2185047"/>
            <a:ext cx="3562362" cy="7140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26896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54E792-9109-4597-9235-7E3B8B70E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72757"/>
            <a:ext cx="10905066" cy="1135737"/>
          </a:xfrm>
        </p:spPr>
        <p:txBody>
          <a:bodyPr>
            <a:normAutofit/>
          </a:bodyPr>
          <a:lstStyle/>
          <a:p>
            <a:r>
              <a:rPr lang="en-SG" sz="3600" dirty="0"/>
              <a:t>SVM – (7 features only)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18B350-5EC5-4D75-8E31-4629E24037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596" y="1121136"/>
            <a:ext cx="5378162" cy="2643144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97C97B34-DAA9-4328-854F-D69F87E5D6DF}"/>
              </a:ext>
            </a:extLst>
          </p:cNvPr>
          <p:cNvSpPr/>
          <p:nvPr/>
        </p:nvSpPr>
        <p:spPr>
          <a:xfrm>
            <a:off x="7383781" y="3570757"/>
            <a:ext cx="1578594" cy="19352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54484EB-472B-4D06-802B-DC6BDB8FCF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930" y="1249778"/>
            <a:ext cx="4107736" cy="2532833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CFDE760-9112-4001-8205-44A6D3EB7980}"/>
              </a:ext>
            </a:extLst>
          </p:cNvPr>
          <p:cNvCxnSpPr>
            <a:cxnSpLocks/>
          </p:cNvCxnSpPr>
          <p:nvPr/>
        </p:nvCxnSpPr>
        <p:spPr>
          <a:xfrm flipH="1">
            <a:off x="7554897" y="3764280"/>
            <a:ext cx="399547" cy="9306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itle 1">
            <a:extLst>
              <a:ext uri="{FF2B5EF4-FFF2-40B4-BE49-F238E27FC236}">
                <a16:creationId xmlns:a16="http://schemas.microsoft.com/office/drawing/2014/main" id="{E0104E0E-5CD4-48E7-868F-63593B2DBF2A}"/>
              </a:ext>
            </a:extLst>
          </p:cNvPr>
          <p:cNvSpPr txBox="1">
            <a:spLocks/>
          </p:cNvSpPr>
          <p:nvPr/>
        </p:nvSpPr>
        <p:spPr>
          <a:xfrm>
            <a:off x="4682922" y="4759343"/>
            <a:ext cx="4350646" cy="5701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SG" sz="2800" dirty="0"/>
              <a:t>Same score as the old model</a:t>
            </a:r>
          </a:p>
        </p:txBody>
      </p:sp>
    </p:spTree>
    <p:extLst>
      <p:ext uri="{BB962C8B-B14F-4D97-AF65-F5344CB8AC3E}">
        <p14:creationId xmlns:p14="http://schemas.microsoft.com/office/powerpoint/2010/main" val="30703137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F8267-B09B-4149-837C-6823FCF6D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SVM(20 features) vs SVM (7 features)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3975BF-5289-40BB-8C3F-AE00688AA2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9084" y="5035340"/>
            <a:ext cx="4839025" cy="5312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3830CF4-D3FE-4811-BFC1-CCFA0CE947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90688"/>
            <a:ext cx="3147874" cy="30035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7614FC5-37AF-48F8-9590-DC80942C96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630" y="4786034"/>
            <a:ext cx="4089013" cy="789645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9A4C2261-DC33-4690-BC35-21470C4E7086}"/>
              </a:ext>
            </a:extLst>
          </p:cNvPr>
          <p:cNvSpPr txBox="1">
            <a:spLocks/>
          </p:cNvSpPr>
          <p:nvPr/>
        </p:nvSpPr>
        <p:spPr>
          <a:xfrm>
            <a:off x="3369027" y="5958172"/>
            <a:ext cx="4350646" cy="5701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SG" sz="2800" dirty="0"/>
              <a:t>Noted a reduction in features, but preserving the same scores.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F36A24D-726A-490A-80FC-7B7D04BDC0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8749" y="1606716"/>
            <a:ext cx="3111802" cy="3171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6889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F8267-B09B-4149-837C-6823FCF6D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159" y="106843"/>
            <a:ext cx="10515600" cy="1325563"/>
          </a:xfrm>
        </p:spPr>
        <p:txBody>
          <a:bodyPr/>
          <a:lstStyle/>
          <a:p>
            <a:r>
              <a:rPr lang="en-SG" dirty="0"/>
              <a:t>Conclusion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3975BF-5289-40BB-8C3F-AE00688AA2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5209" y="4827830"/>
            <a:ext cx="4839025" cy="531201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9A4C2261-DC33-4690-BC35-21470C4E7086}"/>
              </a:ext>
            </a:extLst>
          </p:cNvPr>
          <p:cNvSpPr txBox="1">
            <a:spLocks/>
          </p:cNvSpPr>
          <p:nvPr/>
        </p:nvSpPr>
        <p:spPr>
          <a:xfrm>
            <a:off x="525159" y="1690688"/>
            <a:ext cx="4350646" cy="41312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endParaRPr lang="en-SG" sz="2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A782DF-6A18-42AA-A909-3F3D1D3293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5209" y="4184330"/>
            <a:ext cx="4477445" cy="215492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D7DBCCD-13D1-4EED-8030-F2A77C0C52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7" y="1317468"/>
            <a:ext cx="4552898" cy="3695030"/>
          </a:xfrm>
        </p:spPr>
        <p:txBody>
          <a:bodyPr>
            <a:normAutofit/>
          </a:bodyPr>
          <a:lstStyle/>
          <a:p>
            <a:r>
              <a:rPr lang="en-SG" sz="2000" dirty="0"/>
              <a:t>Hence, I would propose to use the new model – lesser features, same results.</a:t>
            </a:r>
          </a:p>
          <a:p>
            <a:r>
              <a:rPr lang="en-SG" sz="2000" dirty="0"/>
              <a:t>Other thoughts:</a:t>
            </a:r>
          </a:p>
          <a:p>
            <a:pPr lvl="1"/>
            <a:r>
              <a:rPr lang="en-SG" sz="1600" dirty="0"/>
              <a:t> – possibly could perform the same feature selection techniques on the weaker models and check if a reduction in features leads to any improved performance.</a:t>
            </a:r>
          </a:p>
          <a:p>
            <a:pPr lvl="1"/>
            <a:r>
              <a:rPr lang="en-SG" sz="1600" dirty="0"/>
              <a:t>Consider removing outliers which may affect the model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D725096-2BAF-4093-85AD-C2BCA857FA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3587" y="1184842"/>
            <a:ext cx="2392948" cy="24388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D9840A1-4383-43E2-8AFF-D0F702344C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1206" y="1317468"/>
            <a:ext cx="1347878" cy="2173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3207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7">
            <a:extLst>
              <a:ext uri="{FF2B5EF4-FFF2-40B4-BE49-F238E27FC236}">
                <a16:creationId xmlns:a16="http://schemas.microsoft.com/office/drawing/2014/main" id="{88294908-8B00-4F58-BBBA-20F71A40A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Freeform: Shape 9">
            <a:extLst>
              <a:ext uri="{FF2B5EF4-FFF2-40B4-BE49-F238E27FC236}">
                <a16:creationId xmlns:a16="http://schemas.microsoft.com/office/drawing/2014/main" id="{4364C879-1404-4203-8E9D-CC5DE0A62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2782" y="-1386168"/>
            <a:ext cx="2424873" cy="3611191"/>
          </a:xfrm>
          <a:custGeom>
            <a:avLst/>
            <a:gdLst>
              <a:gd name="connsiteX0" fmla="*/ 0 w 2424873"/>
              <a:gd name="connsiteY0" fmla="*/ 2424874 h 3611191"/>
              <a:gd name="connsiteX1" fmla="*/ 2424873 w 2424873"/>
              <a:gd name="connsiteY1" fmla="*/ 0 h 3611191"/>
              <a:gd name="connsiteX2" fmla="*/ 2424873 w 2424873"/>
              <a:gd name="connsiteY2" fmla="*/ 3611191 h 3611191"/>
              <a:gd name="connsiteX3" fmla="*/ 1186317 w 2424873"/>
              <a:gd name="connsiteY3" fmla="*/ 3611191 h 3611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24873" h="3611191">
                <a:moveTo>
                  <a:pt x="0" y="2424874"/>
                </a:moveTo>
                <a:lnTo>
                  <a:pt x="2424873" y="0"/>
                </a:lnTo>
                <a:lnTo>
                  <a:pt x="2424873" y="3611191"/>
                </a:lnTo>
                <a:lnTo>
                  <a:pt x="1186317" y="361119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4617302-4B0D-4351-A6BB-6F0930D9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571000" y="-338582"/>
            <a:ext cx="1635955" cy="1635955"/>
          </a:xfrm>
          <a:custGeom>
            <a:avLst/>
            <a:gdLst>
              <a:gd name="connsiteX0" fmla="*/ 0 w 1635955"/>
              <a:gd name="connsiteY0" fmla="*/ 957987 h 1635955"/>
              <a:gd name="connsiteX1" fmla="*/ 957987 w 1635955"/>
              <a:gd name="connsiteY1" fmla="*/ 0 h 1635955"/>
              <a:gd name="connsiteX2" fmla="*/ 1635955 w 1635955"/>
              <a:gd name="connsiteY2" fmla="*/ 0 h 1635955"/>
              <a:gd name="connsiteX3" fmla="*/ 1635955 w 1635955"/>
              <a:gd name="connsiteY3" fmla="*/ 1635955 h 1635955"/>
              <a:gd name="connsiteX4" fmla="*/ 0 w 1635955"/>
              <a:gd name="connsiteY4" fmla="*/ 1635955 h 1635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35955" h="1635955">
                <a:moveTo>
                  <a:pt x="0" y="957987"/>
                </a:moveTo>
                <a:lnTo>
                  <a:pt x="957987" y="0"/>
                </a:lnTo>
                <a:lnTo>
                  <a:pt x="1635955" y="0"/>
                </a:lnTo>
                <a:lnTo>
                  <a:pt x="1635955" y="1635955"/>
                </a:lnTo>
                <a:lnTo>
                  <a:pt x="0" y="1635955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4" name="Freeform: Shape 13">
            <a:extLst>
              <a:ext uri="{FF2B5EF4-FFF2-40B4-BE49-F238E27FC236}">
                <a16:creationId xmlns:a16="http://schemas.microsoft.com/office/drawing/2014/main" id="{DA2C7802-C2E0-4218-8F89-8DD7CCD2C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7985" y="-6588"/>
            <a:ext cx="4059393" cy="2548110"/>
          </a:xfrm>
          <a:custGeom>
            <a:avLst/>
            <a:gdLst>
              <a:gd name="connsiteX0" fmla="*/ 0 w 4059393"/>
              <a:gd name="connsiteY0" fmla="*/ 1511282 h 2548110"/>
              <a:gd name="connsiteX1" fmla="*/ 1511282 w 4059393"/>
              <a:gd name="connsiteY1" fmla="*/ 0 h 2548110"/>
              <a:gd name="connsiteX2" fmla="*/ 4059393 w 4059393"/>
              <a:gd name="connsiteY2" fmla="*/ 2548110 h 2548110"/>
              <a:gd name="connsiteX3" fmla="*/ 0 w 4059393"/>
              <a:gd name="connsiteY3" fmla="*/ 2548110 h 2548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59393" h="2548110">
                <a:moveTo>
                  <a:pt x="0" y="1511282"/>
                </a:moveTo>
                <a:lnTo>
                  <a:pt x="1511282" y="0"/>
                </a:lnTo>
                <a:lnTo>
                  <a:pt x="4059393" y="2548110"/>
                </a:lnTo>
                <a:lnTo>
                  <a:pt x="0" y="254811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5" name="Rectangle 15">
            <a:extLst>
              <a:ext uri="{FF2B5EF4-FFF2-40B4-BE49-F238E27FC236}">
                <a16:creationId xmlns:a16="http://schemas.microsoft.com/office/drawing/2014/main" id="{A6D7111A-21E5-4EE9-8A78-10E5530F0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262924" y="1465780"/>
            <a:ext cx="1185708" cy="118570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6" name="Freeform: Shape 17">
            <a:extLst>
              <a:ext uri="{FF2B5EF4-FFF2-40B4-BE49-F238E27FC236}">
                <a16:creationId xmlns:a16="http://schemas.microsoft.com/office/drawing/2014/main" id="{A3969E80-A77B-49FC-9122-D89AFD5EE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-29557" y="5198743"/>
            <a:ext cx="2444907" cy="2366116"/>
          </a:xfrm>
          <a:custGeom>
            <a:avLst/>
            <a:gdLst>
              <a:gd name="connsiteX0" fmla="*/ 0 w 2203753"/>
              <a:gd name="connsiteY0" fmla="*/ 0 h 2132734"/>
              <a:gd name="connsiteX1" fmla="*/ 2203753 w 2203753"/>
              <a:gd name="connsiteY1" fmla="*/ 0 h 2132734"/>
              <a:gd name="connsiteX2" fmla="*/ 2203753 w 2203753"/>
              <a:gd name="connsiteY2" fmla="*/ 576461 h 2132734"/>
              <a:gd name="connsiteX3" fmla="*/ 647480 w 2203753"/>
              <a:gd name="connsiteY3" fmla="*/ 2132734 h 2132734"/>
              <a:gd name="connsiteX4" fmla="*/ 0 w 2203753"/>
              <a:gd name="connsiteY4" fmla="*/ 1485255 h 2132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3753" h="2132734">
                <a:moveTo>
                  <a:pt x="0" y="0"/>
                </a:moveTo>
                <a:lnTo>
                  <a:pt x="2203753" y="0"/>
                </a:lnTo>
                <a:lnTo>
                  <a:pt x="2203753" y="576461"/>
                </a:lnTo>
                <a:lnTo>
                  <a:pt x="647480" y="2132734"/>
                </a:lnTo>
                <a:lnTo>
                  <a:pt x="0" y="1485255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849CA57-76BD-4CF2-80BA-D7A46A01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769787" y="5439893"/>
            <a:ext cx="928467" cy="928467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5E9085E-E730-4768-83D4-6CB7E98971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401311" y="734311"/>
            <a:ext cx="5389379" cy="5389379"/>
          </a:xfrm>
          <a:custGeom>
            <a:avLst/>
            <a:gdLst>
              <a:gd name="connsiteX0" fmla="*/ 0 w 5389379"/>
              <a:gd name="connsiteY0" fmla="*/ 540040 h 5389379"/>
              <a:gd name="connsiteX1" fmla="*/ 540040 w 5389379"/>
              <a:gd name="connsiteY1" fmla="*/ 0 h 5389379"/>
              <a:gd name="connsiteX2" fmla="*/ 5389379 w 5389379"/>
              <a:gd name="connsiteY2" fmla="*/ 0 h 5389379"/>
              <a:gd name="connsiteX3" fmla="*/ 5389379 w 5389379"/>
              <a:gd name="connsiteY3" fmla="*/ 4838655 h 5389379"/>
              <a:gd name="connsiteX4" fmla="*/ 4838655 w 5389379"/>
              <a:gd name="connsiteY4" fmla="*/ 5389379 h 5389379"/>
              <a:gd name="connsiteX5" fmla="*/ 0 w 5389379"/>
              <a:gd name="connsiteY5" fmla="*/ 5389379 h 538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89379" h="5389379">
                <a:moveTo>
                  <a:pt x="0" y="540040"/>
                </a:moveTo>
                <a:lnTo>
                  <a:pt x="540040" y="0"/>
                </a:lnTo>
                <a:lnTo>
                  <a:pt x="5389379" y="0"/>
                </a:lnTo>
                <a:lnTo>
                  <a:pt x="5389379" y="4838655"/>
                </a:lnTo>
                <a:lnTo>
                  <a:pt x="4838655" y="5389379"/>
                </a:lnTo>
                <a:lnTo>
                  <a:pt x="0" y="538937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73272FE-A474-4CAE-8CA2-BCC8B476C3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00283" y="33283"/>
            <a:ext cx="6791435" cy="6791435"/>
          </a:xfrm>
          <a:custGeom>
            <a:avLst/>
            <a:gdLst>
              <a:gd name="connsiteX0" fmla="*/ 1860938 w 6791435"/>
              <a:gd name="connsiteY0" fmla="*/ 81158 h 6791435"/>
              <a:gd name="connsiteX1" fmla="*/ 1942096 w 6791435"/>
              <a:gd name="connsiteY1" fmla="*/ 0 h 6791435"/>
              <a:gd name="connsiteX2" fmla="*/ 6791435 w 6791435"/>
              <a:gd name="connsiteY2" fmla="*/ 0 h 6791435"/>
              <a:gd name="connsiteX3" fmla="*/ 6791435 w 6791435"/>
              <a:gd name="connsiteY3" fmla="*/ 4838655 h 6791435"/>
              <a:gd name="connsiteX4" fmla="*/ 6710277 w 6791435"/>
              <a:gd name="connsiteY4" fmla="*/ 4919813 h 6791435"/>
              <a:gd name="connsiteX5" fmla="*/ 6710277 w 6791435"/>
              <a:gd name="connsiteY5" fmla="*/ 81158 h 6791435"/>
              <a:gd name="connsiteX6" fmla="*/ 0 w 6791435"/>
              <a:gd name="connsiteY6" fmla="*/ 1942096 h 6791435"/>
              <a:gd name="connsiteX7" fmla="*/ 81158 w 6791435"/>
              <a:gd name="connsiteY7" fmla="*/ 1860938 h 6791435"/>
              <a:gd name="connsiteX8" fmla="*/ 81158 w 6791435"/>
              <a:gd name="connsiteY8" fmla="*/ 6710277 h 6791435"/>
              <a:gd name="connsiteX9" fmla="*/ 4919813 w 6791435"/>
              <a:gd name="connsiteY9" fmla="*/ 6710277 h 6791435"/>
              <a:gd name="connsiteX10" fmla="*/ 4838655 w 6791435"/>
              <a:gd name="connsiteY10" fmla="*/ 6791435 h 6791435"/>
              <a:gd name="connsiteX11" fmla="*/ 0 w 6791435"/>
              <a:gd name="connsiteY11" fmla="*/ 6791435 h 6791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91435" h="6791435">
                <a:moveTo>
                  <a:pt x="1860938" y="81158"/>
                </a:moveTo>
                <a:lnTo>
                  <a:pt x="1942096" y="0"/>
                </a:lnTo>
                <a:lnTo>
                  <a:pt x="6791435" y="0"/>
                </a:lnTo>
                <a:lnTo>
                  <a:pt x="6791435" y="4838655"/>
                </a:lnTo>
                <a:lnTo>
                  <a:pt x="6710277" y="4919813"/>
                </a:lnTo>
                <a:lnTo>
                  <a:pt x="6710277" y="81158"/>
                </a:lnTo>
                <a:close/>
                <a:moveTo>
                  <a:pt x="0" y="1942096"/>
                </a:moveTo>
                <a:lnTo>
                  <a:pt x="81158" y="1860938"/>
                </a:lnTo>
                <a:lnTo>
                  <a:pt x="81158" y="6710277"/>
                </a:lnTo>
                <a:lnTo>
                  <a:pt x="4919813" y="6710277"/>
                </a:lnTo>
                <a:lnTo>
                  <a:pt x="4838655" y="6791435"/>
                </a:lnTo>
                <a:lnTo>
                  <a:pt x="0" y="6791435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12408C-F7C7-49AA-9565-7D7CF6E223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34365" y="2182953"/>
            <a:ext cx="6702225" cy="2327207"/>
          </a:xfrm>
          <a:noFill/>
        </p:spPr>
        <p:txBody>
          <a:bodyPr anchor="ctr">
            <a:normAutofit/>
          </a:bodyPr>
          <a:lstStyle/>
          <a:p>
            <a:r>
              <a:rPr lang="en-SG" sz="3600" dirty="0">
                <a:solidFill>
                  <a:srgbClr val="080808"/>
                </a:solidFill>
              </a:rPr>
              <a:t>THE END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07981EA-05A6-437C-88D7-B377B92B0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9823" y="5457591"/>
            <a:ext cx="2231794" cy="2568811"/>
          </a:xfrm>
          <a:custGeom>
            <a:avLst/>
            <a:gdLst>
              <a:gd name="connsiteX0" fmla="*/ 0 w 2940086"/>
              <a:gd name="connsiteY0" fmla="*/ 0 h 3384061"/>
              <a:gd name="connsiteX1" fmla="*/ 2496112 w 2940086"/>
              <a:gd name="connsiteY1" fmla="*/ 0 h 3384061"/>
              <a:gd name="connsiteX2" fmla="*/ 2940086 w 2940086"/>
              <a:gd name="connsiteY2" fmla="*/ 443975 h 3384061"/>
              <a:gd name="connsiteX3" fmla="*/ 0 w 2940086"/>
              <a:gd name="connsiteY3" fmla="*/ 3384061 h 3384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0086" h="3384061">
                <a:moveTo>
                  <a:pt x="0" y="0"/>
                </a:moveTo>
                <a:lnTo>
                  <a:pt x="2496112" y="0"/>
                </a:lnTo>
                <a:lnTo>
                  <a:pt x="2940086" y="443975"/>
                </a:lnTo>
                <a:lnTo>
                  <a:pt x="0" y="338406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5E3C750-986E-4769-B1AE-49289FBEE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720059" y="5243545"/>
            <a:ext cx="959985" cy="959985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1124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4577</TotalTime>
  <Words>513</Words>
  <Application>Microsoft Office PowerPoint</Application>
  <PresentationFormat>Widescreen</PresentationFormat>
  <Paragraphs>59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Gender Recognition by Voice and Speech Analysis</vt:lpstr>
      <vt:lpstr>Approach</vt:lpstr>
      <vt:lpstr>Using machine learning techniques, can we design a model which is able to classify a person’s gender by their voice?</vt:lpstr>
      <vt:lpstr>Background of the data</vt:lpstr>
      <vt:lpstr>Data preparation</vt:lpstr>
      <vt:lpstr>EDA – checking dataset</vt:lpstr>
      <vt:lpstr>EDA – target and predictors</vt:lpstr>
      <vt:lpstr>Models</vt:lpstr>
      <vt:lpstr>Initial comparisons</vt:lpstr>
      <vt:lpstr>Comparing Models</vt:lpstr>
      <vt:lpstr>Parameter tuning - SVM</vt:lpstr>
      <vt:lpstr>Prameter tuning - kNN</vt:lpstr>
      <vt:lpstr>Parameter tuning – Logistic Regression</vt:lpstr>
      <vt:lpstr>Overall Comparison</vt:lpstr>
      <vt:lpstr>Proposed Solution &amp; further considerations</vt:lpstr>
      <vt:lpstr>Using forward feature selection method</vt:lpstr>
      <vt:lpstr>Forward Feature selection (Stratified k-fold)</vt:lpstr>
      <vt:lpstr>Other Considerations</vt:lpstr>
      <vt:lpstr>SVM – (7 features only)</vt:lpstr>
      <vt:lpstr>SVM(20 features) vs SVM (7 features)</vt:lpstr>
      <vt:lpstr>Conclusion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Gender Recognition by Voice and Speech Analysis</dc:title>
  <dc:creator>Lewy AGB</dc:creator>
  <cp:lastModifiedBy>Lewy AGB</cp:lastModifiedBy>
  <cp:revision>37</cp:revision>
  <dcterms:created xsi:type="dcterms:W3CDTF">2021-06-05T14:16:12Z</dcterms:created>
  <dcterms:modified xsi:type="dcterms:W3CDTF">2021-06-10T01:10:10Z</dcterms:modified>
</cp:coreProperties>
</file>