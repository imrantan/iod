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6" r:id="rId10"/>
    <p:sldId id="267" r:id="rId11"/>
    <p:sldId id="269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7146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1171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261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3659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85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914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061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S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426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S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678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016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7521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1B3611F-8921-42C0-B9A1-24641265E4AE}" type="datetimeFigureOut">
              <a:rPr lang="en-SG" smtClean="0"/>
              <a:t>1/7/2021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9E2DE7C-C252-42D9-A922-427B1E87B0F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985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ABD5-5D4F-49ED-8F5E-B0AAA9A3F3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Mini project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D6722-466D-43A9-8BD2-EE8711195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Imran</a:t>
            </a:r>
          </a:p>
        </p:txBody>
      </p:sp>
    </p:spTree>
    <p:extLst>
      <p:ext uri="{BB962C8B-B14F-4D97-AF65-F5344CB8AC3E}">
        <p14:creationId xmlns:p14="http://schemas.microsoft.com/office/powerpoint/2010/main" val="4054349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4E77-C312-403C-9BD4-BB2E5041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274" y="964692"/>
            <a:ext cx="7803590" cy="4459564"/>
          </a:xfrm>
        </p:spPr>
        <p:txBody>
          <a:bodyPr/>
          <a:lstStyle/>
          <a:p>
            <a:br>
              <a:rPr lang="en-SG" dirty="0">
                <a:latin typeface="+mn-lt"/>
              </a:rPr>
            </a:br>
            <a:r>
              <a:rPr lang="en-SG" dirty="0">
                <a:latin typeface="+mn-lt"/>
              </a:rPr>
              <a:t>Perform sentiment analysis using top comments from reddit posts on the </a:t>
            </a:r>
            <a:r>
              <a:rPr lang="en-SG" dirty="0" err="1">
                <a:latin typeface="+mn-lt"/>
              </a:rPr>
              <a:t>playstation</a:t>
            </a:r>
            <a:r>
              <a:rPr lang="en-SG" dirty="0">
                <a:latin typeface="+mn-lt"/>
              </a:rPr>
              <a:t> 5 (PS5)</a:t>
            </a:r>
            <a:br>
              <a:rPr lang="en-SG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7740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B39D-9C89-479A-82ED-14EE2D16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Reddit ps5 review threads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AEC514-0187-474C-88A5-CEC26DF0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811074"/>
            <a:ext cx="4988350" cy="240816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307AF2-506F-41CB-B774-EB943634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0640" y="2811074"/>
            <a:ext cx="4045376" cy="3159075"/>
          </a:xfrm>
        </p:spPr>
        <p:txBody>
          <a:bodyPr/>
          <a:lstStyle/>
          <a:p>
            <a:r>
              <a:rPr lang="en-SG" b="0" i="0" dirty="0">
                <a:solidFill>
                  <a:srgbClr val="000000"/>
                </a:solidFill>
                <a:effectLst/>
                <a:latin typeface="Helvetica Neue"/>
              </a:rPr>
              <a:t>Obtained from 5 different reddit post on PS5 reviews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5690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DATA – Vader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F2689-6CEA-47D7-B795-75EE955A3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1573089"/>
            <a:ext cx="53149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8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DATA – Vader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6A628-B136-4C8E-B393-93137274C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173" y="1552184"/>
            <a:ext cx="4233766" cy="444977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C174E-8359-4CA6-AEDB-C2F5EC16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2014" y="2197533"/>
            <a:ext cx="4045376" cy="3159075"/>
          </a:xfrm>
        </p:spPr>
        <p:txBody>
          <a:bodyPr/>
          <a:lstStyle/>
          <a:p>
            <a:r>
              <a:rPr lang="en-SG" b="0" i="0" dirty="0">
                <a:solidFill>
                  <a:srgbClr val="000000"/>
                </a:solidFill>
                <a:effectLst/>
                <a:latin typeface="Helvetica Neue"/>
              </a:rPr>
              <a:t>Removed </a:t>
            </a:r>
            <a:r>
              <a:rPr lang="en-SG" b="0" i="0" dirty="0" err="1">
                <a:solidFill>
                  <a:srgbClr val="000000"/>
                </a:solidFill>
                <a:effectLst/>
                <a:latin typeface="Helvetica Neue"/>
              </a:rPr>
              <a:t>StopWords</a:t>
            </a:r>
            <a:r>
              <a:rPr lang="en-SG" b="0" i="0" dirty="0">
                <a:solidFill>
                  <a:srgbClr val="000000"/>
                </a:solidFill>
                <a:effectLst/>
                <a:latin typeface="Helvetica Neue"/>
              </a:rPr>
              <a:t>, Punctuation and Lemmatize 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7888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Feature engineering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C174E-8359-4CA6-AEDB-C2F5EC16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54937"/>
            <a:ext cx="7519354" cy="3531463"/>
          </a:xfrm>
        </p:spPr>
        <p:txBody>
          <a:bodyPr/>
          <a:lstStyle/>
          <a:p>
            <a:pPr algn="l"/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Count Vectors as features</a:t>
            </a:r>
          </a:p>
          <a:p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TF-IDF Vectors as features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Word level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N-Gram level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Character level</a:t>
            </a:r>
          </a:p>
          <a:p>
            <a:pPr lvl="1"/>
            <a:endParaRPr lang="en-SG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21243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Models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C174E-8359-4CA6-AEDB-C2F5EC16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54937"/>
            <a:ext cx="7519354" cy="3531463"/>
          </a:xfrm>
        </p:spPr>
        <p:txBody>
          <a:bodyPr/>
          <a:lstStyle/>
          <a:p>
            <a:pPr algn="l"/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Naive Bayes Classifier</a:t>
            </a:r>
          </a:p>
          <a:p>
            <a:pPr algn="l"/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Support Vector Machine</a:t>
            </a:r>
            <a:endParaRPr lang="en-SG" b="1" dirty="0">
              <a:solidFill>
                <a:srgbClr val="000000"/>
              </a:solidFill>
              <a:latin typeface="Helvetica Neue"/>
            </a:endParaRPr>
          </a:p>
          <a:p>
            <a:pPr algn="l"/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Random Forest Classifier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Gradient Boosting</a:t>
            </a:r>
            <a:endParaRPr lang="en-SG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2881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Models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C174E-8359-4CA6-AEDB-C2F5EC16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54937"/>
            <a:ext cx="7519354" cy="3531463"/>
          </a:xfrm>
        </p:spPr>
        <p:txBody>
          <a:bodyPr/>
          <a:lstStyle/>
          <a:p>
            <a:pPr algn="l"/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Naive Bayes Classifier</a:t>
            </a:r>
          </a:p>
          <a:p>
            <a:pPr algn="l"/>
            <a:r>
              <a:rPr lang="en-SG" b="1" dirty="0" err="1">
                <a:solidFill>
                  <a:srgbClr val="000000"/>
                </a:solidFill>
                <a:latin typeface="Helvetica Neue"/>
              </a:rPr>
              <a:t>k</a:t>
            </a:r>
            <a:r>
              <a:rPr lang="en-SG" b="1" i="0" dirty="0" err="1">
                <a:solidFill>
                  <a:srgbClr val="000000"/>
                </a:solidFill>
                <a:effectLst/>
                <a:latin typeface="Helvetica Neue"/>
              </a:rPr>
              <a:t>NN</a:t>
            </a:r>
            <a:endParaRPr lang="en-SG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/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Support Vector Machine</a:t>
            </a:r>
            <a:endParaRPr lang="en-SG" b="1" dirty="0">
              <a:solidFill>
                <a:srgbClr val="000000"/>
              </a:solidFill>
              <a:latin typeface="Helvetica Neue"/>
            </a:endParaRPr>
          </a:p>
          <a:p>
            <a:pPr algn="l"/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Random Forest Classifier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Gradient Boosting</a:t>
            </a:r>
            <a:endParaRPr lang="en-SG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77481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Accuracy scores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C174E-8359-4CA6-AEDB-C2F5EC16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4966" y="3871763"/>
            <a:ext cx="5738326" cy="2267822"/>
          </a:xfrm>
        </p:spPr>
        <p:txBody>
          <a:bodyPr/>
          <a:lstStyle/>
          <a:p>
            <a:pPr algn="l"/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SVM and Random Forest (Count Vectors) had the best scores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Gradient Boosting (</a:t>
            </a:r>
            <a:r>
              <a:rPr lang="en-SG" b="1" dirty="0" err="1">
                <a:solidFill>
                  <a:srgbClr val="000000"/>
                </a:solidFill>
                <a:latin typeface="Helvetica Neue"/>
              </a:rPr>
              <a:t>CharLevel</a:t>
            </a:r>
            <a:r>
              <a:rPr lang="en-SG" b="1" dirty="0">
                <a:solidFill>
                  <a:srgbClr val="000000"/>
                </a:solidFill>
                <a:latin typeface="Helvetica Neue"/>
              </a:rPr>
              <a:t> Vectors) had a similarly good score.</a:t>
            </a:r>
            <a:endParaRPr lang="en-SG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/>
            <a:r>
              <a:rPr lang="en-SG" b="1" i="0" dirty="0" err="1">
                <a:solidFill>
                  <a:srgbClr val="000000"/>
                </a:solidFill>
                <a:effectLst/>
                <a:latin typeface="Helvetica Neue"/>
              </a:rPr>
              <a:t>kNN</a:t>
            </a:r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 was the worst pe</a:t>
            </a:r>
            <a:r>
              <a:rPr lang="en-SG" b="1" dirty="0">
                <a:solidFill>
                  <a:srgbClr val="000000"/>
                </a:solidFill>
                <a:latin typeface="Helvetica Neue"/>
              </a:rPr>
              <a:t>rformer</a:t>
            </a:r>
          </a:p>
          <a:p>
            <a:pPr algn="l"/>
            <a:endParaRPr lang="en-SG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3E210-179F-41A8-920D-6A131A5B6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191" y="1579907"/>
            <a:ext cx="6594970" cy="20081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4D1DA2-D89A-4DA2-B6CD-DE7A19990083}"/>
              </a:ext>
            </a:extLst>
          </p:cNvPr>
          <p:cNvSpPr/>
          <p:nvPr/>
        </p:nvSpPr>
        <p:spPr>
          <a:xfrm>
            <a:off x="4611756" y="2610678"/>
            <a:ext cx="887895" cy="185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942C0B-E6A3-46C6-84F1-7F4CADC8828B}"/>
              </a:ext>
            </a:extLst>
          </p:cNvPr>
          <p:cNvSpPr/>
          <p:nvPr/>
        </p:nvSpPr>
        <p:spPr>
          <a:xfrm>
            <a:off x="4611755" y="2912201"/>
            <a:ext cx="887895" cy="185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BE183-1D35-4274-A47D-3893632DB551}"/>
              </a:ext>
            </a:extLst>
          </p:cNvPr>
          <p:cNvSpPr/>
          <p:nvPr/>
        </p:nvSpPr>
        <p:spPr>
          <a:xfrm>
            <a:off x="8249476" y="3207043"/>
            <a:ext cx="887895" cy="185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2636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SVM (tuned)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C174E-8359-4CA6-AEDB-C2F5EC16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4193595"/>
            <a:ext cx="5738326" cy="2267822"/>
          </a:xfrm>
        </p:spPr>
        <p:txBody>
          <a:bodyPr/>
          <a:lstStyle/>
          <a:p>
            <a:pPr algn="l"/>
            <a:r>
              <a:rPr lang="en-SG" b="1" i="0" dirty="0">
                <a:solidFill>
                  <a:srgbClr val="000000"/>
                </a:solidFill>
                <a:effectLst/>
                <a:latin typeface="Helvetica Neue"/>
              </a:rPr>
              <a:t>SVM (tuned) 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Increase in accuracy by 3%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Precision 78%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Recall 74%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17FF1-0393-4E1B-8B16-754BD8EFE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530494"/>
            <a:ext cx="4438650" cy="2162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21D769-8C2D-40EB-9D6C-17BAADB2C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227" y="1530494"/>
            <a:ext cx="34290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3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Random forest (tuned)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C174E-8359-4CA6-AEDB-C2F5EC16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4439928"/>
            <a:ext cx="5738326" cy="2267822"/>
          </a:xfrm>
        </p:spPr>
        <p:txBody>
          <a:bodyPr/>
          <a:lstStyle/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Decrease in accuracy by 3%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Precision 94%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Recall 67%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E20F6-FE91-4DDD-B6E5-DC87A4DD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411356"/>
            <a:ext cx="3552825" cy="289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A900B8-E261-490A-8C3A-7A75B293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041" y="1411356"/>
            <a:ext cx="34861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94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Gradient boosting (tuned)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C174E-8359-4CA6-AEDB-C2F5EC16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4193595"/>
            <a:ext cx="5738326" cy="2267822"/>
          </a:xfrm>
        </p:spPr>
        <p:txBody>
          <a:bodyPr/>
          <a:lstStyle/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Decrease in accuracy by 2%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Precision 90%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Recall 68%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4A4C3A-D09A-47E2-B795-CBC88ECA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645377"/>
            <a:ext cx="4686300" cy="2181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E51EE2-CA02-4D0D-A69D-8BD6C0A2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239" y="1645377"/>
            <a:ext cx="34290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1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BF1-E4CD-47BA-BADC-76D693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91216"/>
            <a:ext cx="7729728" cy="687168"/>
          </a:xfrm>
        </p:spPr>
        <p:txBody>
          <a:bodyPr>
            <a:normAutofit fontScale="90000"/>
          </a:bodyPr>
          <a:lstStyle/>
          <a:p>
            <a:r>
              <a:rPr lang="en-SG" dirty="0"/>
              <a:t>conclusion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C174E-8359-4CA6-AEDB-C2F5EC16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073247"/>
            <a:ext cx="6409281" cy="2604770"/>
          </a:xfrm>
        </p:spPr>
        <p:txBody>
          <a:bodyPr/>
          <a:lstStyle/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SVM (Tuned) is the best performing model</a:t>
            </a:r>
          </a:p>
          <a:p>
            <a:pPr algn="l"/>
            <a:r>
              <a:rPr lang="en-SG" b="1" dirty="0">
                <a:solidFill>
                  <a:srgbClr val="000000"/>
                </a:solidFill>
                <a:latin typeface="Helvetica Neue"/>
              </a:rPr>
              <a:t>Other considerations:</a:t>
            </a:r>
          </a:p>
          <a:p>
            <a:pPr lvl="1"/>
            <a:r>
              <a:rPr lang="en-SG" b="1" dirty="0">
                <a:solidFill>
                  <a:srgbClr val="000000"/>
                </a:solidFill>
                <a:latin typeface="Helvetica Neue"/>
              </a:rPr>
              <a:t>Obtaining more reddit comments from more reviews</a:t>
            </a:r>
          </a:p>
          <a:p>
            <a:pPr lvl="1"/>
            <a:r>
              <a:rPr lang="en-SG" b="1" dirty="0">
                <a:solidFill>
                  <a:srgbClr val="000000"/>
                </a:solidFill>
                <a:latin typeface="Helvetica Neue"/>
              </a:rPr>
              <a:t>Consider the accuracy of using VADER for labelling</a:t>
            </a:r>
          </a:p>
        </p:txBody>
      </p:sp>
    </p:spTree>
    <p:extLst>
      <p:ext uri="{BB962C8B-B14F-4D97-AF65-F5344CB8AC3E}">
        <p14:creationId xmlns:p14="http://schemas.microsoft.com/office/powerpoint/2010/main" val="1915010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4E77-C312-403C-9BD4-BB2E5041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274" y="964692"/>
            <a:ext cx="7803590" cy="4459564"/>
          </a:xfrm>
        </p:spPr>
        <p:txBody>
          <a:bodyPr/>
          <a:lstStyle/>
          <a:p>
            <a:r>
              <a:rPr lang="en-SG" dirty="0">
                <a:latin typeface="+mn-lt"/>
              </a:rPr>
              <a:t>The end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508582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1363</TotalTime>
  <Words>203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Helvetica Neue</vt:lpstr>
      <vt:lpstr>Parcel</vt:lpstr>
      <vt:lpstr>Mini project 3</vt:lpstr>
      <vt:lpstr> Perform sentiment analysis using top comments from reddit posts on the playstation 5 (PS5) </vt:lpstr>
      <vt:lpstr>Reddit ps5 review threads</vt:lpstr>
      <vt:lpstr>DATA – Vader</vt:lpstr>
      <vt:lpstr>DATA – Vader</vt:lpstr>
      <vt:lpstr>Feature engineering</vt:lpstr>
      <vt:lpstr>Models</vt:lpstr>
      <vt:lpstr>Models</vt:lpstr>
      <vt:lpstr>Accuracy scores</vt:lpstr>
      <vt:lpstr>SVM (tuned)</vt:lpstr>
      <vt:lpstr>Random forest (tuned)</vt:lpstr>
      <vt:lpstr>Gradient boosting (tuned)</vt:lpstr>
      <vt:lpstr>conclusion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Lewy AGB</dc:creator>
  <cp:lastModifiedBy>Lewy AGB</cp:lastModifiedBy>
  <cp:revision>14</cp:revision>
  <dcterms:created xsi:type="dcterms:W3CDTF">2021-07-01T06:03:51Z</dcterms:created>
  <dcterms:modified xsi:type="dcterms:W3CDTF">2021-07-02T04:47:39Z</dcterms:modified>
</cp:coreProperties>
</file>