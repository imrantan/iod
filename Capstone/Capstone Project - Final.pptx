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35"/>
  </p:notesMasterIdLst>
  <p:sldIdLst>
    <p:sldId id="256" r:id="rId2"/>
    <p:sldId id="318" r:id="rId3"/>
    <p:sldId id="264" r:id="rId4"/>
    <p:sldId id="265" r:id="rId5"/>
    <p:sldId id="257" r:id="rId6"/>
    <p:sldId id="272" r:id="rId7"/>
    <p:sldId id="278" r:id="rId8"/>
    <p:sldId id="271" r:id="rId9"/>
    <p:sldId id="313" r:id="rId10"/>
    <p:sldId id="260" r:id="rId11"/>
    <p:sldId id="263" r:id="rId12"/>
    <p:sldId id="270" r:id="rId13"/>
    <p:sldId id="269" r:id="rId14"/>
    <p:sldId id="282" r:id="rId15"/>
    <p:sldId id="284" r:id="rId16"/>
    <p:sldId id="286" r:id="rId17"/>
    <p:sldId id="311" r:id="rId18"/>
    <p:sldId id="267" r:id="rId19"/>
    <p:sldId id="294" r:id="rId20"/>
    <p:sldId id="259" r:id="rId21"/>
    <p:sldId id="292" r:id="rId22"/>
    <p:sldId id="302" r:id="rId23"/>
    <p:sldId id="304" r:id="rId24"/>
    <p:sldId id="315" r:id="rId25"/>
    <p:sldId id="306" r:id="rId26"/>
    <p:sldId id="298" r:id="rId27"/>
    <p:sldId id="307" r:id="rId28"/>
    <p:sldId id="316" r:id="rId29"/>
    <p:sldId id="308" r:id="rId30"/>
    <p:sldId id="310" r:id="rId31"/>
    <p:sldId id="300" r:id="rId32"/>
    <p:sldId id="317" r:id="rId33"/>
    <p:sldId id="262"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8" autoAdjust="0"/>
    <p:restoredTop sz="96357" autoAdjust="0"/>
  </p:normalViewPr>
  <p:slideViewPr>
    <p:cSldViewPr snapToGrid="0">
      <p:cViewPr varScale="1">
        <p:scale>
          <a:sx n="114" d="100"/>
          <a:sy n="114" d="100"/>
        </p:scale>
        <p:origin x="24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_rels/data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6.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6.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A53EE1-6D04-4CD4-A3FA-CE9BF1856BF2}"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C5735AFB-DE5D-4C20-BEFE-51C2D12B23A0}">
      <dgm:prSet/>
      <dgm:spPr/>
      <dgm:t>
        <a:bodyPr/>
        <a:lstStyle/>
        <a:p>
          <a:r>
            <a:rPr lang="en-US" b="0" i="0" dirty="0"/>
            <a:t>Terminal</a:t>
          </a:r>
          <a:endParaRPr lang="en-US" dirty="0"/>
        </a:p>
      </dgm:t>
    </dgm:pt>
    <dgm:pt modelId="{5EE337ED-99D5-4024-8EBE-38F482FE884B}" type="parTrans" cxnId="{CA8D01BF-5F35-4A5F-910E-B3DFF2C703B8}">
      <dgm:prSet/>
      <dgm:spPr/>
      <dgm:t>
        <a:bodyPr/>
        <a:lstStyle/>
        <a:p>
          <a:endParaRPr lang="en-US"/>
        </a:p>
      </dgm:t>
    </dgm:pt>
    <dgm:pt modelId="{F4DF0E70-6D89-4103-B8E5-7722DF1A595C}" type="sibTrans" cxnId="{CA8D01BF-5F35-4A5F-910E-B3DFF2C703B8}">
      <dgm:prSet/>
      <dgm:spPr/>
      <dgm:t>
        <a:bodyPr/>
        <a:lstStyle/>
        <a:p>
          <a:endParaRPr lang="en-US"/>
        </a:p>
      </dgm:t>
    </dgm:pt>
    <dgm:pt modelId="{F160F3A4-4F44-43C8-AA18-3DD470191EF6}">
      <dgm:prSet/>
      <dgm:spPr/>
      <dgm:t>
        <a:bodyPr/>
        <a:lstStyle/>
        <a:p>
          <a:r>
            <a:rPr lang="en-US" b="0" i="0" dirty="0"/>
            <a:t>Transaction-Blocking Rules</a:t>
          </a:r>
          <a:endParaRPr lang="en-US" dirty="0"/>
        </a:p>
      </dgm:t>
    </dgm:pt>
    <dgm:pt modelId="{6D5AF771-A03D-4DE3-BFA6-A8DB1F4F10EF}" type="parTrans" cxnId="{DB23C989-132E-4402-A2E0-0B3C8D33C41C}">
      <dgm:prSet/>
      <dgm:spPr/>
      <dgm:t>
        <a:bodyPr/>
        <a:lstStyle/>
        <a:p>
          <a:endParaRPr lang="en-US"/>
        </a:p>
      </dgm:t>
    </dgm:pt>
    <dgm:pt modelId="{ADB8F8AF-16A7-4CE3-9A7C-107E813753D9}" type="sibTrans" cxnId="{DB23C989-132E-4402-A2E0-0B3C8D33C41C}">
      <dgm:prSet/>
      <dgm:spPr/>
      <dgm:t>
        <a:bodyPr/>
        <a:lstStyle/>
        <a:p>
          <a:endParaRPr lang="en-US"/>
        </a:p>
      </dgm:t>
    </dgm:pt>
    <dgm:pt modelId="{952DA86F-F39F-4452-A5C5-9CB29DF54A70}">
      <dgm:prSet/>
      <dgm:spPr/>
      <dgm:t>
        <a:bodyPr/>
        <a:lstStyle/>
        <a:p>
          <a:r>
            <a:rPr lang="en-US" b="0" i="0"/>
            <a:t>Scoring Rules</a:t>
          </a:r>
          <a:endParaRPr lang="en-US"/>
        </a:p>
      </dgm:t>
    </dgm:pt>
    <dgm:pt modelId="{BAEA7C50-A46C-4DF8-B2EE-22F712B8E2EF}" type="parTrans" cxnId="{AE939874-44F7-45E3-A6FE-D1E56C1F13D4}">
      <dgm:prSet/>
      <dgm:spPr/>
      <dgm:t>
        <a:bodyPr/>
        <a:lstStyle/>
        <a:p>
          <a:endParaRPr lang="en-US"/>
        </a:p>
      </dgm:t>
    </dgm:pt>
    <dgm:pt modelId="{FC0730E2-7DB2-4329-93A7-D96BF4D78E2A}" type="sibTrans" cxnId="{AE939874-44F7-45E3-A6FE-D1E56C1F13D4}">
      <dgm:prSet/>
      <dgm:spPr/>
      <dgm:t>
        <a:bodyPr/>
        <a:lstStyle/>
        <a:p>
          <a:endParaRPr lang="en-US"/>
        </a:p>
      </dgm:t>
    </dgm:pt>
    <dgm:pt modelId="{830DE0FC-6936-49B3-8221-ACB0532A89C0}">
      <dgm:prSet/>
      <dgm:spPr/>
      <dgm:t>
        <a:bodyPr/>
        <a:lstStyle/>
        <a:p>
          <a:r>
            <a:rPr lang="en-US" b="0" i="0"/>
            <a:t>Data-Driven Model (DDM)</a:t>
          </a:r>
          <a:endParaRPr lang="en-US"/>
        </a:p>
      </dgm:t>
    </dgm:pt>
    <dgm:pt modelId="{2FE3EBD2-A1DD-426D-A6E0-4E3856C52E16}" type="parTrans" cxnId="{62581D5A-AA4C-40DA-A8C3-2016942CEEBE}">
      <dgm:prSet/>
      <dgm:spPr/>
      <dgm:t>
        <a:bodyPr/>
        <a:lstStyle/>
        <a:p>
          <a:endParaRPr lang="en-US"/>
        </a:p>
      </dgm:t>
    </dgm:pt>
    <dgm:pt modelId="{271C7585-E445-438C-BCA7-E28076642A80}" type="sibTrans" cxnId="{62581D5A-AA4C-40DA-A8C3-2016942CEEBE}">
      <dgm:prSet/>
      <dgm:spPr/>
      <dgm:t>
        <a:bodyPr/>
        <a:lstStyle/>
        <a:p>
          <a:endParaRPr lang="en-US"/>
        </a:p>
      </dgm:t>
    </dgm:pt>
    <dgm:pt modelId="{57B09A04-2F70-46B4-B194-52C6A32C9238}">
      <dgm:prSet/>
      <dgm:spPr/>
      <dgm:t>
        <a:bodyPr/>
        <a:lstStyle/>
        <a:p>
          <a:r>
            <a:rPr lang="en-US" b="0" i="0"/>
            <a:t>Investigators</a:t>
          </a:r>
          <a:endParaRPr lang="en-US"/>
        </a:p>
      </dgm:t>
    </dgm:pt>
    <dgm:pt modelId="{069BA3A2-89B8-41EE-B982-217F0260EAD6}" type="parTrans" cxnId="{3EB82A53-6D14-485F-B5A3-51D4CF1FC4A0}">
      <dgm:prSet/>
      <dgm:spPr/>
      <dgm:t>
        <a:bodyPr/>
        <a:lstStyle/>
        <a:p>
          <a:endParaRPr lang="en-US"/>
        </a:p>
      </dgm:t>
    </dgm:pt>
    <dgm:pt modelId="{74D61A0B-DDD9-4C25-9466-45D32CCD5FE9}" type="sibTrans" cxnId="{3EB82A53-6D14-485F-B5A3-51D4CF1FC4A0}">
      <dgm:prSet/>
      <dgm:spPr/>
      <dgm:t>
        <a:bodyPr/>
        <a:lstStyle/>
        <a:p>
          <a:endParaRPr lang="en-US"/>
        </a:p>
      </dgm:t>
    </dgm:pt>
    <dgm:pt modelId="{EBE8DB34-5BC0-40ED-9F08-EEA2D802AA2A}" type="pres">
      <dgm:prSet presAssocID="{F8A53EE1-6D04-4CD4-A3FA-CE9BF1856BF2}" presName="linear" presStyleCnt="0">
        <dgm:presLayoutVars>
          <dgm:animLvl val="lvl"/>
          <dgm:resizeHandles val="exact"/>
        </dgm:presLayoutVars>
      </dgm:prSet>
      <dgm:spPr/>
    </dgm:pt>
    <dgm:pt modelId="{C9DEF07A-3BCE-49CB-90F5-FAA794A371C0}" type="pres">
      <dgm:prSet presAssocID="{C5735AFB-DE5D-4C20-BEFE-51C2D12B23A0}" presName="parentText" presStyleLbl="node1" presStyleIdx="0" presStyleCnt="5">
        <dgm:presLayoutVars>
          <dgm:chMax val="0"/>
          <dgm:bulletEnabled val="1"/>
        </dgm:presLayoutVars>
      </dgm:prSet>
      <dgm:spPr/>
    </dgm:pt>
    <dgm:pt modelId="{D0783F25-034D-4FEA-A293-622439740BF4}" type="pres">
      <dgm:prSet presAssocID="{F4DF0E70-6D89-4103-B8E5-7722DF1A595C}" presName="spacer" presStyleCnt="0"/>
      <dgm:spPr/>
    </dgm:pt>
    <dgm:pt modelId="{F863466A-A24B-4ACA-82CC-7157DC6339C6}" type="pres">
      <dgm:prSet presAssocID="{F160F3A4-4F44-43C8-AA18-3DD470191EF6}" presName="parentText" presStyleLbl="node1" presStyleIdx="1" presStyleCnt="5">
        <dgm:presLayoutVars>
          <dgm:chMax val="0"/>
          <dgm:bulletEnabled val="1"/>
        </dgm:presLayoutVars>
      </dgm:prSet>
      <dgm:spPr/>
    </dgm:pt>
    <dgm:pt modelId="{B09C957D-C991-47D8-8A0A-9F0B0214961B}" type="pres">
      <dgm:prSet presAssocID="{ADB8F8AF-16A7-4CE3-9A7C-107E813753D9}" presName="spacer" presStyleCnt="0"/>
      <dgm:spPr/>
    </dgm:pt>
    <dgm:pt modelId="{A329577F-2810-460C-971D-A248CC46D3CA}" type="pres">
      <dgm:prSet presAssocID="{952DA86F-F39F-4452-A5C5-9CB29DF54A70}" presName="parentText" presStyleLbl="node1" presStyleIdx="2" presStyleCnt="5">
        <dgm:presLayoutVars>
          <dgm:chMax val="0"/>
          <dgm:bulletEnabled val="1"/>
        </dgm:presLayoutVars>
      </dgm:prSet>
      <dgm:spPr/>
    </dgm:pt>
    <dgm:pt modelId="{4BE63253-32D9-4FB5-8FAE-E39A8633BEEB}" type="pres">
      <dgm:prSet presAssocID="{FC0730E2-7DB2-4329-93A7-D96BF4D78E2A}" presName="spacer" presStyleCnt="0"/>
      <dgm:spPr/>
    </dgm:pt>
    <dgm:pt modelId="{BF529876-9352-44AD-A3BB-1A494A47BFD4}" type="pres">
      <dgm:prSet presAssocID="{830DE0FC-6936-49B3-8221-ACB0532A89C0}" presName="parentText" presStyleLbl="node1" presStyleIdx="3" presStyleCnt="5">
        <dgm:presLayoutVars>
          <dgm:chMax val="0"/>
          <dgm:bulletEnabled val="1"/>
        </dgm:presLayoutVars>
      </dgm:prSet>
      <dgm:spPr/>
    </dgm:pt>
    <dgm:pt modelId="{F0D3E251-54F0-4825-8E68-4B31590FCD8D}" type="pres">
      <dgm:prSet presAssocID="{271C7585-E445-438C-BCA7-E28076642A80}" presName="spacer" presStyleCnt="0"/>
      <dgm:spPr/>
    </dgm:pt>
    <dgm:pt modelId="{B7FCB0B2-8218-40A7-A4C0-B3BA6BCDC573}" type="pres">
      <dgm:prSet presAssocID="{57B09A04-2F70-46B4-B194-52C6A32C9238}" presName="parentText" presStyleLbl="node1" presStyleIdx="4" presStyleCnt="5">
        <dgm:presLayoutVars>
          <dgm:chMax val="0"/>
          <dgm:bulletEnabled val="1"/>
        </dgm:presLayoutVars>
      </dgm:prSet>
      <dgm:spPr/>
    </dgm:pt>
  </dgm:ptLst>
  <dgm:cxnLst>
    <dgm:cxn modelId="{8555AF05-D41B-48CF-8C55-04F32BC11465}" type="presOf" srcId="{952DA86F-F39F-4452-A5C5-9CB29DF54A70}" destId="{A329577F-2810-460C-971D-A248CC46D3CA}" srcOrd="0" destOrd="0" presId="urn:microsoft.com/office/officeart/2005/8/layout/vList2"/>
    <dgm:cxn modelId="{5816B171-88D7-4A68-AAD5-DE3A84362F90}" type="presOf" srcId="{57B09A04-2F70-46B4-B194-52C6A32C9238}" destId="{B7FCB0B2-8218-40A7-A4C0-B3BA6BCDC573}" srcOrd="0" destOrd="0" presId="urn:microsoft.com/office/officeart/2005/8/layout/vList2"/>
    <dgm:cxn modelId="{3EB82A53-6D14-485F-B5A3-51D4CF1FC4A0}" srcId="{F8A53EE1-6D04-4CD4-A3FA-CE9BF1856BF2}" destId="{57B09A04-2F70-46B4-B194-52C6A32C9238}" srcOrd="4" destOrd="0" parTransId="{069BA3A2-89B8-41EE-B982-217F0260EAD6}" sibTransId="{74D61A0B-DDD9-4C25-9466-45D32CCD5FE9}"/>
    <dgm:cxn modelId="{AE939874-44F7-45E3-A6FE-D1E56C1F13D4}" srcId="{F8A53EE1-6D04-4CD4-A3FA-CE9BF1856BF2}" destId="{952DA86F-F39F-4452-A5C5-9CB29DF54A70}" srcOrd="2" destOrd="0" parTransId="{BAEA7C50-A46C-4DF8-B2EE-22F712B8E2EF}" sibTransId="{FC0730E2-7DB2-4329-93A7-D96BF4D78E2A}"/>
    <dgm:cxn modelId="{62581D5A-AA4C-40DA-A8C3-2016942CEEBE}" srcId="{F8A53EE1-6D04-4CD4-A3FA-CE9BF1856BF2}" destId="{830DE0FC-6936-49B3-8221-ACB0532A89C0}" srcOrd="3" destOrd="0" parTransId="{2FE3EBD2-A1DD-426D-A6E0-4E3856C52E16}" sibTransId="{271C7585-E445-438C-BCA7-E28076642A80}"/>
    <dgm:cxn modelId="{DB23C989-132E-4402-A2E0-0B3C8D33C41C}" srcId="{F8A53EE1-6D04-4CD4-A3FA-CE9BF1856BF2}" destId="{F160F3A4-4F44-43C8-AA18-3DD470191EF6}" srcOrd="1" destOrd="0" parTransId="{6D5AF771-A03D-4DE3-BFA6-A8DB1F4F10EF}" sibTransId="{ADB8F8AF-16A7-4CE3-9A7C-107E813753D9}"/>
    <dgm:cxn modelId="{2A12CD8C-7900-471F-9BB6-AF640DDF5D41}" type="presOf" srcId="{F8A53EE1-6D04-4CD4-A3FA-CE9BF1856BF2}" destId="{EBE8DB34-5BC0-40ED-9F08-EEA2D802AA2A}" srcOrd="0" destOrd="0" presId="urn:microsoft.com/office/officeart/2005/8/layout/vList2"/>
    <dgm:cxn modelId="{CFD8288E-DC32-43DF-925A-2A09317770AC}" type="presOf" srcId="{F160F3A4-4F44-43C8-AA18-3DD470191EF6}" destId="{F863466A-A24B-4ACA-82CC-7157DC6339C6}" srcOrd="0" destOrd="0" presId="urn:microsoft.com/office/officeart/2005/8/layout/vList2"/>
    <dgm:cxn modelId="{D4F3C8A7-72A6-47FC-83B6-A62403D58533}" type="presOf" srcId="{C5735AFB-DE5D-4C20-BEFE-51C2D12B23A0}" destId="{C9DEF07A-3BCE-49CB-90F5-FAA794A371C0}" srcOrd="0" destOrd="0" presId="urn:microsoft.com/office/officeart/2005/8/layout/vList2"/>
    <dgm:cxn modelId="{CA8D01BF-5F35-4A5F-910E-B3DFF2C703B8}" srcId="{F8A53EE1-6D04-4CD4-A3FA-CE9BF1856BF2}" destId="{C5735AFB-DE5D-4C20-BEFE-51C2D12B23A0}" srcOrd="0" destOrd="0" parTransId="{5EE337ED-99D5-4024-8EBE-38F482FE884B}" sibTransId="{F4DF0E70-6D89-4103-B8E5-7722DF1A595C}"/>
    <dgm:cxn modelId="{B85108D2-DC67-4B35-9D63-0CC8A51BCA32}" type="presOf" srcId="{830DE0FC-6936-49B3-8221-ACB0532A89C0}" destId="{BF529876-9352-44AD-A3BB-1A494A47BFD4}" srcOrd="0" destOrd="0" presId="urn:microsoft.com/office/officeart/2005/8/layout/vList2"/>
    <dgm:cxn modelId="{96C1247E-AEFB-4DD1-83C5-A3E11E1FF78C}" type="presParOf" srcId="{EBE8DB34-5BC0-40ED-9F08-EEA2D802AA2A}" destId="{C9DEF07A-3BCE-49CB-90F5-FAA794A371C0}" srcOrd="0" destOrd="0" presId="urn:microsoft.com/office/officeart/2005/8/layout/vList2"/>
    <dgm:cxn modelId="{B3AE518E-10ED-4B7D-892C-161826CDD5F0}" type="presParOf" srcId="{EBE8DB34-5BC0-40ED-9F08-EEA2D802AA2A}" destId="{D0783F25-034D-4FEA-A293-622439740BF4}" srcOrd="1" destOrd="0" presId="urn:microsoft.com/office/officeart/2005/8/layout/vList2"/>
    <dgm:cxn modelId="{4E5B29E4-DACC-408F-B1CE-F91AF12177B3}" type="presParOf" srcId="{EBE8DB34-5BC0-40ED-9F08-EEA2D802AA2A}" destId="{F863466A-A24B-4ACA-82CC-7157DC6339C6}" srcOrd="2" destOrd="0" presId="urn:microsoft.com/office/officeart/2005/8/layout/vList2"/>
    <dgm:cxn modelId="{FB5ED457-0733-4215-8411-D32070495AA1}" type="presParOf" srcId="{EBE8DB34-5BC0-40ED-9F08-EEA2D802AA2A}" destId="{B09C957D-C991-47D8-8A0A-9F0B0214961B}" srcOrd="3" destOrd="0" presId="urn:microsoft.com/office/officeart/2005/8/layout/vList2"/>
    <dgm:cxn modelId="{6B2B8785-D262-485E-B77A-ADA2F02AC80D}" type="presParOf" srcId="{EBE8DB34-5BC0-40ED-9F08-EEA2D802AA2A}" destId="{A329577F-2810-460C-971D-A248CC46D3CA}" srcOrd="4" destOrd="0" presId="urn:microsoft.com/office/officeart/2005/8/layout/vList2"/>
    <dgm:cxn modelId="{E4DFB197-7CBF-442F-A7C3-86B8799FEFE0}" type="presParOf" srcId="{EBE8DB34-5BC0-40ED-9F08-EEA2D802AA2A}" destId="{4BE63253-32D9-4FB5-8FAE-E39A8633BEEB}" srcOrd="5" destOrd="0" presId="urn:microsoft.com/office/officeart/2005/8/layout/vList2"/>
    <dgm:cxn modelId="{C28A98DF-6268-41A6-B6DB-E25D41C105EA}" type="presParOf" srcId="{EBE8DB34-5BC0-40ED-9F08-EEA2D802AA2A}" destId="{BF529876-9352-44AD-A3BB-1A494A47BFD4}" srcOrd="6" destOrd="0" presId="urn:microsoft.com/office/officeart/2005/8/layout/vList2"/>
    <dgm:cxn modelId="{F89D2119-9EFB-4E12-8802-88BFFD347969}" type="presParOf" srcId="{EBE8DB34-5BC0-40ED-9F08-EEA2D802AA2A}" destId="{F0D3E251-54F0-4825-8E68-4B31590FCD8D}" srcOrd="7" destOrd="0" presId="urn:microsoft.com/office/officeart/2005/8/layout/vList2"/>
    <dgm:cxn modelId="{59B94742-A70B-4C5E-A103-3F4EF00EBCCF}" type="presParOf" srcId="{EBE8DB34-5BC0-40ED-9F08-EEA2D802AA2A}" destId="{B7FCB0B2-8218-40A7-A4C0-B3BA6BCDC573}"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D19D7E0-3A89-48DA-BA8C-BBBE9EB7DFC2}"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FDACCB57-043A-4696-857F-DCD4B0C40CD9}">
      <dgm:prSet/>
      <dgm:spPr/>
      <dgm:t>
        <a:bodyPr/>
        <a:lstStyle/>
        <a:p>
          <a:r>
            <a:rPr lang="en-US" b="0" i="0" dirty="0"/>
            <a:t>Credit card fraud detection (CCFD) is like looking for needles in a haystack.</a:t>
          </a:r>
          <a:endParaRPr lang="en-US" dirty="0"/>
        </a:p>
      </dgm:t>
    </dgm:pt>
    <dgm:pt modelId="{8EFA1671-F797-4AC6-85DA-B3DCCDB21064}" type="parTrans" cxnId="{6302FF87-43D0-4604-98A3-ED9D57170CF0}">
      <dgm:prSet/>
      <dgm:spPr/>
      <dgm:t>
        <a:bodyPr/>
        <a:lstStyle/>
        <a:p>
          <a:endParaRPr lang="en-US"/>
        </a:p>
      </dgm:t>
    </dgm:pt>
    <dgm:pt modelId="{52331995-DE10-48C9-A424-1335C7422757}" type="sibTrans" cxnId="{6302FF87-43D0-4604-98A3-ED9D57170CF0}">
      <dgm:prSet/>
      <dgm:spPr/>
      <dgm:t>
        <a:bodyPr/>
        <a:lstStyle/>
        <a:p>
          <a:endParaRPr lang="en-US"/>
        </a:p>
      </dgm:t>
    </dgm:pt>
    <dgm:pt modelId="{A75E2071-6743-4F0D-BE48-B41634D722B7}">
      <dgm:prSet/>
      <dgm:spPr/>
      <dgm:t>
        <a:bodyPr/>
        <a:lstStyle/>
        <a:p>
          <a:r>
            <a:rPr lang="en-US" b="0" i="0" dirty="0"/>
            <a:t>It is now almost impossible for a human specialist to detect meaningful patterns from transaction data.</a:t>
          </a:r>
          <a:endParaRPr lang="en-US" dirty="0"/>
        </a:p>
      </dgm:t>
    </dgm:pt>
    <dgm:pt modelId="{25EB6D46-A5FA-42E3-BD75-FC3221CA8FDA}" type="parTrans" cxnId="{C1AF16D5-D46C-48E9-A877-6E3DF7425E44}">
      <dgm:prSet/>
      <dgm:spPr/>
      <dgm:t>
        <a:bodyPr/>
        <a:lstStyle/>
        <a:p>
          <a:endParaRPr lang="en-US"/>
        </a:p>
      </dgm:t>
    </dgm:pt>
    <dgm:pt modelId="{0C559F67-DCB5-4C1A-A71C-B81BF4E40B60}" type="sibTrans" cxnId="{C1AF16D5-D46C-48E9-A877-6E3DF7425E44}">
      <dgm:prSet/>
      <dgm:spPr/>
      <dgm:t>
        <a:bodyPr/>
        <a:lstStyle/>
        <a:p>
          <a:endParaRPr lang="en-US"/>
        </a:p>
      </dgm:t>
    </dgm:pt>
    <dgm:pt modelId="{396AD2F8-4EBD-4A05-9E2A-1FFFBE31AAB1}">
      <dgm:prSet/>
      <dgm:spPr/>
      <dgm:t>
        <a:bodyPr/>
        <a:lstStyle/>
        <a:p>
          <a:r>
            <a:rPr lang="en-US" b="0" i="0" dirty="0"/>
            <a:t>ML techniques applied on CCFD are relatively new</a:t>
          </a:r>
          <a:endParaRPr lang="en-US" dirty="0"/>
        </a:p>
      </dgm:t>
    </dgm:pt>
    <dgm:pt modelId="{EFA26FC9-7532-4978-9E64-B85CE66B36F6}" type="parTrans" cxnId="{0B2E10A8-524F-4078-B6CE-A30F3127E327}">
      <dgm:prSet/>
      <dgm:spPr/>
      <dgm:t>
        <a:bodyPr/>
        <a:lstStyle/>
        <a:p>
          <a:endParaRPr lang="en-SG"/>
        </a:p>
      </dgm:t>
    </dgm:pt>
    <dgm:pt modelId="{35E367FC-7631-46A4-B0DF-4A0B365AB95D}" type="sibTrans" cxnId="{0B2E10A8-524F-4078-B6CE-A30F3127E327}">
      <dgm:prSet/>
      <dgm:spPr/>
      <dgm:t>
        <a:bodyPr/>
        <a:lstStyle/>
        <a:p>
          <a:endParaRPr lang="en-SG"/>
        </a:p>
      </dgm:t>
    </dgm:pt>
    <dgm:pt modelId="{403A2662-04C5-4921-B2E2-5F76766371DE}" type="pres">
      <dgm:prSet presAssocID="{0D19D7E0-3A89-48DA-BA8C-BBBE9EB7DFC2}" presName="linear" presStyleCnt="0">
        <dgm:presLayoutVars>
          <dgm:animLvl val="lvl"/>
          <dgm:resizeHandles val="exact"/>
        </dgm:presLayoutVars>
      </dgm:prSet>
      <dgm:spPr/>
    </dgm:pt>
    <dgm:pt modelId="{D07E3A51-3A87-4260-B6F1-2F92FE2F56B4}" type="pres">
      <dgm:prSet presAssocID="{FDACCB57-043A-4696-857F-DCD4B0C40CD9}" presName="parentText" presStyleLbl="node1" presStyleIdx="0" presStyleCnt="3">
        <dgm:presLayoutVars>
          <dgm:chMax val="0"/>
          <dgm:bulletEnabled val="1"/>
        </dgm:presLayoutVars>
      </dgm:prSet>
      <dgm:spPr/>
    </dgm:pt>
    <dgm:pt modelId="{5285F387-DCF8-4636-858B-980187F09BDD}" type="pres">
      <dgm:prSet presAssocID="{52331995-DE10-48C9-A424-1335C7422757}" presName="spacer" presStyleCnt="0"/>
      <dgm:spPr/>
    </dgm:pt>
    <dgm:pt modelId="{A06AD134-41F1-4476-BB5B-875100334AEA}" type="pres">
      <dgm:prSet presAssocID="{A75E2071-6743-4F0D-BE48-B41634D722B7}" presName="parentText" presStyleLbl="node1" presStyleIdx="1" presStyleCnt="3">
        <dgm:presLayoutVars>
          <dgm:chMax val="0"/>
          <dgm:bulletEnabled val="1"/>
        </dgm:presLayoutVars>
      </dgm:prSet>
      <dgm:spPr/>
    </dgm:pt>
    <dgm:pt modelId="{4AF359C9-4F2E-4B68-9662-2E5BB7EBBDBA}" type="pres">
      <dgm:prSet presAssocID="{0C559F67-DCB5-4C1A-A71C-B81BF4E40B60}" presName="spacer" presStyleCnt="0"/>
      <dgm:spPr/>
    </dgm:pt>
    <dgm:pt modelId="{EB74D323-076B-4E59-AD22-8854A12E7DB9}" type="pres">
      <dgm:prSet presAssocID="{396AD2F8-4EBD-4A05-9E2A-1FFFBE31AAB1}" presName="parentText" presStyleLbl="node1" presStyleIdx="2" presStyleCnt="3">
        <dgm:presLayoutVars>
          <dgm:chMax val="0"/>
          <dgm:bulletEnabled val="1"/>
        </dgm:presLayoutVars>
      </dgm:prSet>
      <dgm:spPr/>
    </dgm:pt>
  </dgm:ptLst>
  <dgm:cxnLst>
    <dgm:cxn modelId="{91F06F54-EDBF-4B40-AADE-CA6E93F62478}" type="presOf" srcId="{FDACCB57-043A-4696-857F-DCD4B0C40CD9}" destId="{D07E3A51-3A87-4260-B6F1-2F92FE2F56B4}" srcOrd="0" destOrd="0" presId="urn:microsoft.com/office/officeart/2005/8/layout/vList2"/>
    <dgm:cxn modelId="{6302FF87-43D0-4604-98A3-ED9D57170CF0}" srcId="{0D19D7E0-3A89-48DA-BA8C-BBBE9EB7DFC2}" destId="{FDACCB57-043A-4696-857F-DCD4B0C40CD9}" srcOrd="0" destOrd="0" parTransId="{8EFA1671-F797-4AC6-85DA-B3DCCDB21064}" sibTransId="{52331995-DE10-48C9-A424-1335C7422757}"/>
    <dgm:cxn modelId="{CC234095-20BA-48CB-A692-5CD6CFC9C14E}" type="presOf" srcId="{396AD2F8-4EBD-4A05-9E2A-1FFFBE31AAB1}" destId="{EB74D323-076B-4E59-AD22-8854A12E7DB9}" srcOrd="0" destOrd="0" presId="urn:microsoft.com/office/officeart/2005/8/layout/vList2"/>
    <dgm:cxn modelId="{CAD5D3A5-B627-49DA-AE88-D4FCFEC96DFF}" type="presOf" srcId="{A75E2071-6743-4F0D-BE48-B41634D722B7}" destId="{A06AD134-41F1-4476-BB5B-875100334AEA}" srcOrd="0" destOrd="0" presId="urn:microsoft.com/office/officeart/2005/8/layout/vList2"/>
    <dgm:cxn modelId="{0B2E10A8-524F-4078-B6CE-A30F3127E327}" srcId="{0D19D7E0-3A89-48DA-BA8C-BBBE9EB7DFC2}" destId="{396AD2F8-4EBD-4A05-9E2A-1FFFBE31AAB1}" srcOrd="2" destOrd="0" parTransId="{EFA26FC9-7532-4978-9E64-B85CE66B36F6}" sibTransId="{35E367FC-7631-46A4-B0DF-4A0B365AB95D}"/>
    <dgm:cxn modelId="{6021A5B8-B925-4CD5-932B-007443B34F6A}" type="presOf" srcId="{0D19D7E0-3A89-48DA-BA8C-BBBE9EB7DFC2}" destId="{403A2662-04C5-4921-B2E2-5F76766371DE}" srcOrd="0" destOrd="0" presId="urn:microsoft.com/office/officeart/2005/8/layout/vList2"/>
    <dgm:cxn modelId="{C1AF16D5-D46C-48E9-A877-6E3DF7425E44}" srcId="{0D19D7E0-3A89-48DA-BA8C-BBBE9EB7DFC2}" destId="{A75E2071-6743-4F0D-BE48-B41634D722B7}" srcOrd="1" destOrd="0" parTransId="{25EB6D46-A5FA-42E3-BD75-FC3221CA8FDA}" sibTransId="{0C559F67-DCB5-4C1A-A71C-B81BF4E40B60}"/>
    <dgm:cxn modelId="{84E575E9-1977-46A2-B8C0-B3D4F94F386F}" type="presParOf" srcId="{403A2662-04C5-4921-B2E2-5F76766371DE}" destId="{D07E3A51-3A87-4260-B6F1-2F92FE2F56B4}" srcOrd="0" destOrd="0" presId="urn:microsoft.com/office/officeart/2005/8/layout/vList2"/>
    <dgm:cxn modelId="{BF00544A-0ACD-41F1-BA86-4DCB03EEF016}" type="presParOf" srcId="{403A2662-04C5-4921-B2E2-5F76766371DE}" destId="{5285F387-DCF8-4636-858B-980187F09BDD}" srcOrd="1" destOrd="0" presId="urn:microsoft.com/office/officeart/2005/8/layout/vList2"/>
    <dgm:cxn modelId="{56BE8521-09B7-4689-A93A-B8597F9E7F1D}" type="presParOf" srcId="{403A2662-04C5-4921-B2E2-5F76766371DE}" destId="{A06AD134-41F1-4476-BB5B-875100334AEA}" srcOrd="2" destOrd="0" presId="urn:microsoft.com/office/officeart/2005/8/layout/vList2"/>
    <dgm:cxn modelId="{5F26EC8D-592D-4AD4-A31B-7AB427E31443}" type="presParOf" srcId="{403A2662-04C5-4921-B2E2-5F76766371DE}" destId="{4AF359C9-4F2E-4B68-9662-2E5BB7EBBDBA}" srcOrd="3" destOrd="0" presId="urn:microsoft.com/office/officeart/2005/8/layout/vList2"/>
    <dgm:cxn modelId="{81C7CBCF-E11C-4D7C-95EA-FD66852A839C}" type="presParOf" srcId="{403A2662-04C5-4921-B2E2-5F76766371DE}" destId="{EB74D323-076B-4E59-AD22-8854A12E7DB9}"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D19D7E0-3A89-48DA-BA8C-BBBE9EB7DFC2}" type="doc">
      <dgm:prSet loTypeId="urn:microsoft.com/office/officeart/2005/8/layout/vList2" loCatId="list" qsTypeId="urn:microsoft.com/office/officeart/2005/8/quickstyle/simple2" qsCatId="simple" csTypeId="urn:microsoft.com/office/officeart/2005/8/colors/accent2_2" csCatId="accent2" phldr="1"/>
      <dgm:spPr/>
      <dgm:t>
        <a:bodyPr/>
        <a:lstStyle/>
        <a:p>
          <a:endParaRPr lang="en-US"/>
        </a:p>
      </dgm:t>
    </dgm:pt>
    <dgm:pt modelId="{D49F2823-B674-4E5F-B57F-B9BEECE661A0}">
      <dgm:prSet/>
      <dgm:spPr/>
      <dgm:t>
        <a:bodyPr/>
        <a:lstStyle/>
        <a:p>
          <a:r>
            <a:rPr lang="en-US" dirty="0"/>
            <a:t>How can we use Machine Learning techniques to detect fraud?</a:t>
          </a:r>
        </a:p>
      </dgm:t>
    </dgm:pt>
    <dgm:pt modelId="{BA147FC2-71CE-46FA-9961-4202B9F409E4}" type="parTrans" cxnId="{E64402EA-52F4-4943-A2E8-946769693E0C}">
      <dgm:prSet/>
      <dgm:spPr/>
      <dgm:t>
        <a:bodyPr/>
        <a:lstStyle/>
        <a:p>
          <a:endParaRPr lang="en-US"/>
        </a:p>
      </dgm:t>
    </dgm:pt>
    <dgm:pt modelId="{805E2B2B-2AF3-485B-A492-82536D3A35CF}" type="sibTrans" cxnId="{E64402EA-52F4-4943-A2E8-946769693E0C}">
      <dgm:prSet/>
      <dgm:spPr/>
      <dgm:t>
        <a:bodyPr/>
        <a:lstStyle/>
        <a:p>
          <a:endParaRPr lang="en-US"/>
        </a:p>
      </dgm:t>
    </dgm:pt>
    <dgm:pt modelId="{6C2B4E44-ED82-4F26-B7E3-9AE665619F63}" type="pres">
      <dgm:prSet presAssocID="{0D19D7E0-3A89-48DA-BA8C-BBBE9EB7DFC2}" presName="linear" presStyleCnt="0">
        <dgm:presLayoutVars>
          <dgm:animLvl val="lvl"/>
          <dgm:resizeHandles val="exact"/>
        </dgm:presLayoutVars>
      </dgm:prSet>
      <dgm:spPr/>
    </dgm:pt>
    <dgm:pt modelId="{830C570B-56AB-4533-9EC3-F6835630C8A2}" type="pres">
      <dgm:prSet presAssocID="{D49F2823-B674-4E5F-B57F-B9BEECE661A0}" presName="parentText" presStyleLbl="node1" presStyleIdx="0" presStyleCnt="1">
        <dgm:presLayoutVars>
          <dgm:chMax val="0"/>
          <dgm:bulletEnabled val="1"/>
        </dgm:presLayoutVars>
      </dgm:prSet>
      <dgm:spPr/>
    </dgm:pt>
  </dgm:ptLst>
  <dgm:cxnLst>
    <dgm:cxn modelId="{A3E0A50A-6708-4E19-9A5F-C38837C65D25}" type="presOf" srcId="{D49F2823-B674-4E5F-B57F-B9BEECE661A0}" destId="{830C570B-56AB-4533-9EC3-F6835630C8A2}" srcOrd="0" destOrd="0" presId="urn:microsoft.com/office/officeart/2005/8/layout/vList2"/>
    <dgm:cxn modelId="{57374546-755D-412F-9B1B-C956E5223E53}" type="presOf" srcId="{0D19D7E0-3A89-48DA-BA8C-BBBE9EB7DFC2}" destId="{6C2B4E44-ED82-4F26-B7E3-9AE665619F63}" srcOrd="0" destOrd="0" presId="urn:microsoft.com/office/officeart/2005/8/layout/vList2"/>
    <dgm:cxn modelId="{E64402EA-52F4-4943-A2E8-946769693E0C}" srcId="{0D19D7E0-3A89-48DA-BA8C-BBBE9EB7DFC2}" destId="{D49F2823-B674-4E5F-B57F-B9BEECE661A0}" srcOrd="0" destOrd="0" parTransId="{BA147FC2-71CE-46FA-9961-4202B9F409E4}" sibTransId="{805E2B2B-2AF3-485B-A492-82536D3A35CF}"/>
    <dgm:cxn modelId="{19100347-7F4B-45E4-9692-816C17F10562}" type="presParOf" srcId="{6C2B4E44-ED82-4F26-B7E3-9AE665619F63}" destId="{830C570B-56AB-4533-9EC3-F6835630C8A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6BD6406-9414-4CF6-8BCA-7955AD65E87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574D954C-BE1D-456F-A0C5-1C5519B77D2A}">
      <dgm:prSet/>
      <dgm:spPr/>
      <dgm:t>
        <a:bodyPr/>
        <a:lstStyle/>
        <a:p>
          <a:r>
            <a:rPr lang="en-US" dirty="0"/>
            <a:t>Cleaning &amp; defining the training set and test set</a:t>
          </a:r>
        </a:p>
      </dgm:t>
    </dgm:pt>
    <dgm:pt modelId="{917D921D-E571-4275-9BCB-8973F0FB9C6B}" type="parTrans" cxnId="{0624AC7E-2219-443C-AD79-07843AAF0BAD}">
      <dgm:prSet/>
      <dgm:spPr/>
      <dgm:t>
        <a:bodyPr/>
        <a:lstStyle/>
        <a:p>
          <a:endParaRPr lang="en-US"/>
        </a:p>
      </dgm:t>
    </dgm:pt>
    <dgm:pt modelId="{98D4DA75-76CE-44F9-ABD0-6D88AE1BE9F8}" type="sibTrans" cxnId="{0624AC7E-2219-443C-AD79-07843AAF0BAD}">
      <dgm:prSet/>
      <dgm:spPr/>
      <dgm:t>
        <a:bodyPr/>
        <a:lstStyle/>
        <a:p>
          <a:endParaRPr lang="en-US"/>
        </a:p>
      </dgm:t>
    </dgm:pt>
    <dgm:pt modelId="{4CF36B8A-D645-4C10-AF62-7247B81F6DEA}">
      <dgm:prSet/>
      <dgm:spPr/>
      <dgm:t>
        <a:bodyPr/>
        <a:lstStyle/>
        <a:p>
          <a:r>
            <a:rPr lang="en-US" dirty="0"/>
            <a:t>Training prediction models</a:t>
          </a:r>
        </a:p>
      </dgm:t>
    </dgm:pt>
    <dgm:pt modelId="{28944CF8-145A-4CE8-8E2C-0F341FB70F94}" type="parTrans" cxnId="{A4BCF91A-7E9A-4B7D-A9C3-CC53AAFB8292}">
      <dgm:prSet/>
      <dgm:spPr/>
      <dgm:t>
        <a:bodyPr/>
        <a:lstStyle/>
        <a:p>
          <a:endParaRPr lang="en-US"/>
        </a:p>
      </dgm:t>
    </dgm:pt>
    <dgm:pt modelId="{A3341524-31B1-47EA-9A2A-2530BA89783D}" type="sibTrans" cxnId="{A4BCF91A-7E9A-4B7D-A9C3-CC53AAFB8292}">
      <dgm:prSet/>
      <dgm:spPr/>
      <dgm:t>
        <a:bodyPr/>
        <a:lstStyle/>
        <a:p>
          <a:endParaRPr lang="en-US"/>
        </a:p>
      </dgm:t>
    </dgm:pt>
    <dgm:pt modelId="{23FC491C-5327-4221-9D99-8C91B8E785B7}">
      <dgm:prSet/>
      <dgm:spPr/>
      <dgm:t>
        <a:bodyPr/>
        <a:lstStyle/>
        <a:p>
          <a:r>
            <a:rPr lang="en-US" dirty="0"/>
            <a:t>Assessing the performance of the prediction models</a:t>
          </a:r>
        </a:p>
      </dgm:t>
    </dgm:pt>
    <dgm:pt modelId="{20527EC1-2CA6-4099-BD87-70AA6AEDC32E}" type="parTrans" cxnId="{0095E5C5-0552-4356-8CAF-A492F913EF94}">
      <dgm:prSet/>
      <dgm:spPr/>
      <dgm:t>
        <a:bodyPr/>
        <a:lstStyle/>
        <a:p>
          <a:endParaRPr lang="en-US"/>
        </a:p>
      </dgm:t>
    </dgm:pt>
    <dgm:pt modelId="{CA080F53-6534-4877-B379-1E7503FA89E4}" type="sibTrans" cxnId="{0095E5C5-0552-4356-8CAF-A492F913EF94}">
      <dgm:prSet/>
      <dgm:spPr/>
      <dgm:t>
        <a:bodyPr/>
        <a:lstStyle/>
        <a:p>
          <a:endParaRPr lang="en-US"/>
        </a:p>
      </dgm:t>
    </dgm:pt>
    <dgm:pt modelId="{0C5BE1DC-8FDB-496C-824E-94D8CC3228CA}" type="pres">
      <dgm:prSet presAssocID="{C6BD6406-9414-4CF6-8BCA-7955AD65E871}" presName="root" presStyleCnt="0">
        <dgm:presLayoutVars>
          <dgm:dir/>
          <dgm:resizeHandles val="exact"/>
        </dgm:presLayoutVars>
      </dgm:prSet>
      <dgm:spPr/>
    </dgm:pt>
    <dgm:pt modelId="{D91FF139-17BC-4DE8-BA25-DF43FC6EAC93}" type="pres">
      <dgm:prSet presAssocID="{574D954C-BE1D-456F-A0C5-1C5519B77D2A}" presName="compNode" presStyleCnt="0"/>
      <dgm:spPr/>
    </dgm:pt>
    <dgm:pt modelId="{9E0D1E1F-77CF-4CC3-888B-B162B8E87E00}" type="pres">
      <dgm:prSet presAssocID="{574D954C-BE1D-456F-A0C5-1C5519B77D2A}" presName="bgRect" presStyleLbl="bgShp" presStyleIdx="0" presStyleCnt="3"/>
      <dgm:spPr/>
    </dgm:pt>
    <dgm:pt modelId="{B74AE221-4249-4C75-8CE6-19CD60875F66}" type="pres">
      <dgm:prSet presAssocID="{574D954C-BE1D-456F-A0C5-1C5519B77D2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1EC1D282-A74F-47F4-9679-A8FB58455885}" type="pres">
      <dgm:prSet presAssocID="{574D954C-BE1D-456F-A0C5-1C5519B77D2A}" presName="spaceRect" presStyleCnt="0"/>
      <dgm:spPr/>
    </dgm:pt>
    <dgm:pt modelId="{BF9D9237-BE1E-4912-9D36-BABE2BB1B524}" type="pres">
      <dgm:prSet presAssocID="{574D954C-BE1D-456F-A0C5-1C5519B77D2A}" presName="parTx" presStyleLbl="revTx" presStyleIdx="0" presStyleCnt="3">
        <dgm:presLayoutVars>
          <dgm:chMax val="0"/>
          <dgm:chPref val="0"/>
        </dgm:presLayoutVars>
      </dgm:prSet>
      <dgm:spPr/>
    </dgm:pt>
    <dgm:pt modelId="{8F2C21BE-FC0D-47D1-8A43-9CAC3F0E60B5}" type="pres">
      <dgm:prSet presAssocID="{98D4DA75-76CE-44F9-ABD0-6D88AE1BE9F8}" presName="sibTrans" presStyleCnt="0"/>
      <dgm:spPr/>
    </dgm:pt>
    <dgm:pt modelId="{343BD820-749C-4F4B-BC58-C494F0008A6A}" type="pres">
      <dgm:prSet presAssocID="{4CF36B8A-D645-4C10-AF62-7247B81F6DEA}" presName="compNode" presStyleCnt="0"/>
      <dgm:spPr/>
    </dgm:pt>
    <dgm:pt modelId="{FE246475-ABB7-4314-8BE5-8BC5D70AC882}" type="pres">
      <dgm:prSet presAssocID="{4CF36B8A-D645-4C10-AF62-7247B81F6DEA}" presName="bgRect" presStyleLbl="bgShp" presStyleIdx="1" presStyleCnt="3"/>
      <dgm:spPr/>
    </dgm:pt>
    <dgm:pt modelId="{13826C5B-8AC7-47CC-81F8-7F0A23565B37}" type="pres">
      <dgm:prSet presAssocID="{4CF36B8A-D645-4C10-AF62-7247B81F6DE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25BCB955-D820-4AE0-98D9-BD74205F9621}" type="pres">
      <dgm:prSet presAssocID="{4CF36B8A-D645-4C10-AF62-7247B81F6DEA}" presName="spaceRect" presStyleCnt="0"/>
      <dgm:spPr/>
    </dgm:pt>
    <dgm:pt modelId="{9A3D4046-8983-47EF-BF67-348081F5A949}" type="pres">
      <dgm:prSet presAssocID="{4CF36B8A-D645-4C10-AF62-7247B81F6DEA}" presName="parTx" presStyleLbl="revTx" presStyleIdx="1" presStyleCnt="3">
        <dgm:presLayoutVars>
          <dgm:chMax val="0"/>
          <dgm:chPref val="0"/>
        </dgm:presLayoutVars>
      </dgm:prSet>
      <dgm:spPr/>
    </dgm:pt>
    <dgm:pt modelId="{5B71DF26-A048-4E93-B366-865832928ECD}" type="pres">
      <dgm:prSet presAssocID="{A3341524-31B1-47EA-9A2A-2530BA89783D}" presName="sibTrans" presStyleCnt="0"/>
      <dgm:spPr/>
    </dgm:pt>
    <dgm:pt modelId="{CC7A03C0-0FEF-43CB-84A2-1031E92EDBAB}" type="pres">
      <dgm:prSet presAssocID="{23FC491C-5327-4221-9D99-8C91B8E785B7}" presName="compNode" presStyleCnt="0"/>
      <dgm:spPr/>
    </dgm:pt>
    <dgm:pt modelId="{7FAC624C-626D-49CB-B2C4-EEE3D6336EF0}" type="pres">
      <dgm:prSet presAssocID="{23FC491C-5327-4221-9D99-8C91B8E785B7}" presName="bgRect" presStyleLbl="bgShp" presStyleIdx="2" presStyleCnt="3"/>
      <dgm:spPr/>
    </dgm:pt>
    <dgm:pt modelId="{8806C837-D10E-4510-862B-B29056E347D8}" type="pres">
      <dgm:prSet presAssocID="{23FC491C-5327-4221-9D99-8C91B8E785B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66C444CC-0BAA-4E57-86C5-D86D97A47103}" type="pres">
      <dgm:prSet presAssocID="{23FC491C-5327-4221-9D99-8C91B8E785B7}" presName="spaceRect" presStyleCnt="0"/>
      <dgm:spPr/>
    </dgm:pt>
    <dgm:pt modelId="{08DF7A7A-AF6D-4CBD-957F-20AA6A0D215B}" type="pres">
      <dgm:prSet presAssocID="{23FC491C-5327-4221-9D99-8C91B8E785B7}" presName="parTx" presStyleLbl="revTx" presStyleIdx="2" presStyleCnt="3">
        <dgm:presLayoutVars>
          <dgm:chMax val="0"/>
          <dgm:chPref val="0"/>
        </dgm:presLayoutVars>
      </dgm:prSet>
      <dgm:spPr/>
    </dgm:pt>
  </dgm:ptLst>
  <dgm:cxnLst>
    <dgm:cxn modelId="{1A491E0A-8248-4824-8114-FB294F9FE7C4}" type="presOf" srcId="{574D954C-BE1D-456F-A0C5-1C5519B77D2A}" destId="{BF9D9237-BE1E-4912-9D36-BABE2BB1B524}" srcOrd="0" destOrd="0" presId="urn:microsoft.com/office/officeart/2018/2/layout/IconVerticalSolidList"/>
    <dgm:cxn modelId="{A4BCF91A-7E9A-4B7D-A9C3-CC53AAFB8292}" srcId="{C6BD6406-9414-4CF6-8BCA-7955AD65E871}" destId="{4CF36B8A-D645-4C10-AF62-7247B81F6DEA}" srcOrd="1" destOrd="0" parTransId="{28944CF8-145A-4CE8-8E2C-0F341FB70F94}" sibTransId="{A3341524-31B1-47EA-9A2A-2530BA89783D}"/>
    <dgm:cxn modelId="{0624AC7E-2219-443C-AD79-07843AAF0BAD}" srcId="{C6BD6406-9414-4CF6-8BCA-7955AD65E871}" destId="{574D954C-BE1D-456F-A0C5-1C5519B77D2A}" srcOrd="0" destOrd="0" parTransId="{917D921D-E571-4275-9BCB-8973F0FB9C6B}" sibTransId="{98D4DA75-76CE-44F9-ABD0-6D88AE1BE9F8}"/>
    <dgm:cxn modelId="{F4896C89-9145-46AC-954F-50863DD96A59}" type="presOf" srcId="{23FC491C-5327-4221-9D99-8C91B8E785B7}" destId="{08DF7A7A-AF6D-4CBD-957F-20AA6A0D215B}" srcOrd="0" destOrd="0" presId="urn:microsoft.com/office/officeart/2018/2/layout/IconVerticalSolidList"/>
    <dgm:cxn modelId="{03493990-9CE8-4037-98CE-73F18D4923E7}" type="presOf" srcId="{4CF36B8A-D645-4C10-AF62-7247B81F6DEA}" destId="{9A3D4046-8983-47EF-BF67-348081F5A949}" srcOrd="0" destOrd="0" presId="urn:microsoft.com/office/officeart/2018/2/layout/IconVerticalSolidList"/>
    <dgm:cxn modelId="{F8EE76A3-B5D4-486B-9FCE-4B0AF1994E68}" type="presOf" srcId="{C6BD6406-9414-4CF6-8BCA-7955AD65E871}" destId="{0C5BE1DC-8FDB-496C-824E-94D8CC3228CA}" srcOrd="0" destOrd="0" presId="urn:microsoft.com/office/officeart/2018/2/layout/IconVerticalSolidList"/>
    <dgm:cxn modelId="{0095E5C5-0552-4356-8CAF-A492F913EF94}" srcId="{C6BD6406-9414-4CF6-8BCA-7955AD65E871}" destId="{23FC491C-5327-4221-9D99-8C91B8E785B7}" srcOrd="2" destOrd="0" parTransId="{20527EC1-2CA6-4099-BD87-70AA6AEDC32E}" sibTransId="{CA080F53-6534-4877-B379-1E7503FA89E4}"/>
    <dgm:cxn modelId="{CBB0F3CC-B19B-483B-94B4-64AD81EADF08}" type="presParOf" srcId="{0C5BE1DC-8FDB-496C-824E-94D8CC3228CA}" destId="{D91FF139-17BC-4DE8-BA25-DF43FC6EAC93}" srcOrd="0" destOrd="0" presId="urn:microsoft.com/office/officeart/2018/2/layout/IconVerticalSolidList"/>
    <dgm:cxn modelId="{EEF97CCB-EA8C-4B04-BB63-F9D3BD7FF85A}" type="presParOf" srcId="{D91FF139-17BC-4DE8-BA25-DF43FC6EAC93}" destId="{9E0D1E1F-77CF-4CC3-888B-B162B8E87E00}" srcOrd="0" destOrd="0" presId="urn:microsoft.com/office/officeart/2018/2/layout/IconVerticalSolidList"/>
    <dgm:cxn modelId="{06EFB3C3-C3B0-409C-A5CD-A8E443DDEB00}" type="presParOf" srcId="{D91FF139-17BC-4DE8-BA25-DF43FC6EAC93}" destId="{B74AE221-4249-4C75-8CE6-19CD60875F66}" srcOrd="1" destOrd="0" presId="urn:microsoft.com/office/officeart/2018/2/layout/IconVerticalSolidList"/>
    <dgm:cxn modelId="{F6C95DF4-3C42-4AED-8164-08DEE32004DC}" type="presParOf" srcId="{D91FF139-17BC-4DE8-BA25-DF43FC6EAC93}" destId="{1EC1D282-A74F-47F4-9679-A8FB58455885}" srcOrd="2" destOrd="0" presId="urn:microsoft.com/office/officeart/2018/2/layout/IconVerticalSolidList"/>
    <dgm:cxn modelId="{15E65DAF-AD07-4F82-BC44-4ECF543E5EB8}" type="presParOf" srcId="{D91FF139-17BC-4DE8-BA25-DF43FC6EAC93}" destId="{BF9D9237-BE1E-4912-9D36-BABE2BB1B524}" srcOrd="3" destOrd="0" presId="urn:microsoft.com/office/officeart/2018/2/layout/IconVerticalSolidList"/>
    <dgm:cxn modelId="{89188F06-5FD2-4818-8C9C-1EB04F4984F5}" type="presParOf" srcId="{0C5BE1DC-8FDB-496C-824E-94D8CC3228CA}" destId="{8F2C21BE-FC0D-47D1-8A43-9CAC3F0E60B5}" srcOrd="1" destOrd="0" presId="urn:microsoft.com/office/officeart/2018/2/layout/IconVerticalSolidList"/>
    <dgm:cxn modelId="{F6124FA3-1E5E-4B81-B668-BDC8BCA4C022}" type="presParOf" srcId="{0C5BE1DC-8FDB-496C-824E-94D8CC3228CA}" destId="{343BD820-749C-4F4B-BC58-C494F0008A6A}" srcOrd="2" destOrd="0" presId="urn:microsoft.com/office/officeart/2018/2/layout/IconVerticalSolidList"/>
    <dgm:cxn modelId="{93957B82-74F3-45BF-9942-197358DF0793}" type="presParOf" srcId="{343BD820-749C-4F4B-BC58-C494F0008A6A}" destId="{FE246475-ABB7-4314-8BE5-8BC5D70AC882}" srcOrd="0" destOrd="0" presId="urn:microsoft.com/office/officeart/2018/2/layout/IconVerticalSolidList"/>
    <dgm:cxn modelId="{A23CC16F-6158-4F47-8F6A-B517F8D73D6B}" type="presParOf" srcId="{343BD820-749C-4F4B-BC58-C494F0008A6A}" destId="{13826C5B-8AC7-47CC-81F8-7F0A23565B37}" srcOrd="1" destOrd="0" presId="urn:microsoft.com/office/officeart/2018/2/layout/IconVerticalSolidList"/>
    <dgm:cxn modelId="{866C900B-4705-4188-B4DC-400E615D0C93}" type="presParOf" srcId="{343BD820-749C-4F4B-BC58-C494F0008A6A}" destId="{25BCB955-D820-4AE0-98D9-BD74205F9621}" srcOrd="2" destOrd="0" presId="urn:microsoft.com/office/officeart/2018/2/layout/IconVerticalSolidList"/>
    <dgm:cxn modelId="{8F2CA16B-6D46-46FB-8F01-80CF378FE1B5}" type="presParOf" srcId="{343BD820-749C-4F4B-BC58-C494F0008A6A}" destId="{9A3D4046-8983-47EF-BF67-348081F5A949}" srcOrd="3" destOrd="0" presId="urn:microsoft.com/office/officeart/2018/2/layout/IconVerticalSolidList"/>
    <dgm:cxn modelId="{95977D3A-6ABE-45A0-99D4-660273C4B026}" type="presParOf" srcId="{0C5BE1DC-8FDB-496C-824E-94D8CC3228CA}" destId="{5B71DF26-A048-4E93-B366-865832928ECD}" srcOrd="3" destOrd="0" presId="urn:microsoft.com/office/officeart/2018/2/layout/IconVerticalSolidList"/>
    <dgm:cxn modelId="{99569710-3CB3-4AD0-9CF8-BFFA790D0F2D}" type="presParOf" srcId="{0C5BE1DC-8FDB-496C-824E-94D8CC3228CA}" destId="{CC7A03C0-0FEF-43CB-84A2-1031E92EDBAB}" srcOrd="4" destOrd="0" presId="urn:microsoft.com/office/officeart/2018/2/layout/IconVerticalSolidList"/>
    <dgm:cxn modelId="{D72F5A7F-41A6-4C5D-9FDB-FA20ADD09952}" type="presParOf" srcId="{CC7A03C0-0FEF-43CB-84A2-1031E92EDBAB}" destId="{7FAC624C-626D-49CB-B2C4-EEE3D6336EF0}" srcOrd="0" destOrd="0" presId="urn:microsoft.com/office/officeart/2018/2/layout/IconVerticalSolidList"/>
    <dgm:cxn modelId="{6B33E1C3-58AD-4DAF-950E-3FD4D3935513}" type="presParOf" srcId="{CC7A03C0-0FEF-43CB-84A2-1031E92EDBAB}" destId="{8806C837-D10E-4510-862B-B29056E347D8}" srcOrd="1" destOrd="0" presId="urn:microsoft.com/office/officeart/2018/2/layout/IconVerticalSolidList"/>
    <dgm:cxn modelId="{F1363CA4-8526-4B8E-94F2-BFE560CFEE0D}" type="presParOf" srcId="{CC7A03C0-0FEF-43CB-84A2-1031E92EDBAB}" destId="{66C444CC-0BAA-4E57-86C5-D86D97A47103}" srcOrd="2" destOrd="0" presId="urn:microsoft.com/office/officeart/2018/2/layout/IconVerticalSolidList"/>
    <dgm:cxn modelId="{A22AC6D8-10D0-4FAE-882C-A259EB6D85C1}" type="presParOf" srcId="{CC7A03C0-0FEF-43CB-84A2-1031E92EDBAB}" destId="{08DF7A7A-AF6D-4CBD-957F-20AA6A0D215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94D50AB-6562-4434-9359-0B6FA263497E}"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37B598F0-7403-4740-BE8D-7757A383C9BC}">
      <dgm:prSet/>
      <dgm:spPr/>
      <dgm:t>
        <a:bodyPr/>
        <a:lstStyle/>
        <a:p>
          <a:r>
            <a:rPr lang="en-US" b="0" i="0" baseline="0" dirty="0"/>
            <a:t>AUC ROC</a:t>
          </a:r>
          <a:endParaRPr lang="en-US" dirty="0"/>
        </a:p>
      </dgm:t>
    </dgm:pt>
    <dgm:pt modelId="{20A885BB-66B4-494F-8DB2-3BCCF42A9E36}" type="parTrans" cxnId="{0D9A6EDA-1E04-48AA-A818-8F8146CD7292}">
      <dgm:prSet/>
      <dgm:spPr/>
      <dgm:t>
        <a:bodyPr/>
        <a:lstStyle/>
        <a:p>
          <a:endParaRPr lang="en-US"/>
        </a:p>
      </dgm:t>
    </dgm:pt>
    <dgm:pt modelId="{4675F1E5-B1C3-4179-9548-180A6F7F0184}" type="sibTrans" cxnId="{0D9A6EDA-1E04-48AA-A818-8F8146CD7292}">
      <dgm:prSet/>
      <dgm:spPr/>
      <dgm:t>
        <a:bodyPr/>
        <a:lstStyle/>
        <a:p>
          <a:endParaRPr lang="en-US"/>
        </a:p>
      </dgm:t>
    </dgm:pt>
    <dgm:pt modelId="{2C21378E-9895-46CE-BF61-3F8E5F2854F5}">
      <dgm:prSet/>
      <dgm:spPr/>
      <dgm:t>
        <a:bodyPr/>
        <a:lstStyle/>
        <a:p>
          <a:r>
            <a:rPr lang="en-US" baseline="0" dirty="0"/>
            <a:t>Average Precision (AP)  </a:t>
          </a:r>
          <a:endParaRPr lang="en-US" dirty="0"/>
        </a:p>
      </dgm:t>
    </dgm:pt>
    <dgm:pt modelId="{F2DD49B1-5F5B-4B05-845D-E85E7260EAAF}" type="parTrans" cxnId="{24E22554-8B9C-460F-A7E8-059A20FFF165}">
      <dgm:prSet/>
      <dgm:spPr/>
      <dgm:t>
        <a:bodyPr/>
        <a:lstStyle/>
        <a:p>
          <a:endParaRPr lang="en-US"/>
        </a:p>
      </dgm:t>
    </dgm:pt>
    <dgm:pt modelId="{780F8D6B-6F61-47A8-81FF-2042559D7716}" type="sibTrans" cxnId="{24E22554-8B9C-460F-A7E8-059A20FFF165}">
      <dgm:prSet/>
      <dgm:spPr/>
      <dgm:t>
        <a:bodyPr/>
        <a:lstStyle/>
        <a:p>
          <a:endParaRPr lang="en-US"/>
        </a:p>
      </dgm:t>
    </dgm:pt>
    <dgm:pt modelId="{7CC53968-132F-445A-8ABB-363A9143E098}" type="pres">
      <dgm:prSet presAssocID="{494D50AB-6562-4434-9359-0B6FA263497E}" presName="linear" presStyleCnt="0">
        <dgm:presLayoutVars>
          <dgm:dir/>
          <dgm:animLvl val="lvl"/>
          <dgm:resizeHandles val="exact"/>
        </dgm:presLayoutVars>
      </dgm:prSet>
      <dgm:spPr/>
    </dgm:pt>
    <dgm:pt modelId="{114AF21C-AF41-4CAB-A4EF-48F61567CC42}" type="pres">
      <dgm:prSet presAssocID="{37B598F0-7403-4740-BE8D-7757A383C9BC}" presName="parentLin" presStyleCnt="0"/>
      <dgm:spPr/>
    </dgm:pt>
    <dgm:pt modelId="{B4CA1077-02A1-4E56-9FDE-790FCBC70156}" type="pres">
      <dgm:prSet presAssocID="{37B598F0-7403-4740-BE8D-7757A383C9BC}" presName="parentLeftMargin" presStyleLbl="node1" presStyleIdx="0" presStyleCnt="2"/>
      <dgm:spPr/>
    </dgm:pt>
    <dgm:pt modelId="{2E4A7A1C-9622-42DC-891B-E6A5B26452F6}" type="pres">
      <dgm:prSet presAssocID="{37B598F0-7403-4740-BE8D-7757A383C9BC}" presName="parentText" presStyleLbl="node1" presStyleIdx="0" presStyleCnt="2">
        <dgm:presLayoutVars>
          <dgm:chMax val="0"/>
          <dgm:bulletEnabled val="1"/>
        </dgm:presLayoutVars>
      </dgm:prSet>
      <dgm:spPr/>
    </dgm:pt>
    <dgm:pt modelId="{610ED844-8778-4869-BD88-4DCEB892245F}" type="pres">
      <dgm:prSet presAssocID="{37B598F0-7403-4740-BE8D-7757A383C9BC}" presName="negativeSpace" presStyleCnt="0"/>
      <dgm:spPr/>
    </dgm:pt>
    <dgm:pt modelId="{3B04D60A-54D6-4D8C-9B80-BE1DEE0444D8}" type="pres">
      <dgm:prSet presAssocID="{37B598F0-7403-4740-BE8D-7757A383C9BC}" presName="childText" presStyleLbl="conFgAcc1" presStyleIdx="0" presStyleCnt="2">
        <dgm:presLayoutVars>
          <dgm:bulletEnabled val="1"/>
        </dgm:presLayoutVars>
      </dgm:prSet>
      <dgm:spPr/>
    </dgm:pt>
    <dgm:pt modelId="{0EB48E1C-BE92-4951-B412-A2E19BF4FACF}" type="pres">
      <dgm:prSet presAssocID="{4675F1E5-B1C3-4179-9548-180A6F7F0184}" presName="spaceBetweenRectangles" presStyleCnt="0"/>
      <dgm:spPr/>
    </dgm:pt>
    <dgm:pt modelId="{51A802D8-1AA3-4C75-BD63-6EAE422245D9}" type="pres">
      <dgm:prSet presAssocID="{2C21378E-9895-46CE-BF61-3F8E5F2854F5}" presName="parentLin" presStyleCnt="0"/>
      <dgm:spPr/>
    </dgm:pt>
    <dgm:pt modelId="{118868DD-96AF-462E-9D1A-6B41EA9FC22A}" type="pres">
      <dgm:prSet presAssocID="{2C21378E-9895-46CE-BF61-3F8E5F2854F5}" presName="parentLeftMargin" presStyleLbl="node1" presStyleIdx="0" presStyleCnt="2"/>
      <dgm:spPr/>
    </dgm:pt>
    <dgm:pt modelId="{583E728A-7161-4067-921E-6DBCE8B724D8}" type="pres">
      <dgm:prSet presAssocID="{2C21378E-9895-46CE-BF61-3F8E5F2854F5}" presName="parentText" presStyleLbl="node1" presStyleIdx="1" presStyleCnt="2">
        <dgm:presLayoutVars>
          <dgm:chMax val="0"/>
          <dgm:bulletEnabled val="1"/>
        </dgm:presLayoutVars>
      </dgm:prSet>
      <dgm:spPr/>
    </dgm:pt>
    <dgm:pt modelId="{BD210BA1-209C-42B0-AE2D-6222F2AAF54D}" type="pres">
      <dgm:prSet presAssocID="{2C21378E-9895-46CE-BF61-3F8E5F2854F5}" presName="negativeSpace" presStyleCnt="0"/>
      <dgm:spPr/>
    </dgm:pt>
    <dgm:pt modelId="{14D7D2C8-687E-48E6-9F66-C7ED138F7722}" type="pres">
      <dgm:prSet presAssocID="{2C21378E-9895-46CE-BF61-3F8E5F2854F5}" presName="childText" presStyleLbl="conFgAcc1" presStyleIdx="1" presStyleCnt="2">
        <dgm:presLayoutVars>
          <dgm:bulletEnabled val="1"/>
        </dgm:presLayoutVars>
      </dgm:prSet>
      <dgm:spPr/>
    </dgm:pt>
  </dgm:ptLst>
  <dgm:cxnLst>
    <dgm:cxn modelId="{4831D806-AAA4-48BD-9C89-27BB2EFBFE45}" type="presOf" srcId="{37B598F0-7403-4740-BE8D-7757A383C9BC}" destId="{B4CA1077-02A1-4E56-9FDE-790FCBC70156}" srcOrd="0" destOrd="0" presId="urn:microsoft.com/office/officeart/2005/8/layout/list1"/>
    <dgm:cxn modelId="{630B564D-7D8D-40FA-9F9E-6CB868297B72}" type="presOf" srcId="{494D50AB-6562-4434-9359-0B6FA263497E}" destId="{7CC53968-132F-445A-8ABB-363A9143E098}" srcOrd="0" destOrd="0" presId="urn:microsoft.com/office/officeart/2005/8/layout/list1"/>
    <dgm:cxn modelId="{24E22554-8B9C-460F-A7E8-059A20FFF165}" srcId="{494D50AB-6562-4434-9359-0B6FA263497E}" destId="{2C21378E-9895-46CE-BF61-3F8E5F2854F5}" srcOrd="1" destOrd="0" parTransId="{F2DD49B1-5F5B-4B05-845D-E85E7260EAAF}" sibTransId="{780F8D6B-6F61-47A8-81FF-2042559D7716}"/>
    <dgm:cxn modelId="{1CA1C174-CF53-45C3-93F4-E92CDDE2A6AF}" type="presOf" srcId="{2C21378E-9895-46CE-BF61-3F8E5F2854F5}" destId="{118868DD-96AF-462E-9D1A-6B41EA9FC22A}" srcOrd="0" destOrd="0" presId="urn:microsoft.com/office/officeart/2005/8/layout/list1"/>
    <dgm:cxn modelId="{6E092296-56EA-42AD-BDA9-1779D55558E4}" type="presOf" srcId="{37B598F0-7403-4740-BE8D-7757A383C9BC}" destId="{2E4A7A1C-9622-42DC-891B-E6A5B26452F6}" srcOrd="1" destOrd="0" presId="urn:microsoft.com/office/officeart/2005/8/layout/list1"/>
    <dgm:cxn modelId="{70F607AE-CEA1-49C4-8BA6-72F8B29DB650}" type="presOf" srcId="{2C21378E-9895-46CE-BF61-3F8E5F2854F5}" destId="{583E728A-7161-4067-921E-6DBCE8B724D8}" srcOrd="1" destOrd="0" presId="urn:microsoft.com/office/officeart/2005/8/layout/list1"/>
    <dgm:cxn modelId="{0D9A6EDA-1E04-48AA-A818-8F8146CD7292}" srcId="{494D50AB-6562-4434-9359-0B6FA263497E}" destId="{37B598F0-7403-4740-BE8D-7757A383C9BC}" srcOrd="0" destOrd="0" parTransId="{20A885BB-66B4-494F-8DB2-3BCCF42A9E36}" sibTransId="{4675F1E5-B1C3-4179-9548-180A6F7F0184}"/>
    <dgm:cxn modelId="{781AF751-612C-4EBD-9707-176AEB0C698A}" type="presParOf" srcId="{7CC53968-132F-445A-8ABB-363A9143E098}" destId="{114AF21C-AF41-4CAB-A4EF-48F61567CC42}" srcOrd="0" destOrd="0" presId="urn:microsoft.com/office/officeart/2005/8/layout/list1"/>
    <dgm:cxn modelId="{8934A093-C27E-4EBF-864E-A8BED8FC3E4E}" type="presParOf" srcId="{114AF21C-AF41-4CAB-A4EF-48F61567CC42}" destId="{B4CA1077-02A1-4E56-9FDE-790FCBC70156}" srcOrd="0" destOrd="0" presId="urn:microsoft.com/office/officeart/2005/8/layout/list1"/>
    <dgm:cxn modelId="{F8050CAE-37BA-4668-B17E-5AE4815DCFC3}" type="presParOf" srcId="{114AF21C-AF41-4CAB-A4EF-48F61567CC42}" destId="{2E4A7A1C-9622-42DC-891B-E6A5B26452F6}" srcOrd="1" destOrd="0" presId="urn:microsoft.com/office/officeart/2005/8/layout/list1"/>
    <dgm:cxn modelId="{3C8A2DAB-86A8-4B0B-BE3B-B2EF96116588}" type="presParOf" srcId="{7CC53968-132F-445A-8ABB-363A9143E098}" destId="{610ED844-8778-4869-BD88-4DCEB892245F}" srcOrd="1" destOrd="0" presId="urn:microsoft.com/office/officeart/2005/8/layout/list1"/>
    <dgm:cxn modelId="{D5008094-C8CC-4BE5-859C-5984DFA80A90}" type="presParOf" srcId="{7CC53968-132F-445A-8ABB-363A9143E098}" destId="{3B04D60A-54D6-4D8C-9B80-BE1DEE0444D8}" srcOrd="2" destOrd="0" presId="urn:microsoft.com/office/officeart/2005/8/layout/list1"/>
    <dgm:cxn modelId="{84EFFFF7-11DB-4E3B-A4F2-FF5C6B1F52EC}" type="presParOf" srcId="{7CC53968-132F-445A-8ABB-363A9143E098}" destId="{0EB48E1C-BE92-4951-B412-A2E19BF4FACF}" srcOrd="3" destOrd="0" presId="urn:microsoft.com/office/officeart/2005/8/layout/list1"/>
    <dgm:cxn modelId="{42419F94-F198-4D29-9244-9B85F4B03FA4}" type="presParOf" srcId="{7CC53968-132F-445A-8ABB-363A9143E098}" destId="{51A802D8-1AA3-4C75-BD63-6EAE422245D9}" srcOrd="4" destOrd="0" presId="urn:microsoft.com/office/officeart/2005/8/layout/list1"/>
    <dgm:cxn modelId="{185FE73D-C21D-439F-BA7E-DFCA51BCBFA8}" type="presParOf" srcId="{51A802D8-1AA3-4C75-BD63-6EAE422245D9}" destId="{118868DD-96AF-462E-9D1A-6B41EA9FC22A}" srcOrd="0" destOrd="0" presId="urn:microsoft.com/office/officeart/2005/8/layout/list1"/>
    <dgm:cxn modelId="{FB266FF8-740D-4F5C-AA37-2EE754CE060E}" type="presParOf" srcId="{51A802D8-1AA3-4C75-BD63-6EAE422245D9}" destId="{583E728A-7161-4067-921E-6DBCE8B724D8}" srcOrd="1" destOrd="0" presId="urn:microsoft.com/office/officeart/2005/8/layout/list1"/>
    <dgm:cxn modelId="{AA1AF421-DA70-4B01-99FB-F58A66434A19}" type="presParOf" srcId="{7CC53968-132F-445A-8ABB-363A9143E098}" destId="{BD210BA1-209C-42B0-AE2D-6222F2AAF54D}" srcOrd="5" destOrd="0" presId="urn:microsoft.com/office/officeart/2005/8/layout/list1"/>
    <dgm:cxn modelId="{D203C94D-6685-4A60-9A9B-A763B584FA09}" type="presParOf" srcId="{7CC53968-132F-445A-8ABB-363A9143E098}" destId="{14D7D2C8-687E-48E6-9F66-C7ED138F7722}"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578916B-0C34-4EE9-BE90-EFD0AD54ECE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8C400C1-83E8-4C59-B75F-BF0FF04C8E8E}">
      <dgm:prSet/>
      <dgm:spPr/>
      <dgm:t>
        <a:bodyPr/>
        <a:lstStyle/>
        <a:p>
          <a:pPr>
            <a:lnSpc>
              <a:spcPct val="100000"/>
            </a:lnSpc>
          </a:pPr>
          <a:r>
            <a:rPr lang="en-US" dirty="0"/>
            <a:t>Logistic regression (LR)</a:t>
          </a:r>
        </a:p>
      </dgm:t>
    </dgm:pt>
    <dgm:pt modelId="{00D58D94-5E28-43CC-B46C-F4695577B493}" type="parTrans" cxnId="{6F4F90BE-8973-4475-8F3E-1AAEF7EF28F7}">
      <dgm:prSet/>
      <dgm:spPr/>
      <dgm:t>
        <a:bodyPr/>
        <a:lstStyle/>
        <a:p>
          <a:endParaRPr lang="en-US"/>
        </a:p>
      </dgm:t>
    </dgm:pt>
    <dgm:pt modelId="{EF602953-F297-470A-A2D7-B5FB32002A53}" type="sibTrans" cxnId="{6F4F90BE-8973-4475-8F3E-1AAEF7EF28F7}">
      <dgm:prSet/>
      <dgm:spPr/>
      <dgm:t>
        <a:bodyPr/>
        <a:lstStyle/>
        <a:p>
          <a:endParaRPr lang="en-US"/>
        </a:p>
      </dgm:t>
    </dgm:pt>
    <dgm:pt modelId="{E9721416-9782-4D47-8A07-D1A190167EF8}">
      <dgm:prSet/>
      <dgm:spPr/>
      <dgm:t>
        <a:bodyPr/>
        <a:lstStyle/>
        <a:p>
          <a:pPr>
            <a:lnSpc>
              <a:spcPct val="100000"/>
            </a:lnSpc>
          </a:pPr>
          <a:r>
            <a:rPr lang="en-US" dirty="0"/>
            <a:t>Decision Trees (DT)</a:t>
          </a:r>
        </a:p>
      </dgm:t>
    </dgm:pt>
    <dgm:pt modelId="{7D7A2FAF-2087-42AE-BECC-85377AE61E95}" type="parTrans" cxnId="{1F976E7A-B964-4B40-9474-12F022E101D4}">
      <dgm:prSet/>
      <dgm:spPr/>
      <dgm:t>
        <a:bodyPr/>
        <a:lstStyle/>
        <a:p>
          <a:endParaRPr lang="en-US"/>
        </a:p>
      </dgm:t>
    </dgm:pt>
    <dgm:pt modelId="{A9D1808B-C942-49F9-B10D-74B274080C14}" type="sibTrans" cxnId="{1F976E7A-B964-4B40-9474-12F022E101D4}">
      <dgm:prSet/>
      <dgm:spPr/>
      <dgm:t>
        <a:bodyPr/>
        <a:lstStyle/>
        <a:p>
          <a:endParaRPr lang="en-US"/>
        </a:p>
      </dgm:t>
    </dgm:pt>
    <dgm:pt modelId="{28E194A9-13CC-42FB-94E6-A33EBFC665E5}">
      <dgm:prSet/>
      <dgm:spPr/>
      <dgm:t>
        <a:bodyPr/>
        <a:lstStyle/>
        <a:p>
          <a:pPr>
            <a:lnSpc>
              <a:spcPct val="100000"/>
            </a:lnSpc>
          </a:pPr>
          <a:r>
            <a:rPr lang="en-US" dirty="0"/>
            <a:t>Random Forests (RF)</a:t>
          </a:r>
        </a:p>
      </dgm:t>
    </dgm:pt>
    <dgm:pt modelId="{DE430949-BD6F-4CFF-B6D9-5E5DADCC212E}" type="parTrans" cxnId="{051AACF2-F3F2-4915-8807-F1A44E6FA4EF}">
      <dgm:prSet/>
      <dgm:spPr/>
      <dgm:t>
        <a:bodyPr/>
        <a:lstStyle/>
        <a:p>
          <a:endParaRPr lang="en-US"/>
        </a:p>
      </dgm:t>
    </dgm:pt>
    <dgm:pt modelId="{F70E073E-E477-4E3F-B988-A711FA46E448}" type="sibTrans" cxnId="{051AACF2-F3F2-4915-8807-F1A44E6FA4EF}">
      <dgm:prSet/>
      <dgm:spPr/>
      <dgm:t>
        <a:bodyPr/>
        <a:lstStyle/>
        <a:p>
          <a:endParaRPr lang="en-US"/>
        </a:p>
      </dgm:t>
    </dgm:pt>
    <dgm:pt modelId="{66136FEA-F5E4-42EC-82EF-BED82A1A16C4}">
      <dgm:prSet/>
      <dgm:spPr/>
      <dgm:t>
        <a:bodyPr/>
        <a:lstStyle/>
        <a:p>
          <a:pPr>
            <a:lnSpc>
              <a:spcPct val="100000"/>
            </a:lnSpc>
          </a:pPr>
          <a:r>
            <a:rPr lang="en-US" dirty="0" err="1"/>
            <a:t>XGBoost</a:t>
          </a:r>
          <a:r>
            <a:rPr lang="en-US" dirty="0"/>
            <a:t> (XGB)</a:t>
          </a:r>
        </a:p>
      </dgm:t>
    </dgm:pt>
    <dgm:pt modelId="{AAB436CB-0BE5-4D56-B6A1-11A01A6F6848}" type="parTrans" cxnId="{5D666E00-7D6C-4FE1-8CFA-6727A1D6860A}">
      <dgm:prSet/>
      <dgm:spPr/>
      <dgm:t>
        <a:bodyPr/>
        <a:lstStyle/>
        <a:p>
          <a:endParaRPr lang="en-SG"/>
        </a:p>
      </dgm:t>
    </dgm:pt>
    <dgm:pt modelId="{534FADB3-6210-464B-BEA9-A8F0A62E68FB}" type="sibTrans" cxnId="{5D666E00-7D6C-4FE1-8CFA-6727A1D6860A}">
      <dgm:prSet/>
      <dgm:spPr/>
      <dgm:t>
        <a:bodyPr/>
        <a:lstStyle/>
        <a:p>
          <a:endParaRPr lang="en-SG"/>
        </a:p>
      </dgm:t>
    </dgm:pt>
    <dgm:pt modelId="{7DA38296-2D76-4C8D-BC36-A8F03CE4D7EE}" type="pres">
      <dgm:prSet presAssocID="{5578916B-0C34-4EE9-BE90-EFD0AD54ECEE}" presName="root" presStyleCnt="0">
        <dgm:presLayoutVars>
          <dgm:dir/>
          <dgm:resizeHandles val="exact"/>
        </dgm:presLayoutVars>
      </dgm:prSet>
      <dgm:spPr/>
    </dgm:pt>
    <dgm:pt modelId="{2EB275E2-3D74-48DC-9AE6-1A44C414FD22}" type="pres">
      <dgm:prSet presAssocID="{78C400C1-83E8-4C59-B75F-BF0FF04C8E8E}" presName="compNode" presStyleCnt="0"/>
      <dgm:spPr/>
    </dgm:pt>
    <dgm:pt modelId="{994CC32A-2BF3-42BF-89AD-A0602FC059E7}" type="pres">
      <dgm:prSet presAssocID="{78C400C1-83E8-4C59-B75F-BF0FF04C8E8E}" presName="bgRect" presStyleLbl="bgShp" presStyleIdx="0" presStyleCnt="4" custLinFactNeighborX="-810" custLinFactNeighborY="1375"/>
      <dgm:spPr/>
    </dgm:pt>
    <dgm:pt modelId="{1FBDFBA9-3DC3-44FC-A68E-9FE7AB848BDC}" type="pres">
      <dgm:prSet presAssocID="{78C400C1-83E8-4C59-B75F-BF0FF04C8E8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Exponential Graph with solid fill"/>
        </a:ext>
      </dgm:extLst>
    </dgm:pt>
    <dgm:pt modelId="{FD9B0364-F8C4-43E0-9168-8E682A83ADFE}" type="pres">
      <dgm:prSet presAssocID="{78C400C1-83E8-4C59-B75F-BF0FF04C8E8E}" presName="spaceRect" presStyleCnt="0"/>
      <dgm:spPr/>
    </dgm:pt>
    <dgm:pt modelId="{9CB20D35-9EBD-4A04-BD2A-079D0A51F52E}" type="pres">
      <dgm:prSet presAssocID="{78C400C1-83E8-4C59-B75F-BF0FF04C8E8E}" presName="parTx" presStyleLbl="revTx" presStyleIdx="0" presStyleCnt="4">
        <dgm:presLayoutVars>
          <dgm:chMax val="0"/>
          <dgm:chPref val="0"/>
        </dgm:presLayoutVars>
      </dgm:prSet>
      <dgm:spPr/>
    </dgm:pt>
    <dgm:pt modelId="{F6792317-BCB3-4DD0-8DC0-88D855BE7D23}" type="pres">
      <dgm:prSet presAssocID="{EF602953-F297-470A-A2D7-B5FB32002A53}" presName="sibTrans" presStyleCnt="0"/>
      <dgm:spPr/>
    </dgm:pt>
    <dgm:pt modelId="{14143082-D244-4AAB-9D85-0EF3FE4EF5D8}" type="pres">
      <dgm:prSet presAssocID="{E9721416-9782-4D47-8A07-D1A190167EF8}" presName="compNode" presStyleCnt="0"/>
      <dgm:spPr/>
    </dgm:pt>
    <dgm:pt modelId="{3F7D87FE-DA42-4F96-BDEA-D400D9410F2A}" type="pres">
      <dgm:prSet presAssocID="{E9721416-9782-4D47-8A07-D1A190167EF8}" presName="bgRect" presStyleLbl="bgShp" presStyleIdx="1" presStyleCnt="4"/>
      <dgm:spPr/>
    </dgm:pt>
    <dgm:pt modelId="{DD997273-41F8-4F49-AD53-3BF5466662A4}" type="pres">
      <dgm:prSet presAssocID="{E9721416-9782-4D47-8A07-D1A190167EF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ir tree"/>
        </a:ext>
      </dgm:extLst>
    </dgm:pt>
    <dgm:pt modelId="{81DD79A5-E958-4053-A6C4-C5AACCD8719E}" type="pres">
      <dgm:prSet presAssocID="{E9721416-9782-4D47-8A07-D1A190167EF8}" presName="spaceRect" presStyleCnt="0"/>
      <dgm:spPr/>
    </dgm:pt>
    <dgm:pt modelId="{06FB4314-B75E-4EFB-9533-1D0E8B3CB018}" type="pres">
      <dgm:prSet presAssocID="{E9721416-9782-4D47-8A07-D1A190167EF8}" presName="parTx" presStyleLbl="revTx" presStyleIdx="1" presStyleCnt="4">
        <dgm:presLayoutVars>
          <dgm:chMax val="0"/>
          <dgm:chPref val="0"/>
        </dgm:presLayoutVars>
      </dgm:prSet>
      <dgm:spPr/>
    </dgm:pt>
    <dgm:pt modelId="{C3B0A879-00E6-4B4F-9404-F108DD31F3E4}" type="pres">
      <dgm:prSet presAssocID="{A9D1808B-C942-49F9-B10D-74B274080C14}" presName="sibTrans" presStyleCnt="0"/>
      <dgm:spPr/>
    </dgm:pt>
    <dgm:pt modelId="{B9D181E3-1FB7-4A21-93AF-1A115FD5B57D}" type="pres">
      <dgm:prSet presAssocID="{28E194A9-13CC-42FB-94E6-A33EBFC665E5}" presName="compNode" presStyleCnt="0"/>
      <dgm:spPr/>
    </dgm:pt>
    <dgm:pt modelId="{C3D3F6C5-6D9B-4310-A02A-7534E73B0241}" type="pres">
      <dgm:prSet presAssocID="{28E194A9-13CC-42FB-94E6-A33EBFC665E5}" presName="bgRect" presStyleLbl="bgShp" presStyleIdx="2" presStyleCnt="4"/>
      <dgm:spPr/>
    </dgm:pt>
    <dgm:pt modelId="{2D4A5CF9-D809-4F0D-9DE3-AF65092FD9F1}" type="pres">
      <dgm:prSet presAssocID="{28E194A9-13CC-42FB-94E6-A33EBFC665E5}"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Forest scene with solid fill"/>
        </a:ext>
      </dgm:extLst>
    </dgm:pt>
    <dgm:pt modelId="{C032DAC2-90CC-405F-A163-27D4EDA1B3EE}" type="pres">
      <dgm:prSet presAssocID="{28E194A9-13CC-42FB-94E6-A33EBFC665E5}" presName="spaceRect" presStyleCnt="0"/>
      <dgm:spPr/>
    </dgm:pt>
    <dgm:pt modelId="{A3E593E3-6BEC-4458-8EB1-89F8E8439A81}" type="pres">
      <dgm:prSet presAssocID="{28E194A9-13CC-42FB-94E6-A33EBFC665E5}" presName="parTx" presStyleLbl="revTx" presStyleIdx="2" presStyleCnt="4">
        <dgm:presLayoutVars>
          <dgm:chMax val="0"/>
          <dgm:chPref val="0"/>
        </dgm:presLayoutVars>
      </dgm:prSet>
      <dgm:spPr/>
    </dgm:pt>
    <dgm:pt modelId="{C980BF65-A143-48BB-BFF3-E7CA3BD48FBD}" type="pres">
      <dgm:prSet presAssocID="{F70E073E-E477-4E3F-B988-A711FA46E448}" presName="sibTrans" presStyleCnt="0"/>
      <dgm:spPr/>
    </dgm:pt>
    <dgm:pt modelId="{DEF53941-07E1-433E-8FE8-5B6EB8FC802D}" type="pres">
      <dgm:prSet presAssocID="{66136FEA-F5E4-42EC-82EF-BED82A1A16C4}" presName="compNode" presStyleCnt="0"/>
      <dgm:spPr/>
    </dgm:pt>
    <dgm:pt modelId="{E34A46DE-74A3-4C90-8D95-E9F277C978AA}" type="pres">
      <dgm:prSet presAssocID="{66136FEA-F5E4-42EC-82EF-BED82A1A16C4}" presName="bgRect" presStyleLbl="bgShp" presStyleIdx="3" presStyleCnt="4" custLinFactNeighborX="-1821" custLinFactNeighborY="12371"/>
      <dgm:spPr/>
    </dgm:pt>
    <dgm:pt modelId="{D2C23AC8-0CEB-4DD7-8716-196D8992DE09}" type="pres">
      <dgm:prSet presAssocID="{66136FEA-F5E4-42EC-82EF-BED82A1A16C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Rocket with solid fill"/>
        </a:ext>
      </dgm:extLst>
    </dgm:pt>
    <dgm:pt modelId="{404C031C-C48D-491E-A63E-91763D884E09}" type="pres">
      <dgm:prSet presAssocID="{66136FEA-F5E4-42EC-82EF-BED82A1A16C4}" presName="spaceRect" presStyleCnt="0"/>
      <dgm:spPr/>
    </dgm:pt>
    <dgm:pt modelId="{BC39DA9F-D22D-4BCA-BAB8-6B5BCF1B75A3}" type="pres">
      <dgm:prSet presAssocID="{66136FEA-F5E4-42EC-82EF-BED82A1A16C4}" presName="parTx" presStyleLbl="revTx" presStyleIdx="3" presStyleCnt="4">
        <dgm:presLayoutVars>
          <dgm:chMax val="0"/>
          <dgm:chPref val="0"/>
        </dgm:presLayoutVars>
      </dgm:prSet>
      <dgm:spPr/>
    </dgm:pt>
  </dgm:ptLst>
  <dgm:cxnLst>
    <dgm:cxn modelId="{5D666E00-7D6C-4FE1-8CFA-6727A1D6860A}" srcId="{5578916B-0C34-4EE9-BE90-EFD0AD54ECEE}" destId="{66136FEA-F5E4-42EC-82EF-BED82A1A16C4}" srcOrd="3" destOrd="0" parTransId="{AAB436CB-0BE5-4D56-B6A1-11A01A6F6848}" sibTransId="{534FADB3-6210-464B-BEA9-A8F0A62E68FB}"/>
    <dgm:cxn modelId="{AA330853-B0E9-4065-9819-6A46F38A618E}" type="presOf" srcId="{28E194A9-13CC-42FB-94E6-A33EBFC665E5}" destId="{A3E593E3-6BEC-4458-8EB1-89F8E8439A81}" srcOrd="0" destOrd="0" presId="urn:microsoft.com/office/officeart/2018/2/layout/IconVerticalSolidList"/>
    <dgm:cxn modelId="{1F976E7A-B964-4B40-9474-12F022E101D4}" srcId="{5578916B-0C34-4EE9-BE90-EFD0AD54ECEE}" destId="{E9721416-9782-4D47-8A07-D1A190167EF8}" srcOrd="1" destOrd="0" parTransId="{7D7A2FAF-2087-42AE-BECC-85377AE61E95}" sibTransId="{A9D1808B-C942-49F9-B10D-74B274080C14}"/>
    <dgm:cxn modelId="{6F4F90BE-8973-4475-8F3E-1AAEF7EF28F7}" srcId="{5578916B-0C34-4EE9-BE90-EFD0AD54ECEE}" destId="{78C400C1-83E8-4C59-B75F-BF0FF04C8E8E}" srcOrd="0" destOrd="0" parTransId="{00D58D94-5E28-43CC-B46C-F4695577B493}" sibTransId="{EF602953-F297-470A-A2D7-B5FB32002A53}"/>
    <dgm:cxn modelId="{D00B4AD2-FFA5-49D3-8EFB-B181BE94EAFD}" type="presOf" srcId="{5578916B-0C34-4EE9-BE90-EFD0AD54ECEE}" destId="{7DA38296-2D76-4C8D-BC36-A8F03CE4D7EE}" srcOrd="0" destOrd="0" presId="urn:microsoft.com/office/officeart/2018/2/layout/IconVerticalSolidList"/>
    <dgm:cxn modelId="{9DBFD9E3-8DC0-44BD-A67C-B8B87940EC6E}" type="presOf" srcId="{E9721416-9782-4D47-8A07-D1A190167EF8}" destId="{06FB4314-B75E-4EFB-9533-1D0E8B3CB018}" srcOrd="0" destOrd="0" presId="urn:microsoft.com/office/officeart/2018/2/layout/IconVerticalSolidList"/>
    <dgm:cxn modelId="{3FD9FBED-3FFE-467C-8DF0-392B1928F937}" type="presOf" srcId="{66136FEA-F5E4-42EC-82EF-BED82A1A16C4}" destId="{BC39DA9F-D22D-4BCA-BAB8-6B5BCF1B75A3}" srcOrd="0" destOrd="0" presId="urn:microsoft.com/office/officeart/2018/2/layout/IconVerticalSolidList"/>
    <dgm:cxn modelId="{051AACF2-F3F2-4915-8807-F1A44E6FA4EF}" srcId="{5578916B-0C34-4EE9-BE90-EFD0AD54ECEE}" destId="{28E194A9-13CC-42FB-94E6-A33EBFC665E5}" srcOrd="2" destOrd="0" parTransId="{DE430949-BD6F-4CFF-B6D9-5E5DADCC212E}" sibTransId="{F70E073E-E477-4E3F-B988-A711FA46E448}"/>
    <dgm:cxn modelId="{156F92FC-6F72-4FE4-959B-FCF82ABC07C2}" type="presOf" srcId="{78C400C1-83E8-4C59-B75F-BF0FF04C8E8E}" destId="{9CB20D35-9EBD-4A04-BD2A-079D0A51F52E}" srcOrd="0" destOrd="0" presId="urn:microsoft.com/office/officeart/2018/2/layout/IconVerticalSolidList"/>
    <dgm:cxn modelId="{84B7B774-F8DD-4745-8334-BBCCF4684CA4}" type="presParOf" srcId="{7DA38296-2D76-4C8D-BC36-A8F03CE4D7EE}" destId="{2EB275E2-3D74-48DC-9AE6-1A44C414FD22}" srcOrd="0" destOrd="0" presId="urn:microsoft.com/office/officeart/2018/2/layout/IconVerticalSolidList"/>
    <dgm:cxn modelId="{50D085A5-0696-4C65-8A1F-D68ECF20B140}" type="presParOf" srcId="{2EB275E2-3D74-48DC-9AE6-1A44C414FD22}" destId="{994CC32A-2BF3-42BF-89AD-A0602FC059E7}" srcOrd="0" destOrd="0" presId="urn:microsoft.com/office/officeart/2018/2/layout/IconVerticalSolidList"/>
    <dgm:cxn modelId="{6D5F51C1-EC2C-40EE-A181-665CFF10B225}" type="presParOf" srcId="{2EB275E2-3D74-48DC-9AE6-1A44C414FD22}" destId="{1FBDFBA9-3DC3-44FC-A68E-9FE7AB848BDC}" srcOrd="1" destOrd="0" presId="urn:microsoft.com/office/officeart/2018/2/layout/IconVerticalSolidList"/>
    <dgm:cxn modelId="{1D03FC5D-9698-4889-BD81-3BDFA9F6B3F6}" type="presParOf" srcId="{2EB275E2-3D74-48DC-9AE6-1A44C414FD22}" destId="{FD9B0364-F8C4-43E0-9168-8E682A83ADFE}" srcOrd="2" destOrd="0" presId="urn:microsoft.com/office/officeart/2018/2/layout/IconVerticalSolidList"/>
    <dgm:cxn modelId="{F37320BA-7BFC-45B4-9A1B-A231EF2FE080}" type="presParOf" srcId="{2EB275E2-3D74-48DC-9AE6-1A44C414FD22}" destId="{9CB20D35-9EBD-4A04-BD2A-079D0A51F52E}" srcOrd="3" destOrd="0" presId="urn:microsoft.com/office/officeart/2018/2/layout/IconVerticalSolidList"/>
    <dgm:cxn modelId="{EAC428C6-E00E-4984-AFD5-A41176DA240E}" type="presParOf" srcId="{7DA38296-2D76-4C8D-BC36-A8F03CE4D7EE}" destId="{F6792317-BCB3-4DD0-8DC0-88D855BE7D23}" srcOrd="1" destOrd="0" presId="urn:microsoft.com/office/officeart/2018/2/layout/IconVerticalSolidList"/>
    <dgm:cxn modelId="{E69757EF-A5E7-4103-B955-7BDA2955C4AE}" type="presParOf" srcId="{7DA38296-2D76-4C8D-BC36-A8F03CE4D7EE}" destId="{14143082-D244-4AAB-9D85-0EF3FE4EF5D8}" srcOrd="2" destOrd="0" presId="urn:microsoft.com/office/officeart/2018/2/layout/IconVerticalSolidList"/>
    <dgm:cxn modelId="{2B64ABA9-3C42-4867-BB5E-45BDDBBB0780}" type="presParOf" srcId="{14143082-D244-4AAB-9D85-0EF3FE4EF5D8}" destId="{3F7D87FE-DA42-4F96-BDEA-D400D9410F2A}" srcOrd="0" destOrd="0" presId="urn:microsoft.com/office/officeart/2018/2/layout/IconVerticalSolidList"/>
    <dgm:cxn modelId="{F96591D2-D41D-42DA-B455-581431420A74}" type="presParOf" srcId="{14143082-D244-4AAB-9D85-0EF3FE4EF5D8}" destId="{DD997273-41F8-4F49-AD53-3BF5466662A4}" srcOrd="1" destOrd="0" presId="urn:microsoft.com/office/officeart/2018/2/layout/IconVerticalSolidList"/>
    <dgm:cxn modelId="{C7DE5664-3BD6-4744-825A-7E6C53E6ACB5}" type="presParOf" srcId="{14143082-D244-4AAB-9D85-0EF3FE4EF5D8}" destId="{81DD79A5-E958-4053-A6C4-C5AACCD8719E}" srcOrd="2" destOrd="0" presId="urn:microsoft.com/office/officeart/2018/2/layout/IconVerticalSolidList"/>
    <dgm:cxn modelId="{4414B381-1049-4678-B2CD-5F4AE43ABFF4}" type="presParOf" srcId="{14143082-D244-4AAB-9D85-0EF3FE4EF5D8}" destId="{06FB4314-B75E-4EFB-9533-1D0E8B3CB018}" srcOrd="3" destOrd="0" presId="urn:microsoft.com/office/officeart/2018/2/layout/IconVerticalSolidList"/>
    <dgm:cxn modelId="{0313DF11-CB70-4B25-8E16-088DE071186B}" type="presParOf" srcId="{7DA38296-2D76-4C8D-BC36-A8F03CE4D7EE}" destId="{C3B0A879-00E6-4B4F-9404-F108DD31F3E4}" srcOrd="3" destOrd="0" presId="urn:microsoft.com/office/officeart/2018/2/layout/IconVerticalSolidList"/>
    <dgm:cxn modelId="{3322F3BE-9CFC-4BFE-B128-649F17C108FF}" type="presParOf" srcId="{7DA38296-2D76-4C8D-BC36-A8F03CE4D7EE}" destId="{B9D181E3-1FB7-4A21-93AF-1A115FD5B57D}" srcOrd="4" destOrd="0" presId="urn:microsoft.com/office/officeart/2018/2/layout/IconVerticalSolidList"/>
    <dgm:cxn modelId="{27C78DF8-3C13-48F1-9E04-1E64C922CBA3}" type="presParOf" srcId="{B9D181E3-1FB7-4A21-93AF-1A115FD5B57D}" destId="{C3D3F6C5-6D9B-4310-A02A-7534E73B0241}" srcOrd="0" destOrd="0" presId="urn:microsoft.com/office/officeart/2018/2/layout/IconVerticalSolidList"/>
    <dgm:cxn modelId="{329764D9-B8D6-46AA-A7B5-3FEB8052F8D9}" type="presParOf" srcId="{B9D181E3-1FB7-4A21-93AF-1A115FD5B57D}" destId="{2D4A5CF9-D809-4F0D-9DE3-AF65092FD9F1}" srcOrd="1" destOrd="0" presId="urn:microsoft.com/office/officeart/2018/2/layout/IconVerticalSolidList"/>
    <dgm:cxn modelId="{82403DED-91C4-4B21-9B1D-FA99E1CB589B}" type="presParOf" srcId="{B9D181E3-1FB7-4A21-93AF-1A115FD5B57D}" destId="{C032DAC2-90CC-405F-A163-27D4EDA1B3EE}" srcOrd="2" destOrd="0" presId="urn:microsoft.com/office/officeart/2018/2/layout/IconVerticalSolidList"/>
    <dgm:cxn modelId="{BD7A06DC-F49A-4C57-8C1C-82CB6EDF3D9A}" type="presParOf" srcId="{B9D181E3-1FB7-4A21-93AF-1A115FD5B57D}" destId="{A3E593E3-6BEC-4458-8EB1-89F8E8439A81}" srcOrd="3" destOrd="0" presId="urn:microsoft.com/office/officeart/2018/2/layout/IconVerticalSolidList"/>
    <dgm:cxn modelId="{2F47A345-0E03-4246-A98C-F51114995A59}" type="presParOf" srcId="{7DA38296-2D76-4C8D-BC36-A8F03CE4D7EE}" destId="{C980BF65-A143-48BB-BFF3-E7CA3BD48FBD}" srcOrd="5" destOrd="0" presId="urn:microsoft.com/office/officeart/2018/2/layout/IconVerticalSolidList"/>
    <dgm:cxn modelId="{15D13EA2-14C0-4689-88EF-BCA65B781CE1}" type="presParOf" srcId="{7DA38296-2D76-4C8D-BC36-A8F03CE4D7EE}" destId="{DEF53941-07E1-433E-8FE8-5B6EB8FC802D}" srcOrd="6" destOrd="0" presId="urn:microsoft.com/office/officeart/2018/2/layout/IconVerticalSolidList"/>
    <dgm:cxn modelId="{310B71C2-E073-4420-8B37-A96CE4DAFA15}" type="presParOf" srcId="{DEF53941-07E1-433E-8FE8-5B6EB8FC802D}" destId="{E34A46DE-74A3-4C90-8D95-E9F277C978AA}" srcOrd="0" destOrd="0" presId="urn:microsoft.com/office/officeart/2018/2/layout/IconVerticalSolidList"/>
    <dgm:cxn modelId="{4156F7EE-C3FD-494C-812B-A4486D407ED4}" type="presParOf" srcId="{DEF53941-07E1-433E-8FE8-5B6EB8FC802D}" destId="{D2C23AC8-0CEB-4DD7-8716-196D8992DE09}" srcOrd="1" destOrd="0" presId="urn:microsoft.com/office/officeart/2018/2/layout/IconVerticalSolidList"/>
    <dgm:cxn modelId="{C3320757-B818-49E7-9B6E-5ECA34EFADC7}" type="presParOf" srcId="{DEF53941-07E1-433E-8FE8-5B6EB8FC802D}" destId="{404C031C-C48D-491E-A63E-91763D884E09}" srcOrd="2" destOrd="0" presId="urn:microsoft.com/office/officeart/2018/2/layout/IconVerticalSolidList"/>
    <dgm:cxn modelId="{7C014D8D-816F-4718-9CF7-E19DDD987ED4}" type="presParOf" srcId="{DEF53941-07E1-433E-8FE8-5B6EB8FC802D}" destId="{BC39DA9F-D22D-4BCA-BAB8-6B5BCF1B75A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AC88F02-C1DC-4C62-85B9-3BD93EBEFF5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7CDE886-54B3-489C-B463-2B9FBB8280CA}">
      <dgm:prSet/>
      <dgm:spPr/>
      <dgm:t>
        <a:bodyPr/>
        <a:lstStyle/>
        <a:p>
          <a:r>
            <a:rPr lang="en-SG" dirty="0"/>
            <a:t>Using essential information on transactions can help us in ML</a:t>
          </a:r>
          <a:endParaRPr lang="en-US" dirty="0"/>
        </a:p>
      </dgm:t>
    </dgm:pt>
    <dgm:pt modelId="{FB7BDF3E-8165-4BA9-AB31-F4A8E43CDEA7}" type="parTrans" cxnId="{952FFB1B-EFF2-49BE-B8EE-700C536B59EE}">
      <dgm:prSet/>
      <dgm:spPr/>
      <dgm:t>
        <a:bodyPr/>
        <a:lstStyle/>
        <a:p>
          <a:endParaRPr lang="en-US"/>
        </a:p>
      </dgm:t>
    </dgm:pt>
    <dgm:pt modelId="{DB0279B4-2B63-48B3-B152-4A999DDE6BAE}" type="sibTrans" cxnId="{952FFB1B-EFF2-49BE-B8EE-700C536B59EE}">
      <dgm:prSet/>
      <dgm:spPr/>
      <dgm:t>
        <a:bodyPr/>
        <a:lstStyle/>
        <a:p>
          <a:endParaRPr lang="en-US"/>
        </a:p>
      </dgm:t>
    </dgm:pt>
    <dgm:pt modelId="{F35CF469-089E-4A8E-9081-C1C9F9A8D4EF}">
      <dgm:prSet/>
      <dgm:spPr/>
      <dgm:t>
        <a:bodyPr/>
        <a:lstStyle/>
        <a:p>
          <a:r>
            <a:rPr lang="en-SG" dirty="0"/>
            <a:t>Understand the different fraud scenarios – in the real-world this requires </a:t>
          </a:r>
          <a:r>
            <a:rPr lang="en-SG" u="sng" dirty="0"/>
            <a:t>domain knowledge</a:t>
          </a:r>
          <a:r>
            <a:rPr lang="en-SG" dirty="0"/>
            <a:t> and helps in feature engineering</a:t>
          </a:r>
          <a:endParaRPr lang="en-US" dirty="0"/>
        </a:p>
      </dgm:t>
    </dgm:pt>
    <dgm:pt modelId="{69418348-D42D-4762-B7E4-7F42E17C163F}" type="parTrans" cxnId="{E4602E4B-F620-44C8-90E4-555D4A7E8986}">
      <dgm:prSet/>
      <dgm:spPr/>
      <dgm:t>
        <a:bodyPr/>
        <a:lstStyle/>
        <a:p>
          <a:endParaRPr lang="en-US"/>
        </a:p>
      </dgm:t>
    </dgm:pt>
    <dgm:pt modelId="{E28167AA-D04A-4A54-B533-915174ED4D42}" type="sibTrans" cxnId="{E4602E4B-F620-44C8-90E4-555D4A7E8986}">
      <dgm:prSet/>
      <dgm:spPr/>
      <dgm:t>
        <a:bodyPr/>
        <a:lstStyle/>
        <a:p>
          <a:endParaRPr lang="en-US"/>
        </a:p>
      </dgm:t>
    </dgm:pt>
    <dgm:pt modelId="{A41001B9-72D1-4A7A-983F-BC6B74D2829C}">
      <dgm:prSet/>
      <dgm:spPr/>
      <dgm:t>
        <a:bodyPr/>
        <a:lstStyle/>
        <a:p>
          <a:r>
            <a:rPr lang="en-SG" dirty="0"/>
            <a:t>The best model depends on the data available and metrics of importance</a:t>
          </a:r>
          <a:endParaRPr lang="en-US" dirty="0"/>
        </a:p>
      </dgm:t>
    </dgm:pt>
    <dgm:pt modelId="{452B1FE9-BB8F-4291-A051-1CCE235267BD}" type="parTrans" cxnId="{A98AE214-9BAC-450C-B6B1-28BC71AE032F}">
      <dgm:prSet/>
      <dgm:spPr/>
      <dgm:t>
        <a:bodyPr/>
        <a:lstStyle/>
        <a:p>
          <a:endParaRPr lang="en-US"/>
        </a:p>
      </dgm:t>
    </dgm:pt>
    <dgm:pt modelId="{9E3E3486-008B-496A-A903-CF5E6739E86B}" type="sibTrans" cxnId="{A98AE214-9BAC-450C-B6B1-28BC71AE032F}">
      <dgm:prSet/>
      <dgm:spPr/>
      <dgm:t>
        <a:bodyPr/>
        <a:lstStyle/>
        <a:p>
          <a:endParaRPr lang="en-US"/>
        </a:p>
      </dgm:t>
    </dgm:pt>
    <dgm:pt modelId="{2C1D4E45-E9D8-40B3-919B-5C189D2DF1E7}" type="pres">
      <dgm:prSet presAssocID="{3AC88F02-C1DC-4C62-85B9-3BD93EBEFF51}" presName="linear" presStyleCnt="0">
        <dgm:presLayoutVars>
          <dgm:animLvl val="lvl"/>
          <dgm:resizeHandles val="exact"/>
        </dgm:presLayoutVars>
      </dgm:prSet>
      <dgm:spPr/>
    </dgm:pt>
    <dgm:pt modelId="{CD28F8FE-4B51-4C67-8165-890D092938B8}" type="pres">
      <dgm:prSet presAssocID="{B7CDE886-54B3-489C-B463-2B9FBB8280CA}" presName="parentText" presStyleLbl="node1" presStyleIdx="0" presStyleCnt="3">
        <dgm:presLayoutVars>
          <dgm:chMax val="0"/>
          <dgm:bulletEnabled val="1"/>
        </dgm:presLayoutVars>
      </dgm:prSet>
      <dgm:spPr/>
    </dgm:pt>
    <dgm:pt modelId="{F2C40A47-6F61-4007-8F1C-8711882D0BAE}" type="pres">
      <dgm:prSet presAssocID="{DB0279B4-2B63-48B3-B152-4A999DDE6BAE}" presName="spacer" presStyleCnt="0"/>
      <dgm:spPr/>
    </dgm:pt>
    <dgm:pt modelId="{31929381-05EA-44AF-95E8-104621412246}" type="pres">
      <dgm:prSet presAssocID="{F35CF469-089E-4A8E-9081-C1C9F9A8D4EF}" presName="parentText" presStyleLbl="node1" presStyleIdx="1" presStyleCnt="3">
        <dgm:presLayoutVars>
          <dgm:chMax val="0"/>
          <dgm:bulletEnabled val="1"/>
        </dgm:presLayoutVars>
      </dgm:prSet>
      <dgm:spPr/>
    </dgm:pt>
    <dgm:pt modelId="{792239D4-CEE8-49D9-88D1-77F8F4371F1F}" type="pres">
      <dgm:prSet presAssocID="{E28167AA-D04A-4A54-B533-915174ED4D42}" presName="spacer" presStyleCnt="0"/>
      <dgm:spPr/>
    </dgm:pt>
    <dgm:pt modelId="{21B7EA02-B4D3-441A-8F2F-7DCAC6E9CAA0}" type="pres">
      <dgm:prSet presAssocID="{A41001B9-72D1-4A7A-983F-BC6B74D2829C}" presName="parentText" presStyleLbl="node1" presStyleIdx="2" presStyleCnt="3">
        <dgm:presLayoutVars>
          <dgm:chMax val="0"/>
          <dgm:bulletEnabled val="1"/>
        </dgm:presLayoutVars>
      </dgm:prSet>
      <dgm:spPr/>
    </dgm:pt>
  </dgm:ptLst>
  <dgm:cxnLst>
    <dgm:cxn modelId="{EA8A7902-8847-4F91-BBB2-994CF87DC048}" type="presOf" srcId="{B7CDE886-54B3-489C-B463-2B9FBB8280CA}" destId="{CD28F8FE-4B51-4C67-8165-890D092938B8}" srcOrd="0" destOrd="0" presId="urn:microsoft.com/office/officeart/2005/8/layout/vList2"/>
    <dgm:cxn modelId="{A98AE214-9BAC-450C-B6B1-28BC71AE032F}" srcId="{3AC88F02-C1DC-4C62-85B9-3BD93EBEFF51}" destId="{A41001B9-72D1-4A7A-983F-BC6B74D2829C}" srcOrd="2" destOrd="0" parTransId="{452B1FE9-BB8F-4291-A051-1CCE235267BD}" sibTransId="{9E3E3486-008B-496A-A903-CF5E6739E86B}"/>
    <dgm:cxn modelId="{952FFB1B-EFF2-49BE-B8EE-700C536B59EE}" srcId="{3AC88F02-C1DC-4C62-85B9-3BD93EBEFF51}" destId="{B7CDE886-54B3-489C-B463-2B9FBB8280CA}" srcOrd="0" destOrd="0" parTransId="{FB7BDF3E-8165-4BA9-AB31-F4A8E43CDEA7}" sibTransId="{DB0279B4-2B63-48B3-B152-4A999DDE6BAE}"/>
    <dgm:cxn modelId="{E4602E4B-F620-44C8-90E4-555D4A7E8986}" srcId="{3AC88F02-C1DC-4C62-85B9-3BD93EBEFF51}" destId="{F35CF469-089E-4A8E-9081-C1C9F9A8D4EF}" srcOrd="1" destOrd="0" parTransId="{69418348-D42D-4762-B7E4-7F42E17C163F}" sibTransId="{E28167AA-D04A-4A54-B533-915174ED4D42}"/>
    <dgm:cxn modelId="{819B9651-21AA-4727-BCB0-6E9A35D70F31}" type="presOf" srcId="{F35CF469-089E-4A8E-9081-C1C9F9A8D4EF}" destId="{31929381-05EA-44AF-95E8-104621412246}" srcOrd="0" destOrd="0" presId="urn:microsoft.com/office/officeart/2005/8/layout/vList2"/>
    <dgm:cxn modelId="{2E887DC9-2F03-40BD-942A-29A02B47331E}" type="presOf" srcId="{3AC88F02-C1DC-4C62-85B9-3BD93EBEFF51}" destId="{2C1D4E45-E9D8-40B3-919B-5C189D2DF1E7}" srcOrd="0" destOrd="0" presId="urn:microsoft.com/office/officeart/2005/8/layout/vList2"/>
    <dgm:cxn modelId="{B90495E7-4910-43DC-9288-06D5770C1D32}" type="presOf" srcId="{A41001B9-72D1-4A7A-983F-BC6B74D2829C}" destId="{21B7EA02-B4D3-441A-8F2F-7DCAC6E9CAA0}" srcOrd="0" destOrd="0" presId="urn:microsoft.com/office/officeart/2005/8/layout/vList2"/>
    <dgm:cxn modelId="{BDFB4821-8FBA-4A4C-B5BC-343C657CA1F9}" type="presParOf" srcId="{2C1D4E45-E9D8-40B3-919B-5C189D2DF1E7}" destId="{CD28F8FE-4B51-4C67-8165-890D092938B8}" srcOrd="0" destOrd="0" presId="urn:microsoft.com/office/officeart/2005/8/layout/vList2"/>
    <dgm:cxn modelId="{5A508223-151A-4685-BCD7-5DFF88C1E9ED}" type="presParOf" srcId="{2C1D4E45-E9D8-40B3-919B-5C189D2DF1E7}" destId="{F2C40A47-6F61-4007-8F1C-8711882D0BAE}" srcOrd="1" destOrd="0" presId="urn:microsoft.com/office/officeart/2005/8/layout/vList2"/>
    <dgm:cxn modelId="{33C5C033-E48B-47F1-947C-08D7B9C2F30E}" type="presParOf" srcId="{2C1D4E45-E9D8-40B3-919B-5C189D2DF1E7}" destId="{31929381-05EA-44AF-95E8-104621412246}" srcOrd="2" destOrd="0" presId="urn:microsoft.com/office/officeart/2005/8/layout/vList2"/>
    <dgm:cxn modelId="{03C90B30-E1CB-47E3-A765-735925105F51}" type="presParOf" srcId="{2C1D4E45-E9D8-40B3-919B-5C189D2DF1E7}" destId="{792239D4-CEE8-49D9-88D1-77F8F4371F1F}" srcOrd="3" destOrd="0" presId="urn:microsoft.com/office/officeart/2005/8/layout/vList2"/>
    <dgm:cxn modelId="{FA9B7632-E92D-495A-AE06-F19A27E34053}" type="presParOf" srcId="{2C1D4E45-E9D8-40B3-919B-5C189D2DF1E7}" destId="{21B7EA02-B4D3-441A-8F2F-7DCAC6E9CAA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DEF07A-3BCE-49CB-90F5-FAA794A371C0}">
      <dsp:nvSpPr>
        <dsp:cNvPr id="0" name=""/>
        <dsp:cNvSpPr/>
      </dsp:nvSpPr>
      <dsp:spPr>
        <a:xfrm>
          <a:off x="0" y="453558"/>
          <a:ext cx="5927575" cy="84415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b="0" i="0" kern="1200" dirty="0"/>
            <a:t>Terminal</a:t>
          </a:r>
          <a:endParaRPr lang="en-US" sz="3700" kern="1200" dirty="0"/>
        </a:p>
      </dsp:txBody>
      <dsp:txXfrm>
        <a:off x="41208" y="494766"/>
        <a:ext cx="5845159" cy="761739"/>
      </dsp:txXfrm>
    </dsp:sp>
    <dsp:sp modelId="{F863466A-A24B-4ACA-82CC-7157DC6339C6}">
      <dsp:nvSpPr>
        <dsp:cNvPr id="0" name=""/>
        <dsp:cNvSpPr/>
      </dsp:nvSpPr>
      <dsp:spPr>
        <a:xfrm>
          <a:off x="0" y="1404274"/>
          <a:ext cx="5927575" cy="844155"/>
        </a:xfrm>
        <a:prstGeom prst="roundRect">
          <a:avLst/>
        </a:prstGeom>
        <a:gradFill rotWithShape="0">
          <a:gsLst>
            <a:gs pos="0">
              <a:schemeClr val="accent2">
                <a:hueOff val="-373734"/>
                <a:satOff val="-80"/>
                <a:lumOff val="1716"/>
                <a:alphaOff val="0"/>
                <a:satMod val="103000"/>
                <a:lumMod val="102000"/>
                <a:tint val="94000"/>
              </a:schemeClr>
            </a:gs>
            <a:gs pos="50000">
              <a:schemeClr val="accent2">
                <a:hueOff val="-373734"/>
                <a:satOff val="-80"/>
                <a:lumOff val="1716"/>
                <a:alphaOff val="0"/>
                <a:satMod val="110000"/>
                <a:lumMod val="100000"/>
                <a:shade val="100000"/>
              </a:schemeClr>
            </a:gs>
            <a:gs pos="100000">
              <a:schemeClr val="accent2">
                <a:hueOff val="-373734"/>
                <a:satOff val="-80"/>
                <a:lumOff val="171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b="0" i="0" kern="1200" dirty="0"/>
            <a:t>Transaction-Blocking Rules</a:t>
          </a:r>
          <a:endParaRPr lang="en-US" sz="3700" kern="1200" dirty="0"/>
        </a:p>
      </dsp:txBody>
      <dsp:txXfrm>
        <a:off x="41208" y="1445482"/>
        <a:ext cx="5845159" cy="761739"/>
      </dsp:txXfrm>
    </dsp:sp>
    <dsp:sp modelId="{A329577F-2810-460C-971D-A248CC46D3CA}">
      <dsp:nvSpPr>
        <dsp:cNvPr id="0" name=""/>
        <dsp:cNvSpPr/>
      </dsp:nvSpPr>
      <dsp:spPr>
        <a:xfrm>
          <a:off x="0" y="2354989"/>
          <a:ext cx="5927575" cy="844155"/>
        </a:xfrm>
        <a:prstGeom prst="roundRect">
          <a:avLst/>
        </a:prstGeom>
        <a:gradFill rotWithShape="0">
          <a:gsLst>
            <a:gs pos="0">
              <a:schemeClr val="accent2">
                <a:hueOff val="-747469"/>
                <a:satOff val="-160"/>
                <a:lumOff val="3431"/>
                <a:alphaOff val="0"/>
                <a:satMod val="103000"/>
                <a:lumMod val="102000"/>
                <a:tint val="94000"/>
              </a:schemeClr>
            </a:gs>
            <a:gs pos="50000">
              <a:schemeClr val="accent2">
                <a:hueOff val="-747469"/>
                <a:satOff val="-160"/>
                <a:lumOff val="3431"/>
                <a:alphaOff val="0"/>
                <a:satMod val="110000"/>
                <a:lumMod val="100000"/>
                <a:shade val="100000"/>
              </a:schemeClr>
            </a:gs>
            <a:gs pos="100000">
              <a:schemeClr val="accent2">
                <a:hueOff val="-747469"/>
                <a:satOff val="-160"/>
                <a:lumOff val="343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b="0" i="0" kern="1200"/>
            <a:t>Scoring Rules</a:t>
          </a:r>
          <a:endParaRPr lang="en-US" sz="3700" kern="1200"/>
        </a:p>
      </dsp:txBody>
      <dsp:txXfrm>
        <a:off x="41208" y="2396197"/>
        <a:ext cx="5845159" cy="761739"/>
      </dsp:txXfrm>
    </dsp:sp>
    <dsp:sp modelId="{BF529876-9352-44AD-A3BB-1A494A47BFD4}">
      <dsp:nvSpPr>
        <dsp:cNvPr id="0" name=""/>
        <dsp:cNvSpPr/>
      </dsp:nvSpPr>
      <dsp:spPr>
        <a:xfrm>
          <a:off x="0" y="3305704"/>
          <a:ext cx="5927575" cy="844155"/>
        </a:xfrm>
        <a:prstGeom prst="roundRect">
          <a:avLst/>
        </a:prstGeom>
        <a:gradFill rotWithShape="0">
          <a:gsLst>
            <a:gs pos="0">
              <a:schemeClr val="accent2">
                <a:hueOff val="-1121203"/>
                <a:satOff val="-240"/>
                <a:lumOff val="5147"/>
                <a:alphaOff val="0"/>
                <a:satMod val="103000"/>
                <a:lumMod val="102000"/>
                <a:tint val="94000"/>
              </a:schemeClr>
            </a:gs>
            <a:gs pos="50000">
              <a:schemeClr val="accent2">
                <a:hueOff val="-1121203"/>
                <a:satOff val="-240"/>
                <a:lumOff val="5147"/>
                <a:alphaOff val="0"/>
                <a:satMod val="110000"/>
                <a:lumMod val="100000"/>
                <a:shade val="100000"/>
              </a:schemeClr>
            </a:gs>
            <a:gs pos="100000">
              <a:schemeClr val="accent2">
                <a:hueOff val="-1121203"/>
                <a:satOff val="-240"/>
                <a:lumOff val="514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b="0" i="0" kern="1200"/>
            <a:t>Data-Driven Model (DDM)</a:t>
          </a:r>
          <a:endParaRPr lang="en-US" sz="3700" kern="1200"/>
        </a:p>
      </dsp:txBody>
      <dsp:txXfrm>
        <a:off x="41208" y="3346912"/>
        <a:ext cx="5845159" cy="761739"/>
      </dsp:txXfrm>
    </dsp:sp>
    <dsp:sp modelId="{B7FCB0B2-8218-40A7-A4C0-B3BA6BCDC573}">
      <dsp:nvSpPr>
        <dsp:cNvPr id="0" name=""/>
        <dsp:cNvSpPr/>
      </dsp:nvSpPr>
      <dsp:spPr>
        <a:xfrm>
          <a:off x="0" y="4256419"/>
          <a:ext cx="5927575" cy="844155"/>
        </a:xfrm>
        <a:prstGeom prst="roundRect">
          <a:avLst/>
        </a:prstGeom>
        <a:gradFill rotWithShape="0">
          <a:gsLst>
            <a:gs pos="0">
              <a:schemeClr val="accent2">
                <a:hueOff val="-1494937"/>
                <a:satOff val="-320"/>
                <a:lumOff val="6863"/>
                <a:alphaOff val="0"/>
                <a:satMod val="103000"/>
                <a:lumMod val="102000"/>
                <a:tint val="94000"/>
              </a:schemeClr>
            </a:gs>
            <a:gs pos="50000">
              <a:schemeClr val="accent2">
                <a:hueOff val="-1494937"/>
                <a:satOff val="-320"/>
                <a:lumOff val="6863"/>
                <a:alphaOff val="0"/>
                <a:satMod val="110000"/>
                <a:lumMod val="100000"/>
                <a:shade val="100000"/>
              </a:schemeClr>
            </a:gs>
            <a:gs pos="100000">
              <a:schemeClr val="accent2">
                <a:hueOff val="-1494937"/>
                <a:satOff val="-320"/>
                <a:lumOff val="686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b="0" i="0" kern="1200"/>
            <a:t>Investigators</a:t>
          </a:r>
          <a:endParaRPr lang="en-US" sz="3700" kern="1200"/>
        </a:p>
      </dsp:txBody>
      <dsp:txXfrm>
        <a:off x="41208" y="4297627"/>
        <a:ext cx="5845159" cy="7617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7E3A51-3A87-4260-B6F1-2F92FE2F56B4}">
      <dsp:nvSpPr>
        <dsp:cNvPr id="0" name=""/>
        <dsp:cNvSpPr/>
      </dsp:nvSpPr>
      <dsp:spPr>
        <a:xfrm>
          <a:off x="0" y="15462"/>
          <a:ext cx="10267950" cy="936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t>Credit card fraud detection (CCFD) is like looking for needles in a haystack.</a:t>
          </a:r>
          <a:endParaRPr lang="en-US" sz="2500" kern="1200" dirty="0"/>
        </a:p>
      </dsp:txBody>
      <dsp:txXfrm>
        <a:off x="45692" y="61154"/>
        <a:ext cx="10176566" cy="844616"/>
      </dsp:txXfrm>
    </dsp:sp>
    <dsp:sp modelId="{A06AD134-41F1-4476-BB5B-875100334AEA}">
      <dsp:nvSpPr>
        <dsp:cNvPr id="0" name=""/>
        <dsp:cNvSpPr/>
      </dsp:nvSpPr>
      <dsp:spPr>
        <a:xfrm>
          <a:off x="0" y="1023462"/>
          <a:ext cx="10267950" cy="93600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t>It is now almost impossible for a human specialist to detect meaningful patterns from transaction data.</a:t>
          </a:r>
          <a:endParaRPr lang="en-US" sz="2500" kern="1200" dirty="0"/>
        </a:p>
      </dsp:txBody>
      <dsp:txXfrm>
        <a:off x="45692" y="1069154"/>
        <a:ext cx="10176566" cy="844616"/>
      </dsp:txXfrm>
    </dsp:sp>
    <dsp:sp modelId="{EB74D323-076B-4E59-AD22-8854A12E7DB9}">
      <dsp:nvSpPr>
        <dsp:cNvPr id="0" name=""/>
        <dsp:cNvSpPr/>
      </dsp:nvSpPr>
      <dsp:spPr>
        <a:xfrm>
          <a:off x="0" y="2031462"/>
          <a:ext cx="10267950" cy="9360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t>ML techniques applied on CCFD are relatively new</a:t>
          </a:r>
          <a:endParaRPr lang="en-US" sz="2500" kern="1200" dirty="0"/>
        </a:p>
      </dsp:txBody>
      <dsp:txXfrm>
        <a:off x="45692" y="2077154"/>
        <a:ext cx="10176566" cy="8446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0C570B-56AB-4533-9EC3-F6835630C8A2}">
      <dsp:nvSpPr>
        <dsp:cNvPr id="0" name=""/>
        <dsp:cNvSpPr/>
      </dsp:nvSpPr>
      <dsp:spPr>
        <a:xfrm>
          <a:off x="0" y="25032"/>
          <a:ext cx="6214532" cy="326780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l" defTabSz="2178050">
            <a:lnSpc>
              <a:spcPct val="90000"/>
            </a:lnSpc>
            <a:spcBef>
              <a:spcPct val="0"/>
            </a:spcBef>
            <a:spcAft>
              <a:spcPct val="35000"/>
            </a:spcAft>
            <a:buNone/>
          </a:pPr>
          <a:r>
            <a:rPr lang="en-US" sz="4900" kern="1200" dirty="0"/>
            <a:t>How can we use Machine Learning techniques to detect fraud?</a:t>
          </a:r>
        </a:p>
      </dsp:txBody>
      <dsp:txXfrm>
        <a:off x="159521" y="184553"/>
        <a:ext cx="5895490" cy="294876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0D1E1F-77CF-4CC3-888B-B162B8E87E00}">
      <dsp:nvSpPr>
        <dsp:cNvPr id="0" name=""/>
        <dsp:cNvSpPr/>
      </dsp:nvSpPr>
      <dsp:spPr>
        <a:xfrm>
          <a:off x="0" y="680"/>
          <a:ext cx="5816750" cy="159134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4AE221-4249-4C75-8CE6-19CD60875F66}">
      <dsp:nvSpPr>
        <dsp:cNvPr id="0" name=""/>
        <dsp:cNvSpPr/>
      </dsp:nvSpPr>
      <dsp:spPr>
        <a:xfrm>
          <a:off x="481381" y="358732"/>
          <a:ext cx="875239" cy="8752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9D9237-BE1E-4912-9D36-BABE2BB1B524}">
      <dsp:nvSpPr>
        <dsp:cNvPr id="0" name=""/>
        <dsp:cNvSpPr/>
      </dsp:nvSpPr>
      <dsp:spPr>
        <a:xfrm>
          <a:off x="1838002" y="680"/>
          <a:ext cx="3978747" cy="1591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17" tIns="168417" rIns="168417" bIns="168417" numCol="1" spcCol="1270" anchor="ctr" anchorCtr="0">
          <a:noAutofit/>
        </a:bodyPr>
        <a:lstStyle/>
        <a:p>
          <a:pPr marL="0" lvl="0" indent="0" algn="l" defTabSz="1111250">
            <a:lnSpc>
              <a:spcPct val="90000"/>
            </a:lnSpc>
            <a:spcBef>
              <a:spcPct val="0"/>
            </a:spcBef>
            <a:spcAft>
              <a:spcPct val="35000"/>
            </a:spcAft>
            <a:buNone/>
          </a:pPr>
          <a:r>
            <a:rPr lang="en-US" sz="2500" kern="1200" dirty="0"/>
            <a:t>Cleaning &amp; defining the training set and test set</a:t>
          </a:r>
        </a:p>
      </dsp:txBody>
      <dsp:txXfrm>
        <a:off x="1838002" y="680"/>
        <a:ext cx="3978747" cy="1591344"/>
      </dsp:txXfrm>
    </dsp:sp>
    <dsp:sp modelId="{FE246475-ABB7-4314-8BE5-8BC5D70AC882}">
      <dsp:nvSpPr>
        <dsp:cNvPr id="0" name=""/>
        <dsp:cNvSpPr/>
      </dsp:nvSpPr>
      <dsp:spPr>
        <a:xfrm>
          <a:off x="0" y="1989860"/>
          <a:ext cx="5816750" cy="159134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826C5B-8AC7-47CC-81F8-7F0A23565B37}">
      <dsp:nvSpPr>
        <dsp:cNvPr id="0" name=""/>
        <dsp:cNvSpPr/>
      </dsp:nvSpPr>
      <dsp:spPr>
        <a:xfrm>
          <a:off x="481381" y="2347913"/>
          <a:ext cx="875239" cy="8752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3D4046-8983-47EF-BF67-348081F5A949}">
      <dsp:nvSpPr>
        <dsp:cNvPr id="0" name=""/>
        <dsp:cNvSpPr/>
      </dsp:nvSpPr>
      <dsp:spPr>
        <a:xfrm>
          <a:off x="1838002" y="1989860"/>
          <a:ext cx="3978747" cy="1591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17" tIns="168417" rIns="168417" bIns="168417" numCol="1" spcCol="1270" anchor="ctr" anchorCtr="0">
          <a:noAutofit/>
        </a:bodyPr>
        <a:lstStyle/>
        <a:p>
          <a:pPr marL="0" lvl="0" indent="0" algn="l" defTabSz="1111250">
            <a:lnSpc>
              <a:spcPct val="90000"/>
            </a:lnSpc>
            <a:spcBef>
              <a:spcPct val="0"/>
            </a:spcBef>
            <a:spcAft>
              <a:spcPct val="35000"/>
            </a:spcAft>
            <a:buNone/>
          </a:pPr>
          <a:r>
            <a:rPr lang="en-US" sz="2500" kern="1200" dirty="0"/>
            <a:t>Training prediction models</a:t>
          </a:r>
        </a:p>
      </dsp:txBody>
      <dsp:txXfrm>
        <a:off x="1838002" y="1989860"/>
        <a:ext cx="3978747" cy="1591344"/>
      </dsp:txXfrm>
    </dsp:sp>
    <dsp:sp modelId="{7FAC624C-626D-49CB-B2C4-EEE3D6336EF0}">
      <dsp:nvSpPr>
        <dsp:cNvPr id="0" name=""/>
        <dsp:cNvSpPr/>
      </dsp:nvSpPr>
      <dsp:spPr>
        <a:xfrm>
          <a:off x="0" y="3979041"/>
          <a:ext cx="5816750" cy="159134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06C837-D10E-4510-862B-B29056E347D8}">
      <dsp:nvSpPr>
        <dsp:cNvPr id="0" name=""/>
        <dsp:cNvSpPr/>
      </dsp:nvSpPr>
      <dsp:spPr>
        <a:xfrm>
          <a:off x="481381" y="4337093"/>
          <a:ext cx="875239" cy="87523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DF7A7A-AF6D-4CBD-957F-20AA6A0D215B}">
      <dsp:nvSpPr>
        <dsp:cNvPr id="0" name=""/>
        <dsp:cNvSpPr/>
      </dsp:nvSpPr>
      <dsp:spPr>
        <a:xfrm>
          <a:off x="1838002" y="3979041"/>
          <a:ext cx="3978747" cy="1591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17" tIns="168417" rIns="168417" bIns="168417" numCol="1" spcCol="1270" anchor="ctr" anchorCtr="0">
          <a:noAutofit/>
        </a:bodyPr>
        <a:lstStyle/>
        <a:p>
          <a:pPr marL="0" lvl="0" indent="0" algn="l" defTabSz="1111250">
            <a:lnSpc>
              <a:spcPct val="90000"/>
            </a:lnSpc>
            <a:spcBef>
              <a:spcPct val="0"/>
            </a:spcBef>
            <a:spcAft>
              <a:spcPct val="35000"/>
            </a:spcAft>
            <a:buNone/>
          </a:pPr>
          <a:r>
            <a:rPr lang="en-US" sz="2500" kern="1200" dirty="0"/>
            <a:t>Assessing the performance of the prediction models</a:t>
          </a:r>
        </a:p>
      </dsp:txBody>
      <dsp:txXfrm>
        <a:off x="1838002" y="3979041"/>
        <a:ext cx="3978747" cy="159134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04D60A-54D6-4D8C-9B80-BE1DEE0444D8}">
      <dsp:nvSpPr>
        <dsp:cNvPr id="0" name=""/>
        <dsp:cNvSpPr/>
      </dsp:nvSpPr>
      <dsp:spPr>
        <a:xfrm>
          <a:off x="0" y="1474233"/>
          <a:ext cx="5816750" cy="11844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4A7A1C-9622-42DC-891B-E6A5B26452F6}">
      <dsp:nvSpPr>
        <dsp:cNvPr id="0" name=""/>
        <dsp:cNvSpPr/>
      </dsp:nvSpPr>
      <dsp:spPr>
        <a:xfrm>
          <a:off x="290837" y="780512"/>
          <a:ext cx="4071725" cy="138744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3902" tIns="0" rIns="153902" bIns="0" numCol="1" spcCol="1270" anchor="ctr" anchorCtr="0">
          <a:noAutofit/>
        </a:bodyPr>
        <a:lstStyle/>
        <a:p>
          <a:pPr marL="0" lvl="0" indent="0" algn="l" defTabSz="2089150">
            <a:lnSpc>
              <a:spcPct val="90000"/>
            </a:lnSpc>
            <a:spcBef>
              <a:spcPct val="0"/>
            </a:spcBef>
            <a:spcAft>
              <a:spcPct val="35000"/>
            </a:spcAft>
            <a:buNone/>
          </a:pPr>
          <a:r>
            <a:rPr lang="en-US" sz="4700" b="0" i="0" kern="1200" baseline="0" dirty="0"/>
            <a:t>AUC ROC</a:t>
          </a:r>
          <a:endParaRPr lang="en-US" sz="4700" kern="1200" dirty="0"/>
        </a:p>
      </dsp:txBody>
      <dsp:txXfrm>
        <a:off x="358566" y="848241"/>
        <a:ext cx="3936267" cy="1251982"/>
      </dsp:txXfrm>
    </dsp:sp>
    <dsp:sp modelId="{14D7D2C8-687E-48E6-9F66-C7ED138F7722}">
      <dsp:nvSpPr>
        <dsp:cNvPr id="0" name=""/>
        <dsp:cNvSpPr/>
      </dsp:nvSpPr>
      <dsp:spPr>
        <a:xfrm>
          <a:off x="0" y="3606153"/>
          <a:ext cx="5816750" cy="1184400"/>
        </a:xfrm>
        <a:prstGeom prst="rect">
          <a:avLst/>
        </a:prstGeom>
        <a:solidFill>
          <a:schemeClr val="lt1">
            <a:alpha val="90000"/>
            <a:hueOff val="0"/>
            <a:satOff val="0"/>
            <a:lumOff val="0"/>
            <a:alphaOff val="0"/>
          </a:schemeClr>
        </a:solidFill>
        <a:ln w="12700" cap="flat" cmpd="sng" algn="ctr">
          <a:solidFill>
            <a:schemeClr val="accent5">
              <a:hueOff val="-1490765"/>
              <a:satOff val="-71"/>
              <a:lumOff val="-7255"/>
              <a:alphaOff val="0"/>
            </a:schemeClr>
          </a:solidFill>
          <a:prstDash val="solid"/>
          <a:miter lim="800000"/>
        </a:ln>
        <a:effectLst/>
      </dsp:spPr>
      <dsp:style>
        <a:lnRef idx="2">
          <a:scrgbClr r="0" g="0" b="0"/>
        </a:lnRef>
        <a:fillRef idx="1">
          <a:scrgbClr r="0" g="0" b="0"/>
        </a:fillRef>
        <a:effectRef idx="0">
          <a:scrgbClr r="0" g="0" b="0"/>
        </a:effectRef>
        <a:fontRef idx="minor"/>
      </dsp:style>
    </dsp:sp>
    <dsp:sp modelId="{583E728A-7161-4067-921E-6DBCE8B724D8}">
      <dsp:nvSpPr>
        <dsp:cNvPr id="0" name=""/>
        <dsp:cNvSpPr/>
      </dsp:nvSpPr>
      <dsp:spPr>
        <a:xfrm>
          <a:off x="290837" y="2912433"/>
          <a:ext cx="4071725" cy="1387440"/>
        </a:xfrm>
        <a:prstGeom prst="roundRect">
          <a:avLst/>
        </a:prstGeom>
        <a:solidFill>
          <a:schemeClr val="accent5">
            <a:hueOff val="-1490765"/>
            <a:satOff val="-71"/>
            <a:lumOff val="-72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3902" tIns="0" rIns="153902" bIns="0" numCol="1" spcCol="1270" anchor="ctr" anchorCtr="0">
          <a:noAutofit/>
        </a:bodyPr>
        <a:lstStyle/>
        <a:p>
          <a:pPr marL="0" lvl="0" indent="0" algn="l" defTabSz="2089150">
            <a:lnSpc>
              <a:spcPct val="90000"/>
            </a:lnSpc>
            <a:spcBef>
              <a:spcPct val="0"/>
            </a:spcBef>
            <a:spcAft>
              <a:spcPct val="35000"/>
            </a:spcAft>
            <a:buNone/>
          </a:pPr>
          <a:r>
            <a:rPr lang="en-US" sz="4700" kern="1200" baseline="0" dirty="0"/>
            <a:t>Average Precision (AP)  </a:t>
          </a:r>
          <a:endParaRPr lang="en-US" sz="4700" kern="1200" dirty="0"/>
        </a:p>
      </dsp:txBody>
      <dsp:txXfrm>
        <a:off x="358566" y="2980162"/>
        <a:ext cx="3936267" cy="125198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4CC32A-2BF3-42BF-89AD-A0602FC059E7}">
      <dsp:nvSpPr>
        <dsp:cNvPr id="0" name=""/>
        <dsp:cNvSpPr/>
      </dsp:nvSpPr>
      <dsp:spPr>
        <a:xfrm>
          <a:off x="0" y="11885"/>
          <a:ext cx="10268712" cy="75591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BDFBA9-3DC3-44FC-A68E-9FE7AB848BDC}">
      <dsp:nvSpPr>
        <dsp:cNvPr id="0" name=""/>
        <dsp:cNvSpPr/>
      </dsp:nvSpPr>
      <dsp:spPr>
        <a:xfrm>
          <a:off x="228665" y="171572"/>
          <a:ext cx="415754" cy="4157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B20D35-9EBD-4A04-BD2A-079D0A51F52E}">
      <dsp:nvSpPr>
        <dsp:cNvPr id="0" name=""/>
        <dsp:cNvSpPr/>
      </dsp:nvSpPr>
      <dsp:spPr>
        <a:xfrm>
          <a:off x="873084" y="1491"/>
          <a:ext cx="9395627" cy="755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01" tIns="80001" rIns="80001" bIns="80001" numCol="1" spcCol="1270" anchor="ctr" anchorCtr="0">
          <a:noAutofit/>
        </a:bodyPr>
        <a:lstStyle/>
        <a:p>
          <a:pPr marL="0" lvl="0" indent="0" algn="l" defTabSz="977900">
            <a:lnSpc>
              <a:spcPct val="100000"/>
            </a:lnSpc>
            <a:spcBef>
              <a:spcPct val="0"/>
            </a:spcBef>
            <a:spcAft>
              <a:spcPct val="35000"/>
            </a:spcAft>
            <a:buNone/>
          </a:pPr>
          <a:r>
            <a:rPr lang="en-US" sz="2200" kern="1200" dirty="0"/>
            <a:t>Logistic regression (LR)</a:t>
          </a:r>
        </a:p>
      </dsp:txBody>
      <dsp:txXfrm>
        <a:off x="873084" y="1491"/>
        <a:ext cx="9395627" cy="755917"/>
      </dsp:txXfrm>
    </dsp:sp>
    <dsp:sp modelId="{3F7D87FE-DA42-4F96-BDEA-D400D9410F2A}">
      <dsp:nvSpPr>
        <dsp:cNvPr id="0" name=""/>
        <dsp:cNvSpPr/>
      </dsp:nvSpPr>
      <dsp:spPr>
        <a:xfrm>
          <a:off x="0" y="946388"/>
          <a:ext cx="10268712" cy="75591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997273-41F8-4F49-AD53-3BF5466662A4}">
      <dsp:nvSpPr>
        <dsp:cNvPr id="0" name=""/>
        <dsp:cNvSpPr/>
      </dsp:nvSpPr>
      <dsp:spPr>
        <a:xfrm>
          <a:off x="228665" y="1116470"/>
          <a:ext cx="415754" cy="4157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FB4314-B75E-4EFB-9533-1D0E8B3CB018}">
      <dsp:nvSpPr>
        <dsp:cNvPr id="0" name=""/>
        <dsp:cNvSpPr/>
      </dsp:nvSpPr>
      <dsp:spPr>
        <a:xfrm>
          <a:off x="873084" y="946388"/>
          <a:ext cx="9395627" cy="755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01" tIns="80001" rIns="80001" bIns="80001" numCol="1" spcCol="1270" anchor="ctr" anchorCtr="0">
          <a:noAutofit/>
        </a:bodyPr>
        <a:lstStyle/>
        <a:p>
          <a:pPr marL="0" lvl="0" indent="0" algn="l" defTabSz="977900">
            <a:lnSpc>
              <a:spcPct val="100000"/>
            </a:lnSpc>
            <a:spcBef>
              <a:spcPct val="0"/>
            </a:spcBef>
            <a:spcAft>
              <a:spcPct val="35000"/>
            </a:spcAft>
            <a:buNone/>
          </a:pPr>
          <a:r>
            <a:rPr lang="en-US" sz="2200" kern="1200" dirty="0"/>
            <a:t>Decision Trees (DT)</a:t>
          </a:r>
        </a:p>
      </dsp:txBody>
      <dsp:txXfrm>
        <a:off x="873084" y="946388"/>
        <a:ext cx="9395627" cy="755917"/>
      </dsp:txXfrm>
    </dsp:sp>
    <dsp:sp modelId="{C3D3F6C5-6D9B-4310-A02A-7534E73B0241}">
      <dsp:nvSpPr>
        <dsp:cNvPr id="0" name=""/>
        <dsp:cNvSpPr/>
      </dsp:nvSpPr>
      <dsp:spPr>
        <a:xfrm>
          <a:off x="0" y="1891285"/>
          <a:ext cx="10268712" cy="75591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4A5CF9-D809-4F0D-9DE3-AF65092FD9F1}">
      <dsp:nvSpPr>
        <dsp:cNvPr id="0" name=""/>
        <dsp:cNvSpPr/>
      </dsp:nvSpPr>
      <dsp:spPr>
        <a:xfrm>
          <a:off x="228665" y="2061367"/>
          <a:ext cx="415754" cy="41575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E593E3-6BEC-4458-8EB1-89F8E8439A81}">
      <dsp:nvSpPr>
        <dsp:cNvPr id="0" name=""/>
        <dsp:cNvSpPr/>
      </dsp:nvSpPr>
      <dsp:spPr>
        <a:xfrm>
          <a:off x="873084" y="1891285"/>
          <a:ext cx="9395627" cy="755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01" tIns="80001" rIns="80001" bIns="80001" numCol="1" spcCol="1270" anchor="ctr" anchorCtr="0">
          <a:noAutofit/>
        </a:bodyPr>
        <a:lstStyle/>
        <a:p>
          <a:pPr marL="0" lvl="0" indent="0" algn="l" defTabSz="977900">
            <a:lnSpc>
              <a:spcPct val="100000"/>
            </a:lnSpc>
            <a:spcBef>
              <a:spcPct val="0"/>
            </a:spcBef>
            <a:spcAft>
              <a:spcPct val="35000"/>
            </a:spcAft>
            <a:buNone/>
          </a:pPr>
          <a:r>
            <a:rPr lang="en-US" sz="2200" kern="1200" dirty="0"/>
            <a:t>Random Forests (RF)</a:t>
          </a:r>
        </a:p>
      </dsp:txBody>
      <dsp:txXfrm>
        <a:off x="873084" y="1891285"/>
        <a:ext cx="9395627" cy="755917"/>
      </dsp:txXfrm>
    </dsp:sp>
    <dsp:sp modelId="{E34A46DE-74A3-4C90-8D95-E9F277C978AA}">
      <dsp:nvSpPr>
        <dsp:cNvPr id="0" name=""/>
        <dsp:cNvSpPr/>
      </dsp:nvSpPr>
      <dsp:spPr>
        <a:xfrm>
          <a:off x="0" y="2837674"/>
          <a:ext cx="10268712" cy="75591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C23AC8-0CEB-4DD7-8716-196D8992DE09}">
      <dsp:nvSpPr>
        <dsp:cNvPr id="0" name=""/>
        <dsp:cNvSpPr/>
      </dsp:nvSpPr>
      <dsp:spPr>
        <a:xfrm>
          <a:off x="228665" y="3006264"/>
          <a:ext cx="415754" cy="41575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39DA9F-D22D-4BCA-BAB8-6B5BCF1B75A3}">
      <dsp:nvSpPr>
        <dsp:cNvPr id="0" name=""/>
        <dsp:cNvSpPr/>
      </dsp:nvSpPr>
      <dsp:spPr>
        <a:xfrm>
          <a:off x="873084" y="2836182"/>
          <a:ext cx="9395627" cy="755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01" tIns="80001" rIns="80001" bIns="80001" numCol="1" spcCol="1270" anchor="ctr" anchorCtr="0">
          <a:noAutofit/>
        </a:bodyPr>
        <a:lstStyle/>
        <a:p>
          <a:pPr marL="0" lvl="0" indent="0" algn="l" defTabSz="977900">
            <a:lnSpc>
              <a:spcPct val="100000"/>
            </a:lnSpc>
            <a:spcBef>
              <a:spcPct val="0"/>
            </a:spcBef>
            <a:spcAft>
              <a:spcPct val="35000"/>
            </a:spcAft>
            <a:buNone/>
          </a:pPr>
          <a:r>
            <a:rPr lang="en-US" sz="2200" kern="1200" dirty="0" err="1"/>
            <a:t>XGBoost</a:t>
          </a:r>
          <a:r>
            <a:rPr lang="en-US" sz="2200" kern="1200" dirty="0"/>
            <a:t> (XGB)</a:t>
          </a:r>
        </a:p>
      </dsp:txBody>
      <dsp:txXfrm>
        <a:off x="873084" y="2836182"/>
        <a:ext cx="9395627" cy="75591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28F8FE-4B51-4C67-8165-890D092938B8}">
      <dsp:nvSpPr>
        <dsp:cNvPr id="0" name=""/>
        <dsp:cNvSpPr/>
      </dsp:nvSpPr>
      <dsp:spPr>
        <a:xfrm>
          <a:off x="0" y="129087"/>
          <a:ext cx="10268712" cy="10580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SG" sz="2800" kern="1200" dirty="0"/>
            <a:t>Using essential information on transactions can help us in ML</a:t>
          </a:r>
          <a:endParaRPr lang="en-US" sz="2800" kern="1200" dirty="0"/>
        </a:p>
      </dsp:txBody>
      <dsp:txXfrm>
        <a:off x="51649" y="180736"/>
        <a:ext cx="10165414" cy="954747"/>
      </dsp:txXfrm>
    </dsp:sp>
    <dsp:sp modelId="{31929381-05EA-44AF-95E8-104621412246}">
      <dsp:nvSpPr>
        <dsp:cNvPr id="0" name=""/>
        <dsp:cNvSpPr/>
      </dsp:nvSpPr>
      <dsp:spPr>
        <a:xfrm>
          <a:off x="0" y="1267773"/>
          <a:ext cx="10268712" cy="10580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SG" sz="2800" kern="1200" dirty="0"/>
            <a:t>Understand the different fraud scenarios – in the real-world this requires </a:t>
          </a:r>
          <a:r>
            <a:rPr lang="en-SG" sz="2800" u="sng" kern="1200" dirty="0"/>
            <a:t>domain knowledge</a:t>
          </a:r>
          <a:r>
            <a:rPr lang="en-SG" sz="2800" kern="1200" dirty="0"/>
            <a:t> and helps in feature engineering</a:t>
          </a:r>
          <a:endParaRPr lang="en-US" sz="2800" kern="1200" dirty="0"/>
        </a:p>
      </dsp:txBody>
      <dsp:txXfrm>
        <a:off x="51649" y="1319422"/>
        <a:ext cx="10165414" cy="954747"/>
      </dsp:txXfrm>
    </dsp:sp>
    <dsp:sp modelId="{21B7EA02-B4D3-441A-8F2F-7DCAC6E9CAA0}">
      <dsp:nvSpPr>
        <dsp:cNvPr id="0" name=""/>
        <dsp:cNvSpPr/>
      </dsp:nvSpPr>
      <dsp:spPr>
        <a:xfrm>
          <a:off x="0" y="2406458"/>
          <a:ext cx="10268712" cy="10580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SG" sz="2800" kern="1200" dirty="0"/>
            <a:t>The best model depends on the data available and metrics of importance</a:t>
          </a:r>
          <a:endParaRPr lang="en-US" sz="2800" kern="1200" dirty="0"/>
        </a:p>
      </dsp:txBody>
      <dsp:txXfrm>
        <a:off x="51649" y="2458107"/>
        <a:ext cx="10165414" cy="95474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7B58CC-067B-44F5-8B1A-BEECC7F7BFAD}" type="datetimeFigureOut">
              <a:rPr lang="en-SG" smtClean="0"/>
              <a:t>15/7/2021</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7711CE-A9EE-4BE1-962D-BFC6D80D9D78}" type="slidenum">
              <a:rPr lang="en-SG" smtClean="0"/>
              <a:t>‹#›</a:t>
            </a:fld>
            <a:endParaRPr lang="en-SG"/>
          </a:p>
        </p:txBody>
      </p:sp>
    </p:spTree>
    <p:extLst>
      <p:ext uri="{BB962C8B-B14F-4D97-AF65-F5344CB8AC3E}">
        <p14:creationId xmlns:p14="http://schemas.microsoft.com/office/powerpoint/2010/main" val="3266675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1</a:t>
            </a:fld>
            <a:endParaRPr lang="en-SG"/>
          </a:p>
        </p:txBody>
      </p:sp>
    </p:spTree>
    <p:extLst>
      <p:ext uri="{BB962C8B-B14F-4D97-AF65-F5344CB8AC3E}">
        <p14:creationId xmlns:p14="http://schemas.microsoft.com/office/powerpoint/2010/main" val="3278579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55F7C"/>
                </a:solidFill>
                <a:effectLst/>
                <a:latin typeface="Open Sans" panose="020B0604020202020204" pitchFamily="34" charset="0"/>
              </a:rPr>
              <a:t>According to a survey in Singapore as of December 2019, approximately 77 percent of the respondents in the country stated that they have used credit cards as payment method for their online purchases at least once in the last three months. Other popular payment methods among respondents were direct debit and mobile wallet, such as </a:t>
            </a:r>
            <a:r>
              <a:rPr lang="en-US" b="0" i="0" dirty="0" err="1">
                <a:solidFill>
                  <a:srgbClr val="455F7C"/>
                </a:solidFill>
                <a:effectLst/>
                <a:latin typeface="Open Sans" panose="020B0604020202020204" pitchFamily="34" charset="0"/>
              </a:rPr>
              <a:t>Paypal</a:t>
            </a:r>
            <a:r>
              <a:rPr lang="en-US" b="0" i="0" dirty="0">
                <a:solidFill>
                  <a:srgbClr val="455F7C"/>
                </a:solidFill>
                <a:effectLst/>
                <a:latin typeface="Open Sans" panose="020B0604020202020204" pitchFamily="34" charset="0"/>
              </a:rPr>
              <a:t>, Starhub's </a:t>
            </a:r>
            <a:r>
              <a:rPr lang="en-US" b="0" i="0" dirty="0" err="1">
                <a:solidFill>
                  <a:srgbClr val="455F7C"/>
                </a:solidFill>
                <a:effectLst/>
                <a:latin typeface="Open Sans" panose="020B0604020202020204" pitchFamily="34" charset="0"/>
              </a:rPr>
              <a:t>SmartWallet</a:t>
            </a:r>
            <a:r>
              <a:rPr lang="en-US" b="0" i="0" dirty="0">
                <a:solidFill>
                  <a:srgbClr val="455F7C"/>
                </a:solidFill>
                <a:effectLst/>
                <a:latin typeface="Open Sans" panose="020B0604020202020204" pitchFamily="34" charset="0"/>
              </a:rPr>
              <a:t> and DBS' </a:t>
            </a:r>
            <a:r>
              <a:rPr lang="en-US" b="0" i="0" dirty="0" err="1">
                <a:solidFill>
                  <a:srgbClr val="455F7C"/>
                </a:solidFill>
                <a:effectLst/>
                <a:latin typeface="Open Sans" panose="020B0604020202020204" pitchFamily="34" charset="0"/>
              </a:rPr>
              <a:t>Paylah</a:t>
            </a:r>
            <a:r>
              <a:rPr lang="en-US" b="0" i="0" dirty="0">
                <a:solidFill>
                  <a:srgbClr val="455F7C"/>
                </a:solidFill>
                <a:effectLst/>
                <a:latin typeface="Open Sans" panose="020B0604020202020204" pitchFamily="34" charset="0"/>
              </a:rPr>
              <a:t>.</a:t>
            </a:r>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3</a:t>
            </a:fld>
            <a:endParaRPr lang="en-SG"/>
          </a:p>
        </p:txBody>
      </p:sp>
    </p:spTree>
    <p:extLst>
      <p:ext uri="{BB962C8B-B14F-4D97-AF65-F5344CB8AC3E}">
        <p14:creationId xmlns:p14="http://schemas.microsoft.com/office/powerpoint/2010/main" val="3591560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55F7C"/>
                </a:solidFill>
                <a:effectLst/>
                <a:latin typeface="Open Sans" panose="020B0604020202020204" pitchFamily="34" charset="0"/>
              </a:rPr>
              <a:t>According to a survey in Singapore as of December 2019, approximately 77 percent of the respondents in the country stated that they have used credit cards as payment method for their online purchases at least once in the last three months. Other popular payment methods among respondents were direct debit and mobile wallet, such as </a:t>
            </a:r>
            <a:r>
              <a:rPr lang="en-US" b="0" i="0" dirty="0" err="1">
                <a:solidFill>
                  <a:srgbClr val="455F7C"/>
                </a:solidFill>
                <a:effectLst/>
                <a:latin typeface="Open Sans" panose="020B0604020202020204" pitchFamily="34" charset="0"/>
              </a:rPr>
              <a:t>Paypal</a:t>
            </a:r>
            <a:r>
              <a:rPr lang="en-US" b="0" i="0" dirty="0">
                <a:solidFill>
                  <a:srgbClr val="455F7C"/>
                </a:solidFill>
                <a:effectLst/>
                <a:latin typeface="Open Sans" panose="020B0604020202020204" pitchFamily="34" charset="0"/>
              </a:rPr>
              <a:t>, Starhub's </a:t>
            </a:r>
            <a:r>
              <a:rPr lang="en-US" b="0" i="0" dirty="0" err="1">
                <a:solidFill>
                  <a:srgbClr val="455F7C"/>
                </a:solidFill>
                <a:effectLst/>
                <a:latin typeface="Open Sans" panose="020B0604020202020204" pitchFamily="34" charset="0"/>
              </a:rPr>
              <a:t>SmartWallet</a:t>
            </a:r>
            <a:r>
              <a:rPr lang="en-US" b="0" i="0" dirty="0">
                <a:solidFill>
                  <a:srgbClr val="455F7C"/>
                </a:solidFill>
                <a:effectLst/>
                <a:latin typeface="Open Sans" panose="020B0604020202020204" pitchFamily="34" charset="0"/>
              </a:rPr>
              <a:t> and DBS' </a:t>
            </a:r>
            <a:r>
              <a:rPr lang="en-US" b="0" i="0" dirty="0" err="1">
                <a:solidFill>
                  <a:srgbClr val="455F7C"/>
                </a:solidFill>
                <a:effectLst/>
                <a:latin typeface="Open Sans" panose="020B0604020202020204" pitchFamily="34" charset="0"/>
              </a:rPr>
              <a:t>Paylah</a:t>
            </a:r>
            <a:r>
              <a:rPr lang="en-US" b="0" i="0" dirty="0">
                <a:solidFill>
                  <a:srgbClr val="455F7C"/>
                </a:solidFill>
                <a:effectLst/>
                <a:latin typeface="Open Sans" panose="020B0604020202020204" pitchFamily="34" charset="0"/>
              </a:rPr>
              <a:t>.</a:t>
            </a:r>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4</a:t>
            </a:fld>
            <a:endParaRPr lang="en-SG"/>
          </a:p>
        </p:txBody>
      </p:sp>
    </p:spTree>
    <p:extLst>
      <p:ext uri="{BB962C8B-B14F-4D97-AF65-F5344CB8AC3E}">
        <p14:creationId xmlns:p14="http://schemas.microsoft.com/office/powerpoint/2010/main" val="3627089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defTabSz="914400">
              <a:lnSpc>
                <a:spcPct val="101000"/>
              </a:lnSpc>
              <a:spcBef>
                <a:spcPts val="700"/>
              </a:spcBef>
              <a:spcAft>
                <a:spcPts val="700"/>
              </a:spcAft>
              <a:buFont typeface="Arial" panose="020B0604020202020204" pitchFamily="34" charset="0"/>
              <a:buChar char="•"/>
            </a:pPr>
            <a:r>
              <a:rPr lang="en-US" sz="1200" spc="50" dirty="0">
                <a:solidFill>
                  <a:srgbClr val="333333"/>
                </a:solidFill>
                <a:latin typeface="Lato"/>
              </a:rPr>
              <a:t>Card-present (CP) scenarios - refer to scenarios where a physical card is needed, such as transactions at a store (also referred to as a point-of-sale - POS) or transactions at a cashpoint (for instance at an automated teller machine - ATM).</a:t>
            </a:r>
          </a:p>
          <a:p>
            <a:pPr marL="457200" indent="-457200" defTabSz="914400">
              <a:lnSpc>
                <a:spcPct val="101000"/>
              </a:lnSpc>
              <a:spcBef>
                <a:spcPts val="700"/>
              </a:spcBef>
              <a:spcAft>
                <a:spcPts val="700"/>
              </a:spcAft>
              <a:buFont typeface="Arial" panose="020B0604020202020204" pitchFamily="34" charset="0"/>
              <a:buChar char="•"/>
            </a:pPr>
            <a:r>
              <a:rPr lang="en-US" sz="1200" spc="50" dirty="0">
                <a:solidFill>
                  <a:srgbClr val="333333"/>
                </a:solidFill>
                <a:latin typeface="Lato"/>
              </a:rPr>
              <a:t>Card-not-present (CNP) scenarios, refers to scenarios where a physical card does not need to be used, which encompasses payments performed on the Internet, by phone, or by mail.</a:t>
            </a:r>
            <a:endParaRPr lang="en-SG" sz="1200" spc="50" dirty="0">
              <a:solidFill>
                <a:srgbClr val="333333"/>
              </a:solidFill>
              <a:latin typeface="Lato"/>
            </a:endParaRPr>
          </a:p>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5</a:t>
            </a:fld>
            <a:endParaRPr lang="en-SG"/>
          </a:p>
        </p:txBody>
      </p:sp>
    </p:spTree>
    <p:extLst>
      <p:ext uri="{BB962C8B-B14F-4D97-AF65-F5344CB8AC3E}">
        <p14:creationId xmlns:p14="http://schemas.microsoft.com/office/powerpoint/2010/main" val="3219816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defTabSz="914400">
              <a:lnSpc>
                <a:spcPct val="101000"/>
              </a:lnSpc>
              <a:spcBef>
                <a:spcPts val="700"/>
              </a:spcBef>
              <a:spcAft>
                <a:spcPts val="700"/>
              </a:spcAft>
              <a:buFont typeface="Arial" panose="020B0604020202020204" pitchFamily="34" charset="0"/>
              <a:buChar char="•"/>
            </a:pPr>
            <a:r>
              <a:rPr lang="en-US" sz="1200" spc="50" dirty="0">
                <a:solidFill>
                  <a:srgbClr val="333333"/>
                </a:solidFill>
                <a:latin typeface="Lato"/>
              </a:rPr>
              <a:t>Card-present (CP) scenarios - refer to scenarios where a physical card is needed, such as transactions at a store (also referred to as a point-of-sale - POS) or transactions at a cashpoint (for instance at an automated teller machine - ATM).</a:t>
            </a:r>
          </a:p>
          <a:p>
            <a:pPr marL="457200" indent="-457200" defTabSz="914400">
              <a:lnSpc>
                <a:spcPct val="101000"/>
              </a:lnSpc>
              <a:spcBef>
                <a:spcPts val="700"/>
              </a:spcBef>
              <a:spcAft>
                <a:spcPts val="700"/>
              </a:spcAft>
              <a:buFont typeface="Arial" panose="020B0604020202020204" pitchFamily="34" charset="0"/>
              <a:buChar char="•"/>
            </a:pPr>
            <a:r>
              <a:rPr lang="en-US" sz="1200" spc="50" dirty="0">
                <a:solidFill>
                  <a:srgbClr val="333333"/>
                </a:solidFill>
                <a:latin typeface="Lato"/>
              </a:rPr>
              <a:t>Card-not-present (CNP) scenarios, refers to scenarios where a physical card does not need to be used, which encompasses payments performed on the Internet, by phone, or by mail.</a:t>
            </a:r>
            <a:endParaRPr lang="en-SG" sz="1200" spc="50" dirty="0">
              <a:solidFill>
                <a:srgbClr val="333333"/>
              </a:solidFill>
              <a:latin typeface="Lato"/>
            </a:endParaRPr>
          </a:p>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6</a:t>
            </a:fld>
            <a:endParaRPr lang="en-SG"/>
          </a:p>
        </p:txBody>
      </p:sp>
    </p:spTree>
    <p:extLst>
      <p:ext uri="{BB962C8B-B14F-4D97-AF65-F5344CB8AC3E}">
        <p14:creationId xmlns:p14="http://schemas.microsoft.com/office/powerpoint/2010/main" val="5272363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55F7C"/>
                </a:solidFill>
                <a:effectLst/>
                <a:latin typeface="Open Sans" panose="020B0604020202020204" pitchFamily="34" charset="0"/>
              </a:rPr>
              <a:t>According to a survey in Singapore as of December 2019, approximately 77 percent of the respondents in the country stated that they have used credit cards as payment method for their online purchases at least once in the last three months. Other popular payment methods among respondents were direct debit and mobile wallet, such as </a:t>
            </a:r>
            <a:r>
              <a:rPr lang="en-US" b="0" i="0" dirty="0" err="1">
                <a:solidFill>
                  <a:srgbClr val="455F7C"/>
                </a:solidFill>
                <a:effectLst/>
                <a:latin typeface="Open Sans" panose="020B0604020202020204" pitchFamily="34" charset="0"/>
              </a:rPr>
              <a:t>Paypal</a:t>
            </a:r>
            <a:r>
              <a:rPr lang="en-US" b="0" i="0" dirty="0">
                <a:solidFill>
                  <a:srgbClr val="455F7C"/>
                </a:solidFill>
                <a:effectLst/>
                <a:latin typeface="Open Sans" panose="020B0604020202020204" pitchFamily="34" charset="0"/>
              </a:rPr>
              <a:t>, Starhub's </a:t>
            </a:r>
            <a:r>
              <a:rPr lang="en-US" b="0" i="0" dirty="0" err="1">
                <a:solidFill>
                  <a:srgbClr val="455F7C"/>
                </a:solidFill>
                <a:effectLst/>
                <a:latin typeface="Open Sans" panose="020B0604020202020204" pitchFamily="34" charset="0"/>
              </a:rPr>
              <a:t>SmartWallet</a:t>
            </a:r>
            <a:r>
              <a:rPr lang="en-US" b="0" i="0" dirty="0">
                <a:solidFill>
                  <a:srgbClr val="455F7C"/>
                </a:solidFill>
                <a:effectLst/>
                <a:latin typeface="Open Sans" panose="020B0604020202020204" pitchFamily="34" charset="0"/>
              </a:rPr>
              <a:t> and DBS' </a:t>
            </a:r>
            <a:r>
              <a:rPr lang="en-US" b="0" i="0" dirty="0" err="1">
                <a:solidFill>
                  <a:srgbClr val="455F7C"/>
                </a:solidFill>
                <a:effectLst/>
                <a:latin typeface="Open Sans" panose="020B0604020202020204" pitchFamily="34" charset="0"/>
              </a:rPr>
              <a:t>Paylah</a:t>
            </a:r>
            <a:r>
              <a:rPr lang="en-US" b="0" i="0" dirty="0">
                <a:solidFill>
                  <a:srgbClr val="455F7C"/>
                </a:solidFill>
                <a:effectLst/>
                <a:latin typeface="Open Sans" panose="020B0604020202020204" pitchFamily="34" charset="0"/>
              </a:rPr>
              <a:t>.</a:t>
            </a:r>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7</a:t>
            </a:fld>
            <a:endParaRPr lang="en-SG"/>
          </a:p>
        </p:txBody>
      </p:sp>
    </p:spTree>
    <p:extLst>
      <p:ext uri="{BB962C8B-B14F-4D97-AF65-F5344CB8AC3E}">
        <p14:creationId xmlns:p14="http://schemas.microsoft.com/office/powerpoint/2010/main" val="27373809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Lato"/>
              </a:rPr>
              <a:t>Credit card fraud detection (CCFD) is like looking for needles in a haystack. It requires to find, out of millions of daily transactions, which ones are fraudulent.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Lato"/>
              </a:rPr>
              <a:t>Due to the ever-increasing amount of data, it is now almost impossible for a human specialist to detect meaningful patterns from transaction data. For this reason, the use of machine learning techniques is now widespread in the field of fraud detection, where information extraction from large datasets is required</a:t>
            </a:r>
            <a:endParaRPr lang="en-SG" dirty="0"/>
          </a:p>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8</a:t>
            </a:fld>
            <a:endParaRPr lang="en-SG"/>
          </a:p>
        </p:txBody>
      </p:sp>
    </p:spTree>
    <p:extLst>
      <p:ext uri="{BB962C8B-B14F-4D97-AF65-F5344CB8AC3E}">
        <p14:creationId xmlns:p14="http://schemas.microsoft.com/office/powerpoint/2010/main" val="687554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Lato"/>
              </a:rPr>
              <a:t>Credit card fraud detection (CCFD) is like looking for needles in a haystack. It requires to find, out of millions of daily transactions, which ones are fraudulent. Due to the ever-increasing amount of data, it is now almost impossible for a human specialist to detect meaningful patterns from transaction data. For this reason, the use of machine learning techniques is now widespread in the field of fraud detection, where information extraction from large datasets is required</a:t>
            </a:r>
            <a:endParaRPr lang="en-SG" dirty="0"/>
          </a:p>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9</a:t>
            </a:fld>
            <a:endParaRPr lang="en-SG"/>
          </a:p>
        </p:txBody>
      </p:sp>
    </p:spTree>
    <p:extLst>
      <p:ext uri="{BB962C8B-B14F-4D97-AF65-F5344CB8AC3E}">
        <p14:creationId xmlns:p14="http://schemas.microsoft.com/office/powerpoint/2010/main" val="34480935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Lato"/>
              </a:rPr>
              <a:t>For obvious confidentiality reasons, real-world credit card transactions cannot be publicly shared. There exists only one publicly shared dataset, which was made available on Kaggle.</a:t>
            </a:r>
          </a:p>
          <a:p>
            <a:endParaRPr lang="en-US" b="0" i="0" dirty="0">
              <a:solidFill>
                <a:srgbClr val="333333"/>
              </a:solidFill>
              <a:effectLst/>
              <a:latin typeface="Lato"/>
            </a:endParaRPr>
          </a:p>
          <a:p>
            <a:r>
              <a:rPr lang="en-US" b="0" i="0" dirty="0">
                <a:solidFill>
                  <a:srgbClr val="333333"/>
                </a:solidFill>
                <a:effectLst/>
                <a:latin typeface="Lato"/>
              </a:rPr>
              <a:t>Despite its limitations (only two days of data, and obfuscated features), the dataset has been widely used in the research literature, and is one of the most upvoted and downloaded on Kaggle.</a:t>
            </a:r>
            <a:endParaRPr lang="en-SG" dirty="0"/>
          </a:p>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10</a:t>
            </a:fld>
            <a:endParaRPr lang="en-SG"/>
          </a:p>
        </p:txBody>
      </p:sp>
    </p:spTree>
    <p:extLst>
      <p:ext uri="{BB962C8B-B14F-4D97-AF65-F5344CB8AC3E}">
        <p14:creationId xmlns:p14="http://schemas.microsoft.com/office/powerpoint/2010/main" val="1193242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0" i="0" dirty="0">
                <a:solidFill>
                  <a:srgbClr val="333333"/>
                </a:solidFill>
                <a:effectLst/>
                <a:latin typeface="Lato"/>
              </a:rPr>
              <a:t>Our focus will be on the most essential features of a transaction. In essence, a payment card transaction consists of any amount paid to a merchant by a customer at a certain time. The six main features that </a:t>
            </a:r>
            <a:r>
              <a:rPr lang="en-US" b="0" i="0" dirty="0" err="1">
                <a:solidFill>
                  <a:srgbClr val="333333"/>
                </a:solidFill>
                <a:effectLst/>
                <a:latin typeface="Lato"/>
              </a:rPr>
              <a:t>summarise</a:t>
            </a:r>
            <a:r>
              <a:rPr lang="en-US" b="0" i="0" dirty="0">
                <a:solidFill>
                  <a:srgbClr val="333333"/>
                </a:solidFill>
                <a:effectLst/>
                <a:latin typeface="Lato"/>
              </a:rPr>
              <a:t> a transaction therefore are:</a:t>
            </a:r>
          </a:p>
          <a:p>
            <a:pPr algn="just">
              <a:buFont typeface="+mj-lt"/>
              <a:buAutoNum type="arabicPeriod"/>
            </a:pPr>
            <a:r>
              <a:rPr lang="en-US" b="0" i="0" dirty="0">
                <a:solidFill>
                  <a:srgbClr val="333333"/>
                </a:solidFill>
                <a:effectLst/>
                <a:latin typeface="Lato"/>
              </a:rPr>
              <a:t>The transaction ID: A unique identifier for the transaction</a:t>
            </a:r>
          </a:p>
          <a:p>
            <a:pPr algn="just">
              <a:buFont typeface="+mj-lt"/>
              <a:buAutoNum type="arabicPeriod"/>
            </a:pPr>
            <a:r>
              <a:rPr lang="en-US" b="0" i="0" dirty="0">
                <a:solidFill>
                  <a:srgbClr val="333333"/>
                </a:solidFill>
                <a:effectLst/>
                <a:latin typeface="Lato"/>
              </a:rPr>
              <a:t>The date and time: Date and time at which the transaction occurs</a:t>
            </a:r>
          </a:p>
          <a:p>
            <a:pPr algn="just">
              <a:buFont typeface="+mj-lt"/>
              <a:buAutoNum type="arabicPeriod"/>
            </a:pPr>
            <a:r>
              <a:rPr lang="en-US" b="0" i="0" dirty="0">
                <a:solidFill>
                  <a:srgbClr val="333333"/>
                </a:solidFill>
                <a:effectLst/>
                <a:latin typeface="Lato"/>
              </a:rPr>
              <a:t>The customer ID: The identifier for the customer. Each customer has a unique identifier</a:t>
            </a:r>
          </a:p>
          <a:p>
            <a:pPr algn="just">
              <a:buFont typeface="+mj-lt"/>
              <a:buAutoNum type="arabicPeriod"/>
            </a:pPr>
            <a:r>
              <a:rPr lang="en-US" b="0" i="0" dirty="0">
                <a:solidFill>
                  <a:srgbClr val="333333"/>
                </a:solidFill>
                <a:effectLst/>
                <a:latin typeface="Lato"/>
              </a:rPr>
              <a:t>The terminal ID: The identifier for the merchant (or more precisely the terminal). Each terminal has a unique identifier</a:t>
            </a:r>
          </a:p>
          <a:p>
            <a:pPr algn="just">
              <a:buFont typeface="+mj-lt"/>
              <a:buAutoNum type="arabicPeriod"/>
            </a:pPr>
            <a:r>
              <a:rPr lang="en-US" b="0" i="0" dirty="0">
                <a:solidFill>
                  <a:srgbClr val="333333"/>
                </a:solidFill>
                <a:effectLst/>
                <a:latin typeface="Lato"/>
              </a:rPr>
              <a:t>The transaction amount: The amount of the transaction.</a:t>
            </a:r>
          </a:p>
          <a:p>
            <a:pPr algn="just">
              <a:buFont typeface="+mj-lt"/>
              <a:buAutoNum type="arabicPeriod"/>
            </a:pPr>
            <a:r>
              <a:rPr lang="en-US" b="0" i="0" dirty="0">
                <a:solidFill>
                  <a:srgbClr val="333333"/>
                </a:solidFill>
                <a:effectLst/>
                <a:latin typeface="Lato"/>
              </a:rPr>
              <a:t>The fraud label: A binary variable, with the value </a:t>
            </a:r>
            <a:r>
              <a:rPr lang="en-US" b="0" i="0" u="none" strike="noStrike" dirty="0">
                <a:solidFill>
                  <a:srgbClr val="333333"/>
                </a:solidFill>
                <a:effectLst/>
                <a:latin typeface="MathJax_Main"/>
              </a:rPr>
              <a:t>0</a:t>
            </a:r>
            <a:r>
              <a:rPr lang="en-US" b="0" i="0" u="none" strike="noStrike" dirty="0">
                <a:solidFill>
                  <a:srgbClr val="333333"/>
                </a:solidFill>
                <a:effectLst/>
                <a:latin typeface="Lato"/>
              </a:rPr>
              <a:t>0</a:t>
            </a:r>
            <a:r>
              <a:rPr lang="en-US" b="0" i="0" dirty="0">
                <a:solidFill>
                  <a:srgbClr val="333333"/>
                </a:solidFill>
                <a:effectLst/>
                <a:latin typeface="Lato"/>
              </a:rPr>
              <a:t> for a legitimate transaction, or the value </a:t>
            </a:r>
            <a:r>
              <a:rPr lang="en-US" b="0" i="0" u="none" strike="noStrike" dirty="0">
                <a:solidFill>
                  <a:srgbClr val="333333"/>
                </a:solidFill>
                <a:effectLst/>
                <a:latin typeface="MathJax_Main"/>
              </a:rPr>
              <a:t>1</a:t>
            </a:r>
            <a:r>
              <a:rPr lang="en-US" b="0" i="0" u="none" strike="noStrike" dirty="0">
                <a:solidFill>
                  <a:srgbClr val="333333"/>
                </a:solidFill>
                <a:effectLst/>
                <a:latin typeface="Lato"/>
              </a:rPr>
              <a:t>1</a:t>
            </a:r>
            <a:r>
              <a:rPr lang="en-US" b="0" i="0" dirty="0">
                <a:solidFill>
                  <a:srgbClr val="333333"/>
                </a:solidFill>
                <a:effectLst/>
                <a:latin typeface="Lato"/>
              </a:rPr>
              <a:t> for a fraudulent transaction.</a:t>
            </a:r>
          </a:p>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11</a:t>
            </a:fld>
            <a:endParaRPr lang="en-SG"/>
          </a:p>
        </p:txBody>
      </p:sp>
    </p:spTree>
    <p:extLst>
      <p:ext uri="{BB962C8B-B14F-4D97-AF65-F5344CB8AC3E}">
        <p14:creationId xmlns:p14="http://schemas.microsoft.com/office/powerpoint/2010/main" val="2556324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Arial" panose="020B0604020202020204" pitchFamily="34" charset="0"/>
              <a:buChar char="•"/>
            </a:pPr>
            <a:r>
              <a:rPr lang="en-US" b="0" i="0" dirty="0">
                <a:solidFill>
                  <a:srgbClr val="333333"/>
                </a:solidFill>
                <a:effectLst/>
                <a:latin typeface="Lato"/>
              </a:rPr>
              <a:t>The simulated dataset generated in the previous section is simple. It only contains the essential features that characterize a payment card transaction. </a:t>
            </a:r>
          </a:p>
          <a:p>
            <a:pPr algn="just">
              <a:buFont typeface="Arial" panose="020B0604020202020204" pitchFamily="34" charset="0"/>
              <a:buChar char="•"/>
            </a:pPr>
            <a:r>
              <a:rPr lang="en-US" b="0" i="0" dirty="0">
                <a:solidFill>
                  <a:srgbClr val="333333"/>
                </a:solidFill>
                <a:effectLst/>
                <a:latin typeface="Lato"/>
              </a:rPr>
              <a:t>What each row essentially tells us is that, at 00:00:31, on the 1st of April 2018, a customer with ID 596 made a payment of a value of 57.19 to a merchant with ID 3156, and that the transaction was not fraudulent. </a:t>
            </a:r>
          </a:p>
          <a:p>
            <a:pPr algn="just">
              <a:buFont typeface="Arial" panose="020B0604020202020204" pitchFamily="34" charset="0"/>
              <a:buChar char="•"/>
            </a:pPr>
            <a:r>
              <a:rPr lang="en-US" b="0" i="0" dirty="0">
                <a:solidFill>
                  <a:srgbClr val="333333"/>
                </a:solidFill>
                <a:effectLst/>
                <a:latin typeface="Lato"/>
              </a:rPr>
              <a:t>Then, at 00:02:10, on the 1st of April 2018, a customer with ID 4961 made a payment of a value of 81.51 to a merchant with ID 3412, and that the transaction was not fraudulent. And so on. </a:t>
            </a:r>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12</a:t>
            </a:fld>
            <a:endParaRPr lang="en-SG"/>
          </a:p>
        </p:txBody>
      </p:sp>
    </p:spTree>
    <p:extLst>
      <p:ext uri="{BB962C8B-B14F-4D97-AF65-F5344CB8AC3E}">
        <p14:creationId xmlns:p14="http://schemas.microsoft.com/office/powerpoint/2010/main" val="326623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Arial" panose="020B0604020202020204" pitchFamily="34" charset="0"/>
              <a:buChar char="•"/>
            </a:pPr>
            <a:r>
              <a:rPr lang="en-US" b="0" i="0" dirty="0">
                <a:solidFill>
                  <a:srgbClr val="333333"/>
                </a:solidFill>
                <a:effectLst/>
                <a:latin typeface="Lato"/>
              </a:rPr>
              <a:t>Scenario 1: Any transaction whose amount is more than 220 is a fraud. This scenario is not inspired by a real-world scenario. Rather, it will provide an obvious fraud pattern that should be detected by any baseline fraud detector. This will be useful to validate the implementation of a fraud detection technique.</a:t>
            </a:r>
          </a:p>
          <a:p>
            <a:pPr algn="just">
              <a:buFont typeface="Arial" panose="020B0604020202020204" pitchFamily="34" charset="0"/>
              <a:buChar char="•"/>
            </a:pPr>
            <a:r>
              <a:rPr lang="en-US" b="0" i="0" dirty="0">
                <a:solidFill>
                  <a:srgbClr val="333333"/>
                </a:solidFill>
                <a:effectLst/>
                <a:latin typeface="Lato"/>
              </a:rPr>
              <a:t>Scenario 2: Every day, a list of two terminals is drawn at random. All transactions on these terminals in the next 28 days will be marked as fraudulent. This scenario simulates a criminal use of a terminal, through phishing for example. Detecting this scenario will be possible by adding features that keep track of the number of fraudulent transactions on the terminal. Since the terminal is only compromised for 28 days, additional strategies that involve concept drift will need to be designed to efficiently deal with this scenario.</a:t>
            </a:r>
          </a:p>
          <a:p>
            <a:pPr algn="just">
              <a:buFont typeface="Arial" panose="020B0604020202020204" pitchFamily="34" charset="0"/>
              <a:buChar char="•"/>
            </a:pPr>
            <a:r>
              <a:rPr lang="en-US" b="0" i="0" dirty="0">
                <a:solidFill>
                  <a:srgbClr val="333333"/>
                </a:solidFill>
                <a:effectLst/>
                <a:latin typeface="Lato"/>
              </a:rPr>
              <a:t>Scenario 3: Every day, a list of 3 customers is drawn at random. In the next 14 days, 1/3 of their transactions have their amounts multiplied by 5 and marked as fraudulent. This scenario simulates a card-not-present fraud where the credentials of a customer have been leaked. The customer continues to make transactions, and transactions of higher values are made by the fraudster who tries to maximize their gains. Detecting this scenario will require adding features that keep track of the spending habits of the customer. As for scenario 2, since the card is only temporarily compromised, additional strategies that involve concept drift should also be designed.</a:t>
            </a:r>
          </a:p>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13</a:t>
            </a:fld>
            <a:endParaRPr lang="en-SG"/>
          </a:p>
        </p:txBody>
      </p:sp>
    </p:spTree>
    <p:extLst>
      <p:ext uri="{BB962C8B-B14F-4D97-AF65-F5344CB8AC3E}">
        <p14:creationId xmlns:p14="http://schemas.microsoft.com/office/powerpoint/2010/main" val="25575862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defTabSz="914400">
              <a:lnSpc>
                <a:spcPct val="101000"/>
              </a:lnSpc>
              <a:spcBef>
                <a:spcPts val="700"/>
              </a:spcBef>
              <a:spcAft>
                <a:spcPts val="700"/>
              </a:spcAft>
              <a:buFont typeface="Arial" panose="020B0604020202020204" pitchFamily="34" charset="0"/>
              <a:buChar char="•"/>
            </a:pPr>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14</a:t>
            </a:fld>
            <a:endParaRPr lang="en-SG"/>
          </a:p>
        </p:txBody>
      </p:sp>
    </p:spTree>
    <p:extLst>
      <p:ext uri="{BB962C8B-B14F-4D97-AF65-F5344CB8AC3E}">
        <p14:creationId xmlns:p14="http://schemas.microsoft.com/office/powerpoint/2010/main" val="26988510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Arial" panose="020B0604020202020204" pitchFamily="34" charset="0"/>
              <a:buNone/>
            </a:pPr>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15</a:t>
            </a:fld>
            <a:endParaRPr lang="en-SG"/>
          </a:p>
        </p:txBody>
      </p:sp>
    </p:spTree>
    <p:extLst>
      <p:ext uri="{BB962C8B-B14F-4D97-AF65-F5344CB8AC3E}">
        <p14:creationId xmlns:p14="http://schemas.microsoft.com/office/powerpoint/2010/main" val="28929833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mj-lt"/>
              <a:buAutoNum type="arabicPeriod"/>
            </a:pPr>
            <a:r>
              <a:rPr lang="en-US" b="0" i="0" dirty="0">
                <a:solidFill>
                  <a:srgbClr val="333333"/>
                </a:solidFill>
                <a:effectLst/>
                <a:latin typeface="Lato"/>
              </a:rPr>
              <a:t>Defining a training set (historical data) and a test set (new data). The training set is the subset of transactions that are used for training the prediction model. The test set is the subset of transactions that are used to assess the performance of the prediction model.</a:t>
            </a:r>
          </a:p>
          <a:p>
            <a:pPr algn="just">
              <a:buFont typeface="+mj-lt"/>
              <a:buAutoNum type="arabicPeriod"/>
            </a:pPr>
            <a:r>
              <a:rPr lang="en-US" b="0" i="0" dirty="0">
                <a:solidFill>
                  <a:srgbClr val="333333"/>
                </a:solidFill>
                <a:effectLst/>
                <a:latin typeface="Lato"/>
              </a:rPr>
              <a:t>Training a prediction model: This step consists in using the training set to find a prediction model able to predict whether a transaction is genuine or fraudulent. We will rely for this task on the Python </a:t>
            </a:r>
            <a:r>
              <a:rPr lang="en-US" b="0" i="0" dirty="0" err="1">
                <a:solidFill>
                  <a:srgbClr val="333333"/>
                </a:solidFill>
                <a:effectLst/>
                <a:latin typeface="Lato"/>
              </a:rPr>
              <a:t>sklearn</a:t>
            </a:r>
            <a:r>
              <a:rPr lang="en-US" b="0" i="0" dirty="0">
                <a:solidFill>
                  <a:srgbClr val="333333"/>
                </a:solidFill>
                <a:effectLst/>
                <a:latin typeface="Lato"/>
              </a:rPr>
              <a:t> library, which provides easy-to-use functions to train prediction models.</a:t>
            </a:r>
          </a:p>
          <a:p>
            <a:pPr algn="just">
              <a:buFont typeface="+mj-lt"/>
              <a:buAutoNum type="arabicPeriod"/>
            </a:pPr>
            <a:r>
              <a:rPr lang="en-US" b="0" i="0" dirty="0">
                <a:solidFill>
                  <a:srgbClr val="333333"/>
                </a:solidFill>
                <a:effectLst/>
                <a:latin typeface="Lato"/>
              </a:rPr>
              <a:t>Assessing the performance of the prediction model: The performance of the prediction model is assessed using the test set (new data).</a:t>
            </a:r>
          </a:p>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16</a:t>
            </a:fld>
            <a:endParaRPr lang="en-SG"/>
          </a:p>
        </p:txBody>
      </p:sp>
    </p:spTree>
    <p:extLst>
      <p:ext uri="{BB962C8B-B14F-4D97-AF65-F5344CB8AC3E}">
        <p14:creationId xmlns:p14="http://schemas.microsoft.com/office/powerpoint/2010/main" val="3320794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mj-lt"/>
              <a:buAutoNum type="arabicPeriod"/>
            </a:pPr>
            <a:r>
              <a:rPr lang="en-US" b="0" i="0" dirty="0">
                <a:solidFill>
                  <a:srgbClr val="333333"/>
                </a:solidFill>
                <a:effectLst/>
                <a:latin typeface="Lato"/>
              </a:rPr>
              <a:t>Defining a training set (historical data) and a test set (new data). The training set is the subset of transactions that are used for training the prediction model. The test set is the subset of transactions that are used to assess the performance of the prediction model.</a:t>
            </a:r>
          </a:p>
          <a:p>
            <a:pPr algn="just">
              <a:buFont typeface="+mj-lt"/>
              <a:buAutoNum type="arabicPeriod"/>
            </a:pPr>
            <a:r>
              <a:rPr lang="en-US" b="0" i="0" dirty="0">
                <a:solidFill>
                  <a:srgbClr val="333333"/>
                </a:solidFill>
                <a:effectLst/>
                <a:latin typeface="Lato"/>
              </a:rPr>
              <a:t>Training a prediction model: This step consists in using the training set to find a prediction model able to predict whether a transaction is genuine or fraudulent. We will rely for this task on the Python </a:t>
            </a:r>
            <a:r>
              <a:rPr lang="en-US" b="0" i="0" dirty="0" err="1">
                <a:solidFill>
                  <a:srgbClr val="333333"/>
                </a:solidFill>
                <a:effectLst/>
                <a:latin typeface="Lato"/>
              </a:rPr>
              <a:t>sklearn</a:t>
            </a:r>
            <a:r>
              <a:rPr lang="en-US" b="0" i="0" dirty="0">
                <a:solidFill>
                  <a:srgbClr val="333333"/>
                </a:solidFill>
                <a:effectLst/>
                <a:latin typeface="Lato"/>
              </a:rPr>
              <a:t> library, which provides easy-to-use functions to train prediction models.</a:t>
            </a:r>
          </a:p>
          <a:p>
            <a:pPr algn="just">
              <a:buFont typeface="+mj-lt"/>
              <a:buAutoNum type="arabicPeriod"/>
            </a:pPr>
            <a:r>
              <a:rPr lang="en-US" b="0" i="0" dirty="0">
                <a:solidFill>
                  <a:srgbClr val="333333"/>
                </a:solidFill>
                <a:effectLst/>
                <a:latin typeface="Lato"/>
              </a:rPr>
              <a:t>Assessing the performance of the prediction model: The performance of the prediction model is assessed using the test set (new data).</a:t>
            </a:r>
          </a:p>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17</a:t>
            </a:fld>
            <a:endParaRPr lang="en-SG"/>
          </a:p>
        </p:txBody>
      </p:sp>
    </p:spTree>
    <p:extLst>
      <p:ext uri="{BB962C8B-B14F-4D97-AF65-F5344CB8AC3E}">
        <p14:creationId xmlns:p14="http://schemas.microsoft.com/office/powerpoint/2010/main" val="26946092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Arial" panose="020B0604020202020204" pitchFamily="34" charset="0"/>
              <a:buChar char="•"/>
            </a:pPr>
            <a:r>
              <a:rPr lang="en-US" dirty="0">
                <a:latin typeface="Lato"/>
              </a:rPr>
              <a:t>The </a:t>
            </a:r>
            <a:r>
              <a:rPr lang="en-US" dirty="0">
                <a:solidFill>
                  <a:schemeClr val="accent2">
                    <a:lumMod val="60000"/>
                    <a:lumOff val="40000"/>
                  </a:schemeClr>
                </a:solidFill>
                <a:latin typeface="Lato"/>
              </a:rPr>
              <a:t>most straightforward way </a:t>
            </a:r>
            <a:r>
              <a:rPr lang="en-US" dirty="0">
                <a:latin typeface="Lato"/>
              </a:rPr>
              <a:t>to assess the performance of a binary classifier is by computing the </a:t>
            </a:r>
            <a:r>
              <a:rPr lang="en-US" dirty="0">
                <a:solidFill>
                  <a:schemeClr val="accent2">
                    <a:lumMod val="60000"/>
                    <a:lumOff val="40000"/>
                  </a:schemeClr>
                </a:solidFill>
                <a:latin typeface="Lato"/>
              </a:rPr>
              <a:t>accuracy score</a:t>
            </a:r>
            <a:r>
              <a:rPr lang="en-US" dirty="0">
                <a:latin typeface="Lato"/>
              </a:rPr>
              <a:t>. </a:t>
            </a:r>
          </a:p>
          <a:p>
            <a:pPr marL="457200" indent="-457200">
              <a:buFont typeface="Arial" panose="020B0604020202020204" pitchFamily="34" charset="0"/>
              <a:buChar char="•"/>
            </a:pPr>
            <a:r>
              <a:rPr lang="en-US" dirty="0">
                <a:latin typeface="Lato"/>
              </a:rPr>
              <a:t>It is usually a good indicator of a classifier performance for </a:t>
            </a:r>
            <a:r>
              <a:rPr lang="en-US" dirty="0">
                <a:solidFill>
                  <a:schemeClr val="accent2">
                    <a:lumMod val="60000"/>
                    <a:lumOff val="40000"/>
                  </a:schemeClr>
                </a:solidFill>
                <a:latin typeface="Lato"/>
              </a:rPr>
              <a:t>balanced datasets</a:t>
            </a:r>
            <a:r>
              <a:rPr lang="en-US" dirty="0">
                <a:latin typeface="Lato"/>
              </a:rPr>
              <a:t>.</a:t>
            </a:r>
          </a:p>
          <a:p>
            <a:pPr marL="457200" indent="-457200">
              <a:buFont typeface="Arial" panose="020B0604020202020204" pitchFamily="34" charset="0"/>
              <a:buChar char="•"/>
            </a:pPr>
            <a:r>
              <a:rPr lang="en-US" dirty="0">
                <a:latin typeface="Lato"/>
              </a:rPr>
              <a:t>However, for an </a:t>
            </a:r>
            <a:r>
              <a:rPr lang="en-US" dirty="0">
                <a:solidFill>
                  <a:schemeClr val="accent2">
                    <a:lumMod val="60000"/>
                    <a:lumOff val="40000"/>
                  </a:schemeClr>
                </a:solidFill>
                <a:latin typeface="Lato"/>
              </a:rPr>
              <a:t>imbalanced dataset </a:t>
            </a:r>
            <a:r>
              <a:rPr lang="en-US" dirty="0">
                <a:latin typeface="Lato"/>
              </a:rPr>
              <a:t>and a </a:t>
            </a:r>
            <a:r>
              <a:rPr lang="en-US" dirty="0">
                <a:solidFill>
                  <a:schemeClr val="accent2">
                    <a:lumMod val="60000"/>
                    <a:lumOff val="40000"/>
                  </a:schemeClr>
                </a:solidFill>
                <a:latin typeface="Lato"/>
              </a:rPr>
              <a:t>cost-sensitive problem </a:t>
            </a:r>
            <a:r>
              <a:rPr lang="en-US" dirty="0">
                <a:latin typeface="Lato"/>
              </a:rPr>
              <a:t>such as fraud detection, using the accuracy score has some shortcomings.</a:t>
            </a:r>
          </a:p>
          <a:p>
            <a:pPr marL="457200" indent="-457200">
              <a:buFont typeface="Arial" panose="020B0604020202020204" pitchFamily="34" charset="0"/>
              <a:buChar char="•"/>
            </a:pPr>
            <a:r>
              <a:rPr lang="en-US" dirty="0">
                <a:latin typeface="Lato"/>
              </a:rPr>
              <a:t>For example, accuracy as a metric on an imbalanced dataset would have a </a:t>
            </a:r>
            <a:r>
              <a:rPr lang="en-US" dirty="0">
                <a:solidFill>
                  <a:schemeClr val="accent2">
                    <a:lumMod val="60000"/>
                    <a:lumOff val="40000"/>
                  </a:schemeClr>
                </a:solidFill>
                <a:latin typeface="Lato"/>
              </a:rPr>
              <a:t>high accuracy</a:t>
            </a:r>
            <a:r>
              <a:rPr lang="en-US" dirty="0">
                <a:latin typeface="Lato"/>
              </a:rPr>
              <a:t> simply because </a:t>
            </a:r>
            <a:r>
              <a:rPr lang="en-US" dirty="0">
                <a:solidFill>
                  <a:schemeClr val="accent2">
                    <a:lumMod val="60000"/>
                    <a:lumOff val="40000"/>
                  </a:schemeClr>
                </a:solidFill>
                <a:latin typeface="Lato"/>
              </a:rPr>
              <a:t>most transactions are not fraudulent</a:t>
            </a:r>
            <a:r>
              <a:rPr lang="en-US" dirty="0">
                <a:latin typeface="Lato"/>
              </a:rPr>
              <a:t>.</a:t>
            </a:r>
          </a:p>
          <a:p>
            <a:pPr marL="457200" indent="-457200">
              <a:buFont typeface="Arial" panose="020B0604020202020204" pitchFamily="34" charset="0"/>
              <a:buChar char="•"/>
            </a:pPr>
            <a:r>
              <a:rPr lang="en-US" dirty="0">
                <a:latin typeface="Lato"/>
              </a:rPr>
              <a:t>Hence, </a:t>
            </a:r>
            <a:r>
              <a:rPr lang="en-US" dirty="0">
                <a:solidFill>
                  <a:srgbClr val="FF0000"/>
                </a:solidFill>
                <a:latin typeface="Lato"/>
              </a:rPr>
              <a:t>accuracy is a poor metric </a:t>
            </a:r>
            <a:r>
              <a:rPr lang="en-US" dirty="0">
                <a:latin typeface="Lato"/>
              </a:rPr>
              <a:t>in this case and this is widely acknowledged in the fraud detection literature, and other performance metrics are therefore commonly used.</a:t>
            </a:r>
          </a:p>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18</a:t>
            </a:fld>
            <a:endParaRPr lang="en-SG"/>
          </a:p>
        </p:txBody>
      </p:sp>
    </p:spTree>
    <p:extLst>
      <p:ext uri="{BB962C8B-B14F-4D97-AF65-F5344CB8AC3E}">
        <p14:creationId xmlns:p14="http://schemas.microsoft.com/office/powerpoint/2010/main" val="34551524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0" i="0" dirty="0">
                <a:solidFill>
                  <a:srgbClr val="333333"/>
                </a:solidFill>
                <a:effectLst/>
                <a:latin typeface="Lato"/>
              </a:rPr>
              <a:t>A fraud detection system aims at optimizing two conflicting goals. On the one hand, the system should maximize the detection of fraudulent transactions, a metric known as </a:t>
            </a:r>
            <a:r>
              <a:rPr lang="en-US" b="0" i="1" dirty="0">
                <a:solidFill>
                  <a:srgbClr val="333333"/>
                </a:solidFill>
                <a:effectLst/>
                <a:latin typeface="Lato"/>
              </a:rPr>
              <a:t>recall</a:t>
            </a:r>
            <a:r>
              <a:rPr lang="en-US" b="0" i="0" dirty="0">
                <a:solidFill>
                  <a:srgbClr val="333333"/>
                </a:solidFill>
                <a:effectLst/>
                <a:latin typeface="Lato"/>
              </a:rPr>
              <a:t>. On the other hand, it should also minimize the number of false positives, that is, the number of genuine transactions which are incorrectly predicted as frauds. Unless a perfect classifier can be designed, maximizing the recall comes at a cost in terms of false positives. The cost structure of a fraud detection system is however complex, if not impossible, to determine.</a:t>
            </a:r>
          </a:p>
          <a:p>
            <a:pPr algn="just"/>
            <a:r>
              <a:rPr lang="en-US" b="0" i="0" dirty="0">
                <a:solidFill>
                  <a:srgbClr val="333333"/>
                </a:solidFill>
                <a:effectLst/>
                <a:latin typeface="Lato"/>
              </a:rPr>
              <a:t>A common approach to circumvent this conflicting goal is to assess the recall and false positive rates for all possible decision thresholds. The resulting function is the Receiving Operating Characteristic (ROC) curve. The area under the ROC curve (known as AUC ROC) is the most widely used metric to assess the performance of fraud detection systems. This chapter highlighted that the AUC ROC is however poorly adapted to class imbalanced problems such as fraud detection. Two other metrics, the Average Precision (AP), and the daily Card Precision top-</a:t>
            </a:r>
            <a:r>
              <a:rPr lang="en-US" b="0" i="0" u="none" strike="noStrike" dirty="0">
                <a:solidFill>
                  <a:srgbClr val="333333"/>
                </a:solidFill>
                <a:effectLst/>
                <a:latin typeface="MathJax_Math-italic"/>
              </a:rPr>
              <a:t>k</a:t>
            </a:r>
            <a:r>
              <a:rPr lang="en-US" b="0" i="0" u="none" strike="noStrike" dirty="0">
                <a:solidFill>
                  <a:srgbClr val="333333"/>
                </a:solidFill>
                <a:effectLst/>
                <a:latin typeface="Lato"/>
              </a:rPr>
              <a:t>k</a:t>
            </a:r>
            <a:r>
              <a:rPr lang="en-US" b="0" i="0" dirty="0">
                <a:solidFill>
                  <a:srgbClr val="333333"/>
                </a:solidFill>
                <a:effectLst/>
                <a:latin typeface="Lato"/>
              </a:rPr>
              <a:t> (</a:t>
            </a:r>
            <a:r>
              <a:rPr lang="en-US" b="0" i="0" dirty="0" err="1">
                <a:solidFill>
                  <a:srgbClr val="333333"/>
                </a:solidFill>
                <a:effectLst/>
                <a:latin typeface="Lato"/>
              </a:rPr>
              <a:t>CP@k</a:t>
            </a:r>
            <a:r>
              <a:rPr lang="en-US" b="0" i="0" dirty="0">
                <a:solidFill>
                  <a:srgbClr val="333333"/>
                </a:solidFill>
                <a:effectLst/>
                <a:latin typeface="Lato"/>
              </a:rPr>
              <a:t>) were motivated to better characterize the performances of a CCFD.</a:t>
            </a:r>
          </a:p>
          <a:p>
            <a:pPr algn="just"/>
            <a:r>
              <a:rPr lang="en-US" b="0" i="0" dirty="0">
                <a:solidFill>
                  <a:srgbClr val="333333"/>
                </a:solidFill>
                <a:effectLst/>
                <a:latin typeface="Lato"/>
              </a:rPr>
              <a:t>The AUC ROC, AP, and </a:t>
            </a:r>
            <a:r>
              <a:rPr lang="en-US" b="0" i="0" dirty="0" err="1">
                <a:solidFill>
                  <a:srgbClr val="333333"/>
                </a:solidFill>
                <a:effectLst/>
                <a:latin typeface="Lato"/>
              </a:rPr>
              <a:t>CP@k</a:t>
            </a:r>
            <a:r>
              <a:rPr lang="en-US" b="0" i="0" dirty="0">
                <a:solidFill>
                  <a:srgbClr val="333333"/>
                </a:solidFill>
                <a:effectLst/>
                <a:latin typeface="Lato"/>
              </a:rPr>
              <a:t> are complementary. The AUC ROC reflects the accuracy of the detection system for all possible thresholds. The AP also reflects the accuracy of the detection system for all possible thresholds but gives more importance to regions of the decision thresholds where the precision remains high. Finally, the </a:t>
            </a:r>
            <a:r>
              <a:rPr lang="en-US" b="0" i="0" dirty="0" err="1">
                <a:solidFill>
                  <a:srgbClr val="333333"/>
                </a:solidFill>
                <a:effectLst/>
                <a:latin typeface="Lato"/>
              </a:rPr>
              <a:t>CP@k</a:t>
            </a:r>
            <a:r>
              <a:rPr lang="en-US" b="0" i="0" dirty="0">
                <a:solidFill>
                  <a:srgbClr val="333333"/>
                </a:solidFill>
                <a:effectLst/>
                <a:latin typeface="Lato"/>
              </a:rPr>
              <a:t> provides a more concrete metric for CCFD, by assessing the average daily precision of the system, assuming that a maximum of </a:t>
            </a:r>
            <a:r>
              <a:rPr lang="en-US" b="0" i="0" u="none" strike="noStrike" dirty="0">
                <a:solidFill>
                  <a:srgbClr val="333333"/>
                </a:solidFill>
                <a:effectLst/>
                <a:latin typeface="MathJax_Math-italic"/>
              </a:rPr>
              <a:t>k</a:t>
            </a:r>
            <a:r>
              <a:rPr lang="en-US" b="0" i="0" u="none" strike="noStrike" dirty="0">
                <a:solidFill>
                  <a:srgbClr val="333333"/>
                </a:solidFill>
                <a:effectLst/>
                <a:latin typeface="Lato"/>
              </a:rPr>
              <a:t>k</a:t>
            </a:r>
            <a:r>
              <a:rPr lang="en-US" b="0" i="0" dirty="0">
                <a:solidFill>
                  <a:srgbClr val="333333"/>
                </a:solidFill>
                <a:effectLst/>
                <a:latin typeface="Lato"/>
              </a:rPr>
              <a:t> cards can be checked daily by investigators.</a:t>
            </a:r>
          </a:p>
          <a:p>
            <a:pPr algn="just"/>
            <a:r>
              <a:rPr lang="en-US" b="0" i="0" dirty="0">
                <a:solidFill>
                  <a:srgbClr val="333333"/>
                </a:solidFill>
                <a:effectLst/>
                <a:latin typeface="Lato"/>
              </a:rPr>
              <a:t>Due to their complementarity, we recommend assessing the performance of a fraud system by using these three performance measures. All the techniques and methods presented in the next chapters will be assessed with these measures</a:t>
            </a:r>
          </a:p>
          <a:p>
            <a:pPr algn="just"/>
            <a:endParaRPr lang="en-US" b="0" i="0" dirty="0">
              <a:solidFill>
                <a:srgbClr val="333333"/>
              </a:solidFill>
              <a:effectLst/>
              <a:latin typeface="Lato"/>
            </a:endParaRPr>
          </a:p>
          <a:p>
            <a:pPr algn="just"/>
            <a:r>
              <a:rPr lang="en-US" b="0" i="0" dirty="0">
                <a:solidFill>
                  <a:srgbClr val="333333"/>
                </a:solidFill>
                <a:effectLst/>
                <a:latin typeface="Lato"/>
              </a:rPr>
              <a:t>Note that all three metrics provide values in the interval </a:t>
            </a:r>
            <a:r>
              <a:rPr lang="en-US" b="0" i="0" u="none" strike="noStrike" dirty="0">
                <a:solidFill>
                  <a:srgbClr val="333333"/>
                </a:solidFill>
                <a:effectLst/>
                <a:latin typeface="MathJax_Main"/>
              </a:rPr>
              <a:t>[0,1]</a:t>
            </a:r>
            <a:r>
              <a:rPr lang="en-US" b="0" i="0" u="none" strike="noStrike" dirty="0">
                <a:solidFill>
                  <a:srgbClr val="333333"/>
                </a:solidFill>
                <a:effectLst/>
                <a:latin typeface="Lato"/>
              </a:rPr>
              <a:t> </a:t>
            </a:r>
            <a:r>
              <a:rPr lang="en-US" b="0" i="0" dirty="0">
                <a:solidFill>
                  <a:srgbClr val="333333"/>
                </a:solidFill>
                <a:effectLst/>
                <a:latin typeface="Lato"/>
              </a:rPr>
              <a:t>and that higher values mean better performances.</a:t>
            </a:r>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19</a:t>
            </a:fld>
            <a:endParaRPr lang="en-SG"/>
          </a:p>
        </p:txBody>
      </p:sp>
    </p:spTree>
    <p:extLst>
      <p:ext uri="{BB962C8B-B14F-4D97-AF65-F5344CB8AC3E}">
        <p14:creationId xmlns:p14="http://schemas.microsoft.com/office/powerpoint/2010/main" val="23475482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Logistic regression (LR) &amp; Decision Trees (DT) - simplicity and interpretability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Random Forests (RF) &amp; Boosting, - currently considered to be state-of-the-art in terms of performance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Neural Networks/Deep Learning (NN/DL) - provide promising research directions.</a:t>
            </a:r>
          </a:p>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20</a:t>
            </a:fld>
            <a:endParaRPr lang="en-SG"/>
          </a:p>
        </p:txBody>
      </p:sp>
    </p:spTree>
    <p:extLst>
      <p:ext uri="{BB962C8B-B14F-4D97-AF65-F5344CB8AC3E}">
        <p14:creationId xmlns:p14="http://schemas.microsoft.com/office/powerpoint/2010/main" val="36775024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In a real world context we would want the precision of the number of transactions for investigators to check to be high too.</a:t>
            </a:r>
          </a:p>
        </p:txBody>
      </p:sp>
      <p:sp>
        <p:nvSpPr>
          <p:cNvPr id="4" name="Slide Number Placeholder 3"/>
          <p:cNvSpPr>
            <a:spLocks noGrp="1"/>
          </p:cNvSpPr>
          <p:nvPr>
            <p:ph type="sldNum" sz="quarter" idx="5"/>
          </p:nvPr>
        </p:nvSpPr>
        <p:spPr/>
        <p:txBody>
          <a:bodyPr/>
          <a:lstStyle/>
          <a:p>
            <a:fld id="{FA7711CE-A9EE-4BE1-962D-BFC6D80D9D78}" type="slidenum">
              <a:rPr lang="en-SG" smtClean="0"/>
              <a:t>23</a:t>
            </a:fld>
            <a:endParaRPr lang="en-SG"/>
          </a:p>
        </p:txBody>
      </p:sp>
    </p:spTree>
    <p:extLst>
      <p:ext uri="{BB962C8B-B14F-4D97-AF65-F5344CB8AC3E}">
        <p14:creationId xmlns:p14="http://schemas.microsoft.com/office/powerpoint/2010/main" val="26317091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Arial" panose="020B0604020202020204" pitchFamily="34" charset="0"/>
              <a:buChar char="•"/>
            </a:pPr>
            <a:r>
              <a:rPr lang="en-US" dirty="0">
                <a:latin typeface="Lato"/>
              </a:rPr>
              <a:t>The </a:t>
            </a:r>
            <a:r>
              <a:rPr lang="en-US" dirty="0">
                <a:solidFill>
                  <a:schemeClr val="accent2">
                    <a:lumMod val="60000"/>
                    <a:lumOff val="40000"/>
                  </a:schemeClr>
                </a:solidFill>
                <a:latin typeface="Lato"/>
              </a:rPr>
              <a:t>most straightforward way </a:t>
            </a:r>
            <a:r>
              <a:rPr lang="en-US" dirty="0">
                <a:latin typeface="Lato"/>
              </a:rPr>
              <a:t>to assess the performance of a binary classifier is by computing the </a:t>
            </a:r>
            <a:r>
              <a:rPr lang="en-US" dirty="0">
                <a:solidFill>
                  <a:schemeClr val="accent2">
                    <a:lumMod val="60000"/>
                    <a:lumOff val="40000"/>
                  </a:schemeClr>
                </a:solidFill>
                <a:latin typeface="Lato"/>
              </a:rPr>
              <a:t>accuracy score</a:t>
            </a:r>
            <a:r>
              <a:rPr lang="en-US" dirty="0">
                <a:latin typeface="Lato"/>
              </a:rPr>
              <a:t>. </a:t>
            </a:r>
          </a:p>
          <a:p>
            <a:pPr marL="457200" indent="-457200">
              <a:buFont typeface="Arial" panose="020B0604020202020204" pitchFamily="34" charset="0"/>
              <a:buChar char="•"/>
            </a:pPr>
            <a:r>
              <a:rPr lang="en-US" dirty="0">
                <a:latin typeface="Lato"/>
              </a:rPr>
              <a:t>It is usually a good indicator of a classifier performance for </a:t>
            </a:r>
            <a:r>
              <a:rPr lang="en-US" dirty="0">
                <a:solidFill>
                  <a:schemeClr val="accent2">
                    <a:lumMod val="60000"/>
                    <a:lumOff val="40000"/>
                  </a:schemeClr>
                </a:solidFill>
                <a:latin typeface="Lato"/>
              </a:rPr>
              <a:t>balanced datasets</a:t>
            </a:r>
            <a:r>
              <a:rPr lang="en-US" dirty="0">
                <a:latin typeface="Lato"/>
              </a:rPr>
              <a:t>.</a:t>
            </a:r>
          </a:p>
          <a:p>
            <a:pPr marL="457200" indent="-457200">
              <a:buFont typeface="Arial" panose="020B0604020202020204" pitchFamily="34" charset="0"/>
              <a:buChar char="•"/>
            </a:pPr>
            <a:r>
              <a:rPr lang="en-US" dirty="0">
                <a:latin typeface="Lato"/>
              </a:rPr>
              <a:t>However, for an </a:t>
            </a:r>
            <a:r>
              <a:rPr lang="en-US" dirty="0">
                <a:solidFill>
                  <a:schemeClr val="accent2">
                    <a:lumMod val="60000"/>
                    <a:lumOff val="40000"/>
                  </a:schemeClr>
                </a:solidFill>
                <a:latin typeface="Lato"/>
              </a:rPr>
              <a:t>imbalanced dataset </a:t>
            </a:r>
            <a:r>
              <a:rPr lang="en-US" dirty="0">
                <a:latin typeface="Lato"/>
              </a:rPr>
              <a:t>and a </a:t>
            </a:r>
            <a:r>
              <a:rPr lang="en-US" dirty="0">
                <a:solidFill>
                  <a:schemeClr val="accent2">
                    <a:lumMod val="60000"/>
                    <a:lumOff val="40000"/>
                  </a:schemeClr>
                </a:solidFill>
                <a:latin typeface="Lato"/>
              </a:rPr>
              <a:t>cost-sensitive problem </a:t>
            </a:r>
            <a:r>
              <a:rPr lang="en-US" dirty="0">
                <a:latin typeface="Lato"/>
              </a:rPr>
              <a:t>such as fraud detection, using the accuracy score has some shortcomings.</a:t>
            </a:r>
          </a:p>
          <a:p>
            <a:pPr marL="457200" indent="-457200">
              <a:buFont typeface="Arial" panose="020B0604020202020204" pitchFamily="34" charset="0"/>
              <a:buChar char="•"/>
            </a:pPr>
            <a:r>
              <a:rPr lang="en-US" dirty="0">
                <a:latin typeface="Lato"/>
              </a:rPr>
              <a:t>For example, accuracy as a metric on an imbalanced dataset would have a </a:t>
            </a:r>
            <a:r>
              <a:rPr lang="en-US" dirty="0">
                <a:solidFill>
                  <a:schemeClr val="accent2">
                    <a:lumMod val="60000"/>
                    <a:lumOff val="40000"/>
                  </a:schemeClr>
                </a:solidFill>
                <a:latin typeface="Lato"/>
              </a:rPr>
              <a:t>high accuracy</a:t>
            </a:r>
            <a:r>
              <a:rPr lang="en-US" dirty="0">
                <a:latin typeface="Lato"/>
              </a:rPr>
              <a:t> simply because </a:t>
            </a:r>
            <a:r>
              <a:rPr lang="en-US" dirty="0">
                <a:solidFill>
                  <a:schemeClr val="accent2">
                    <a:lumMod val="60000"/>
                    <a:lumOff val="40000"/>
                  </a:schemeClr>
                </a:solidFill>
                <a:latin typeface="Lato"/>
              </a:rPr>
              <a:t>most transactions are not fraudulent</a:t>
            </a:r>
            <a:r>
              <a:rPr lang="en-US" dirty="0">
                <a:latin typeface="Lato"/>
              </a:rPr>
              <a:t>.</a:t>
            </a:r>
          </a:p>
          <a:p>
            <a:pPr marL="457200" indent="-457200">
              <a:buFont typeface="Arial" panose="020B0604020202020204" pitchFamily="34" charset="0"/>
              <a:buChar char="•"/>
            </a:pPr>
            <a:r>
              <a:rPr lang="en-US" dirty="0">
                <a:latin typeface="Lato"/>
              </a:rPr>
              <a:t>Hence, </a:t>
            </a:r>
            <a:r>
              <a:rPr lang="en-US" dirty="0">
                <a:solidFill>
                  <a:srgbClr val="FF0000"/>
                </a:solidFill>
                <a:latin typeface="Lato"/>
              </a:rPr>
              <a:t>accuracy is a poor metric </a:t>
            </a:r>
            <a:r>
              <a:rPr lang="en-US" dirty="0">
                <a:latin typeface="Lato"/>
              </a:rPr>
              <a:t>in this case and this is widely acknowledged in the fraud detection literature, and other performance metrics are therefore commonly used.</a:t>
            </a:r>
          </a:p>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24</a:t>
            </a:fld>
            <a:endParaRPr lang="en-SG"/>
          </a:p>
        </p:txBody>
      </p:sp>
    </p:spTree>
    <p:extLst>
      <p:ext uri="{BB962C8B-B14F-4D97-AF65-F5344CB8AC3E}">
        <p14:creationId xmlns:p14="http://schemas.microsoft.com/office/powerpoint/2010/main" val="40618342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In simple words, this is a variation of a stratified k-fold validation. But with a time element.</a:t>
            </a:r>
          </a:p>
        </p:txBody>
      </p:sp>
      <p:sp>
        <p:nvSpPr>
          <p:cNvPr id="4" name="Slide Number Placeholder 3"/>
          <p:cNvSpPr>
            <a:spLocks noGrp="1"/>
          </p:cNvSpPr>
          <p:nvPr>
            <p:ph type="sldNum" sz="quarter" idx="5"/>
          </p:nvPr>
        </p:nvSpPr>
        <p:spPr/>
        <p:txBody>
          <a:bodyPr/>
          <a:lstStyle/>
          <a:p>
            <a:fld id="{FA7711CE-A9EE-4BE1-962D-BFC6D80D9D78}" type="slidenum">
              <a:rPr lang="en-SG" smtClean="0"/>
              <a:t>25</a:t>
            </a:fld>
            <a:endParaRPr lang="en-SG"/>
          </a:p>
        </p:txBody>
      </p:sp>
    </p:spTree>
    <p:extLst>
      <p:ext uri="{BB962C8B-B14F-4D97-AF65-F5344CB8AC3E}">
        <p14:creationId xmlns:p14="http://schemas.microsoft.com/office/powerpoint/2010/main" val="19261943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dirty="0">
                <a:solidFill>
                  <a:srgbClr val="333333"/>
                </a:solidFill>
                <a:latin typeface="Lato"/>
              </a:rPr>
              <a:t>The default parameters for each model class are:</a:t>
            </a:r>
          </a:p>
          <a:p>
            <a:pPr marL="800100" lvl="1" indent="-342900" eaLnBrk="0" fontAlgn="base" hangingPunct="0">
              <a:lnSpc>
                <a:spcPct val="100000"/>
              </a:lnSpc>
              <a:spcBef>
                <a:spcPct val="0"/>
              </a:spcBef>
              <a:spcAft>
                <a:spcPct val="0"/>
              </a:spcAft>
            </a:pPr>
            <a:r>
              <a:rPr lang="en-US" altLang="en-US" sz="2000" dirty="0">
                <a:solidFill>
                  <a:srgbClr val="333333"/>
                </a:solidFill>
                <a:latin typeface="Lato"/>
              </a:rPr>
              <a:t>Decision tree: </a:t>
            </a:r>
            <a:r>
              <a:rPr lang="en-US" altLang="en-US" sz="2000" dirty="0" err="1">
                <a:solidFill>
                  <a:srgbClr val="333333"/>
                </a:solidFill>
                <a:latin typeface="Lato"/>
              </a:rPr>
              <a:t>max_depth</a:t>
            </a:r>
            <a:r>
              <a:rPr lang="en-US" altLang="en-US" sz="2000" dirty="0">
                <a:solidFill>
                  <a:srgbClr val="333333"/>
                </a:solidFill>
                <a:latin typeface="Lato"/>
              </a:rPr>
              <a:t>=None.</a:t>
            </a:r>
          </a:p>
          <a:p>
            <a:pPr marL="800100" lvl="1" indent="-342900" eaLnBrk="0" fontAlgn="base" hangingPunct="0">
              <a:lnSpc>
                <a:spcPct val="100000"/>
              </a:lnSpc>
              <a:spcBef>
                <a:spcPct val="0"/>
              </a:spcBef>
              <a:spcAft>
                <a:spcPct val="0"/>
              </a:spcAft>
            </a:pPr>
            <a:r>
              <a:rPr lang="en-US" altLang="en-US" sz="2000" dirty="0">
                <a:solidFill>
                  <a:srgbClr val="333333"/>
                </a:solidFill>
                <a:latin typeface="Lato"/>
              </a:rPr>
              <a:t>Logistic regression: C=1.</a:t>
            </a:r>
          </a:p>
          <a:p>
            <a:pPr marL="800100" lvl="1" indent="-342900" eaLnBrk="0" fontAlgn="base" hangingPunct="0">
              <a:lnSpc>
                <a:spcPct val="100000"/>
              </a:lnSpc>
              <a:spcBef>
                <a:spcPct val="0"/>
              </a:spcBef>
              <a:spcAft>
                <a:spcPct val="0"/>
              </a:spcAft>
            </a:pPr>
            <a:r>
              <a:rPr lang="en-US" altLang="en-US" sz="2000" dirty="0">
                <a:solidFill>
                  <a:srgbClr val="333333"/>
                </a:solidFill>
                <a:latin typeface="Lato"/>
              </a:rPr>
              <a:t>Random forest: </a:t>
            </a:r>
            <a:r>
              <a:rPr lang="en-US" altLang="en-US" sz="2000" dirty="0" err="1">
                <a:solidFill>
                  <a:srgbClr val="333333"/>
                </a:solidFill>
                <a:latin typeface="Lato"/>
              </a:rPr>
              <a:t>n_estimators</a:t>
            </a:r>
            <a:r>
              <a:rPr lang="en-US" altLang="en-US" sz="2000" dirty="0">
                <a:solidFill>
                  <a:srgbClr val="333333"/>
                </a:solidFill>
                <a:latin typeface="Lato"/>
              </a:rPr>
              <a:t>=100, </a:t>
            </a:r>
            <a:r>
              <a:rPr lang="en-US" altLang="en-US" sz="2000" dirty="0" err="1">
                <a:solidFill>
                  <a:srgbClr val="333333"/>
                </a:solidFill>
                <a:latin typeface="Lato"/>
              </a:rPr>
              <a:t>max_depth</a:t>
            </a:r>
            <a:r>
              <a:rPr lang="en-US" altLang="en-US" sz="2000" dirty="0">
                <a:solidFill>
                  <a:srgbClr val="333333"/>
                </a:solidFill>
                <a:latin typeface="Lato"/>
              </a:rPr>
              <a:t>=None.</a:t>
            </a:r>
          </a:p>
          <a:p>
            <a:pPr marL="800100" lvl="1" indent="-342900" eaLnBrk="0" fontAlgn="base" hangingPunct="0">
              <a:lnSpc>
                <a:spcPct val="100000"/>
              </a:lnSpc>
              <a:spcBef>
                <a:spcPct val="0"/>
              </a:spcBef>
              <a:spcAft>
                <a:spcPct val="0"/>
              </a:spcAft>
            </a:pPr>
            <a:r>
              <a:rPr lang="en-US" altLang="en-US" sz="2000" dirty="0" err="1">
                <a:solidFill>
                  <a:srgbClr val="333333"/>
                </a:solidFill>
                <a:latin typeface="Lato"/>
              </a:rPr>
              <a:t>XGBoost</a:t>
            </a:r>
            <a:r>
              <a:rPr lang="en-US" altLang="en-US" sz="2000" dirty="0">
                <a:solidFill>
                  <a:srgbClr val="333333"/>
                </a:solidFill>
                <a:latin typeface="Lato"/>
              </a:rPr>
              <a:t>: </a:t>
            </a:r>
            <a:r>
              <a:rPr lang="en-US" altLang="en-US" sz="2000" dirty="0" err="1">
                <a:solidFill>
                  <a:srgbClr val="333333"/>
                </a:solidFill>
                <a:latin typeface="Lato"/>
              </a:rPr>
              <a:t>n_estimators</a:t>
            </a:r>
            <a:r>
              <a:rPr lang="en-US" altLang="en-US" sz="2000" dirty="0">
                <a:solidFill>
                  <a:srgbClr val="333333"/>
                </a:solidFill>
                <a:latin typeface="Lato"/>
              </a:rPr>
              <a:t>=100, </a:t>
            </a:r>
            <a:r>
              <a:rPr lang="en-US" altLang="en-US" sz="2000" dirty="0" err="1">
                <a:solidFill>
                  <a:srgbClr val="333333"/>
                </a:solidFill>
                <a:latin typeface="Lato"/>
              </a:rPr>
              <a:t>max_depth</a:t>
            </a:r>
            <a:r>
              <a:rPr lang="en-US" altLang="en-US" sz="2000" dirty="0">
                <a:solidFill>
                  <a:srgbClr val="333333"/>
                </a:solidFill>
                <a:latin typeface="Lato"/>
              </a:rPr>
              <a:t>=2, </a:t>
            </a:r>
            <a:r>
              <a:rPr lang="en-US" altLang="en-US" sz="2000" dirty="0" err="1">
                <a:solidFill>
                  <a:srgbClr val="333333"/>
                </a:solidFill>
                <a:latin typeface="Lato"/>
              </a:rPr>
              <a:t>learning_rate</a:t>
            </a:r>
            <a:r>
              <a:rPr lang="en-US" altLang="en-US" sz="2000" dirty="0">
                <a:solidFill>
                  <a:srgbClr val="333333"/>
                </a:solidFill>
                <a:latin typeface="Lato"/>
              </a:rPr>
              <a:t>=0.1</a:t>
            </a:r>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26</a:t>
            </a:fld>
            <a:endParaRPr lang="en-SG"/>
          </a:p>
        </p:txBody>
      </p:sp>
    </p:spTree>
    <p:extLst>
      <p:ext uri="{BB962C8B-B14F-4D97-AF65-F5344CB8AC3E}">
        <p14:creationId xmlns:p14="http://schemas.microsoft.com/office/powerpoint/2010/main" val="27707737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Arial" panose="020B0604020202020204" pitchFamily="34" charset="0"/>
              <a:buChar char="•"/>
            </a:pPr>
            <a:r>
              <a:rPr lang="en-US" b="1" i="0" dirty="0">
                <a:solidFill>
                  <a:srgbClr val="000000"/>
                </a:solidFill>
                <a:effectLst/>
                <a:latin typeface="Helvetica Neue"/>
              </a:rPr>
              <a:t>Similar</a:t>
            </a:r>
            <a:r>
              <a:rPr lang="en-US" b="0" i="0" dirty="0">
                <a:solidFill>
                  <a:srgbClr val="000000"/>
                </a:solidFill>
                <a:effectLst/>
                <a:latin typeface="Helvetica Neue"/>
              </a:rPr>
              <a:t> performances from </a:t>
            </a:r>
            <a:r>
              <a:rPr lang="en-US" b="1" i="0" dirty="0">
                <a:solidFill>
                  <a:srgbClr val="000000"/>
                </a:solidFill>
                <a:effectLst/>
                <a:latin typeface="Helvetica Neue"/>
              </a:rPr>
              <a:t>Logistic </a:t>
            </a:r>
            <a:r>
              <a:rPr lang="en-US" b="1" dirty="0">
                <a:solidFill>
                  <a:srgbClr val="000000"/>
                </a:solidFill>
                <a:latin typeface="Helvetica Neue"/>
              </a:rPr>
              <a:t>R</a:t>
            </a:r>
            <a:r>
              <a:rPr lang="en-US" b="1" i="0" dirty="0">
                <a:solidFill>
                  <a:srgbClr val="000000"/>
                </a:solidFill>
                <a:effectLst/>
                <a:latin typeface="Helvetica Neue"/>
              </a:rPr>
              <a:t>egression</a:t>
            </a:r>
            <a:r>
              <a:rPr lang="en-US" b="0" i="0" dirty="0">
                <a:solidFill>
                  <a:srgbClr val="000000"/>
                </a:solidFill>
                <a:effectLst/>
                <a:latin typeface="Helvetica Neue"/>
              </a:rPr>
              <a:t>, </a:t>
            </a:r>
            <a:r>
              <a:rPr lang="en-US" b="1" i="0" dirty="0">
                <a:solidFill>
                  <a:srgbClr val="000000"/>
                </a:solidFill>
                <a:effectLst/>
                <a:latin typeface="Helvetica Neue"/>
              </a:rPr>
              <a:t>Random </a:t>
            </a:r>
            <a:r>
              <a:rPr lang="en-US" b="1" dirty="0">
                <a:solidFill>
                  <a:srgbClr val="000000"/>
                </a:solidFill>
                <a:latin typeface="Helvetica Neue"/>
              </a:rPr>
              <a:t>F</a:t>
            </a:r>
            <a:r>
              <a:rPr lang="en-US" b="1" i="0" dirty="0">
                <a:solidFill>
                  <a:srgbClr val="000000"/>
                </a:solidFill>
                <a:effectLst/>
                <a:latin typeface="Helvetica Neue"/>
              </a:rPr>
              <a:t>orest</a:t>
            </a:r>
            <a:r>
              <a:rPr lang="en-US" b="0" i="0" dirty="0">
                <a:solidFill>
                  <a:srgbClr val="000000"/>
                </a:solidFill>
                <a:effectLst/>
                <a:latin typeface="Helvetica Neue"/>
              </a:rPr>
              <a:t>, and </a:t>
            </a:r>
            <a:r>
              <a:rPr lang="en-US" b="1" i="0" dirty="0" err="1">
                <a:solidFill>
                  <a:srgbClr val="000000"/>
                </a:solidFill>
                <a:effectLst/>
                <a:latin typeface="Helvetica Neue"/>
              </a:rPr>
              <a:t>XGBoost</a:t>
            </a:r>
            <a:r>
              <a:rPr lang="en-US" b="0" i="0" dirty="0">
                <a:solidFill>
                  <a:srgbClr val="000000"/>
                </a:solidFill>
                <a:effectLst/>
                <a:latin typeface="Helvetica Neue"/>
              </a:rPr>
              <a:t> in terms of </a:t>
            </a:r>
            <a:r>
              <a:rPr lang="en-US" b="1" i="0" dirty="0">
                <a:solidFill>
                  <a:srgbClr val="000000"/>
                </a:solidFill>
                <a:effectLst/>
                <a:latin typeface="Helvetica Neue"/>
              </a:rPr>
              <a:t>AUC ROC</a:t>
            </a:r>
          </a:p>
          <a:p>
            <a:pPr marL="457200" indent="-457200">
              <a:buFont typeface="Arial" panose="020B0604020202020204" pitchFamily="34" charset="0"/>
              <a:buChar char="•"/>
            </a:pPr>
            <a:r>
              <a:rPr lang="en-US" dirty="0">
                <a:solidFill>
                  <a:srgbClr val="333333"/>
                </a:solidFill>
                <a:latin typeface="Lato"/>
              </a:rPr>
              <a:t>The gap in terms of performance is most visible with the average precision metric.</a:t>
            </a:r>
            <a:endParaRPr lang="en-US" b="0" i="0" dirty="0">
              <a:solidFill>
                <a:srgbClr val="000000"/>
              </a:solidFill>
              <a:effectLst/>
              <a:latin typeface="Helvetica Neue"/>
            </a:endParaRPr>
          </a:p>
          <a:p>
            <a:pPr marL="457200" indent="-457200">
              <a:buFont typeface="Arial" panose="020B0604020202020204" pitchFamily="34" charset="0"/>
              <a:buChar char="•"/>
            </a:pPr>
            <a:r>
              <a:rPr lang="en-US" b="0" i="0" dirty="0">
                <a:solidFill>
                  <a:srgbClr val="333333"/>
                </a:solidFill>
                <a:effectLst/>
                <a:latin typeface="Lato"/>
              </a:rPr>
              <a:t>On this simulated dataset, </a:t>
            </a:r>
            <a:r>
              <a:rPr lang="en-US" b="1" i="0" dirty="0" err="1">
                <a:solidFill>
                  <a:schemeClr val="accent2">
                    <a:lumMod val="75000"/>
                  </a:schemeClr>
                </a:solidFill>
                <a:effectLst/>
                <a:latin typeface="Lato"/>
              </a:rPr>
              <a:t>XGBoost</a:t>
            </a:r>
            <a:r>
              <a:rPr lang="en-US" b="0" i="0" dirty="0">
                <a:solidFill>
                  <a:srgbClr val="333333"/>
                </a:solidFill>
                <a:effectLst/>
                <a:latin typeface="Lato"/>
              </a:rPr>
              <a:t> provides the highest performances, followed by random forest, logistic regression, and </a:t>
            </a:r>
            <a:r>
              <a:rPr lang="en-US" dirty="0">
                <a:solidFill>
                  <a:srgbClr val="333333"/>
                </a:solidFill>
                <a:latin typeface="Lato"/>
              </a:rPr>
              <a:t>finally decision trees which have the lowest performances.</a:t>
            </a:r>
          </a:p>
          <a:p>
            <a:pPr marL="457200" indent="-457200">
              <a:buFont typeface="Arial" panose="020B0604020202020204" pitchFamily="34" charset="0"/>
              <a:buChar char="•"/>
            </a:pPr>
            <a:r>
              <a:rPr lang="en-US" dirty="0">
                <a:solidFill>
                  <a:srgbClr val="333333"/>
                </a:solidFill>
                <a:latin typeface="Lato"/>
              </a:rPr>
              <a:t>In real world, you would probably have to test all out to find out which model gives the best result for that specific dataset.</a:t>
            </a:r>
          </a:p>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27</a:t>
            </a:fld>
            <a:endParaRPr lang="en-SG"/>
          </a:p>
        </p:txBody>
      </p:sp>
    </p:spTree>
    <p:extLst>
      <p:ext uri="{BB962C8B-B14F-4D97-AF65-F5344CB8AC3E}">
        <p14:creationId xmlns:p14="http://schemas.microsoft.com/office/powerpoint/2010/main" val="12133172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0" i="0" dirty="0">
                <a:solidFill>
                  <a:srgbClr val="333333"/>
                </a:solidFill>
                <a:effectLst/>
                <a:latin typeface="Lato"/>
              </a:rPr>
              <a:t>A common approach to circumvent this conflicting goal is to assess the recall and false positive rates for all possible decision thresholds. The resulting function is the Receiving Operating Characteristic (ROC) curve. The area under the ROC curve (known as AUC ROC) is the most widely used metric to assess the performance of fraud detection systems. This chapter highlighted that the AUC ROC is however poorly adapted to class imbalanced problems such as fraud detection. Two other metrics, the Average Precision (AP), and the daily Card Precision top-</a:t>
            </a:r>
            <a:r>
              <a:rPr lang="en-US" b="0" i="0" u="none" strike="noStrike" dirty="0">
                <a:solidFill>
                  <a:srgbClr val="333333"/>
                </a:solidFill>
                <a:effectLst/>
                <a:latin typeface="MathJax_Math-italic"/>
              </a:rPr>
              <a:t>k</a:t>
            </a:r>
            <a:r>
              <a:rPr lang="en-US" b="0" i="0" u="none" strike="noStrike" dirty="0">
                <a:solidFill>
                  <a:srgbClr val="333333"/>
                </a:solidFill>
                <a:effectLst/>
                <a:latin typeface="Lato"/>
              </a:rPr>
              <a:t>k</a:t>
            </a:r>
            <a:r>
              <a:rPr lang="en-US" b="0" i="0" dirty="0">
                <a:solidFill>
                  <a:srgbClr val="333333"/>
                </a:solidFill>
                <a:effectLst/>
                <a:latin typeface="Lato"/>
              </a:rPr>
              <a:t> (</a:t>
            </a:r>
            <a:r>
              <a:rPr lang="en-US" b="0" i="0" dirty="0" err="1">
                <a:solidFill>
                  <a:srgbClr val="333333"/>
                </a:solidFill>
                <a:effectLst/>
                <a:latin typeface="Lato"/>
              </a:rPr>
              <a:t>CP@k</a:t>
            </a:r>
            <a:r>
              <a:rPr lang="en-US" b="0" i="0" dirty="0">
                <a:solidFill>
                  <a:srgbClr val="333333"/>
                </a:solidFill>
                <a:effectLst/>
                <a:latin typeface="Lato"/>
              </a:rPr>
              <a:t>) were motivated to better characterize the performances of a CCFD.</a:t>
            </a:r>
          </a:p>
          <a:p>
            <a:pPr algn="just"/>
            <a:r>
              <a:rPr lang="en-US" b="0" i="0" dirty="0">
                <a:solidFill>
                  <a:srgbClr val="333333"/>
                </a:solidFill>
                <a:effectLst/>
                <a:latin typeface="Lato"/>
              </a:rPr>
              <a:t>The AUC ROC, AP, and </a:t>
            </a:r>
            <a:r>
              <a:rPr lang="en-US" b="0" i="0" dirty="0" err="1">
                <a:solidFill>
                  <a:srgbClr val="333333"/>
                </a:solidFill>
                <a:effectLst/>
                <a:latin typeface="Lato"/>
              </a:rPr>
              <a:t>CP@k</a:t>
            </a:r>
            <a:r>
              <a:rPr lang="en-US" b="0" i="0" dirty="0">
                <a:solidFill>
                  <a:srgbClr val="333333"/>
                </a:solidFill>
                <a:effectLst/>
                <a:latin typeface="Lato"/>
              </a:rPr>
              <a:t> are complementary. The AUC ROC reflects the accuracy of the detection system for all possible thresholds. The AP also reflects the accuracy of the detection system for all possible thresholds but gives more importance to regions of the decision thresholds where the precision remains high. Finally, the </a:t>
            </a:r>
            <a:r>
              <a:rPr lang="en-US" b="0" i="0" dirty="0" err="1">
                <a:solidFill>
                  <a:srgbClr val="333333"/>
                </a:solidFill>
                <a:effectLst/>
                <a:latin typeface="Lato"/>
              </a:rPr>
              <a:t>CP@k</a:t>
            </a:r>
            <a:r>
              <a:rPr lang="en-US" b="0" i="0" dirty="0">
                <a:solidFill>
                  <a:srgbClr val="333333"/>
                </a:solidFill>
                <a:effectLst/>
                <a:latin typeface="Lato"/>
              </a:rPr>
              <a:t> provides a more concrete metric for CCFD, by assessing the average daily precision of the system, assuming that a maximum of </a:t>
            </a:r>
            <a:r>
              <a:rPr lang="en-US" b="0" i="0" u="none" strike="noStrike" dirty="0">
                <a:solidFill>
                  <a:srgbClr val="333333"/>
                </a:solidFill>
                <a:effectLst/>
                <a:latin typeface="MathJax_Math-italic"/>
              </a:rPr>
              <a:t>k</a:t>
            </a:r>
            <a:r>
              <a:rPr lang="en-US" b="0" i="0" u="none" strike="noStrike" dirty="0">
                <a:solidFill>
                  <a:srgbClr val="333333"/>
                </a:solidFill>
                <a:effectLst/>
                <a:latin typeface="Lato"/>
              </a:rPr>
              <a:t>k</a:t>
            </a:r>
            <a:r>
              <a:rPr lang="en-US" b="0" i="0" dirty="0">
                <a:solidFill>
                  <a:srgbClr val="333333"/>
                </a:solidFill>
                <a:effectLst/>
                <a:latin typeface="Lato"/>
              </a:rPr>
              <a:t> cards can be checked daily by investigators.</a:t>
            </a:r>
          </a:p>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30</a:t>
            </a:fld>
            <a:endParaRPr lang="en-SG"/>
          </a:p>
        </p:txBody>
      </p:sp>
    </p:spTree>
    <p:extLst>
      <p:ext uri="{BB962C8B-B14F-4D97-AF65-F5344CB8AC3E}">
        <p14:creationId xmlns:p14="http://schemas.microsoft.com/office/powerpoint/2010/main" val="23831235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Lato"/>
              </a:rPr>
              <a:t>our real-world data are e-commerce transaction for Belgium, from 2018</a:t>
            </a:r>
          </a:p>
          <a:p>
            <a:endParaRPr lang="en-US" b="0" i="0" dirty="0">
              <a:solidFill>
                <a:srgbClr val="333333"/>
              </a:solidFill>
              <a:effectLst/>
              <a:latin typeface="Lato"/>
            </a:endParaRPr>
          </a:p>
          <a:p>
            <a:r>
              <a:rPr lang="en-US" b="0" i="0" dirty="0">
                <a:solidFill>
                  <a:srgbClr val="333333"/>
                </a:solidFill>
                <a:effectLst/>
                <a:latin typeface="Lato"/>
              </a:rPr>
              <a:t>https://fraud-detection-handbook.github.io/fraud-detection-handbook/Chapter_4_PerformanceMetrics/Assessment_RealWorldData.html</a:t>
            </a:r>
          </a:p>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31</a:t>
            </a:fld>
            <a:endParaRPr lang="en-SG"/>
          </a:p>
        </p:txBody>
      </p:sp>
    </p:spTree>
    <p:extLst>
      <p:ext uri="{BB962C8B-B14F-4D97-AF65-F5344CB8AC3E}">
        <p14:creationId xmlns:p14="http://schemas.microsoft.com/office/powerpoint/2010/main" val="6149828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32</a:t>
            </a:fld>
            <a:endParaRPr lang="en-SG"/>
          </a:p>
        </p:txBody>
      </p:sp>
    </p:spTree>
    <p:extLst>
      <p:ext uri="{BB962C8B-B14F-4D97-AF65-F5344CB8AC3E}">
        <p14:creationId xmlns:p14="http://schemas.microsoft.com/office/powerpoint/2010/main" val="704432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FA7711CE-A9EE-4BE1-962D-BFC6D80D9D78}" type="slidenum">
              <a:rPr lang="en-SG" smtClean="0"/>
              <a:t>33</a:t>
            </a:fld>
            <a:endParaRPr lang="en-SG"/>
          </a:p>
        </p:txBody>
      </p:sp>
    </p:spTree>
    <p:extLst>
      <p:ext uri="{BB962C8B-B14F-4D97-AF65-F5344CB8AC3E}">
        <p14:creationId xmlns:p14="http://schemas.microsoft.com/office/powerpoint/2010/main" val="1888362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A1C012-8297-4361-ACE8-A2509FB18911}"/>
              </a:ext>
            </a:extLst>
          </p:cNvPr>
          <p:cNvSpPr/>
          <p:nvPr/>
        </p:nvSpPr>
        <p:spPr>
          <a:xfrm>
            <a:off x="0" y="4206240"/>
            <a:ext cx="12192000" cy="2651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EC2572-8518-46FF-8F60-FE2963DF4A6E}"/>
              </a:ext>
            </a:extLst>
          </p:cNvPr>
          <p:cNvSpPr>
            <a:spLocks noGrp="1"/>
          </p:cNvSpPr>
          <p:nvPr>
            <p:ph type="ctrTitle"/>
          </p:nvPr>
        </p:nvSpPr>
        <p:spPr>
          <a:xfrm>
            <a:off x="960120" y="640080"/>
            <a:ext cx="10268712" cy="3227832"/>
          </a:xfrm>
        </p:spPr>
        <p:txBody>
          <a:bodyPr anchor="b">
            <a:normAutofit/>
          </a:bodyPr>
          <a:lstStyle>
            <a:lvl1pPr algn="ctr">
              <a:defRPr sz="8800" baseline="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A7A0C76A-7715-48A4-8CF5-14BBF61962A1}"/>
              </a:ext>
            </a:extLst>
          </p:cNvPr>
          <p:cNvSpPr>
            <a:spLocks noGrp="1"/>
          </p:cNvSpPr>
          <p:nvPr>
            <p:ph type="subTitle" idx="1"/>
          </p:nvPr>
        </p:nvSpPr>
        <p:spPr>
          <a:xfrm>
            <a:off x="960120" y="4526280"/>
            <a:ext cx="10268712" cy="1508760"/>
          </a:xfrm>
        </p:spPr>
        <p:txBody>
          <a:bodyPr>
            <a:normAutofit/>
          </a:bodyPr>
          <a:lstStyle>
            <a:lvl1pPr marL="0" indent="0" algn="ctr">
              <a:buNone/>
              <a:defRPr sz="3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Date Placeholder 10">
            <a:extLst>
              <a:ext uri="{FF2B5EF4-FFF2-40B4-BE49-F238E27FC236}">
                <a16:creationId xmlns:a16="http://schemas.microsoft.com/office/drawing/2014/main" id="{52D4EF84-F7DF-49C5-9285-301284ADB99A}"/>
              </a:ext>
            </a:extLst>
          </p:cNvPr>
          <p:cNvSpPr>
            <a:spLocks noGrp="1"/>
          </p:cNvSpPr>
          <p:nvPr>
            <p:ph type="dt" sz="half" idx="10"/>
          </p:nvPr>
        </p:nvSpPr>
        <p:spPr/>
        <p:txBody>
          <a:bodyPr/>
          <a:lstStyle>
            <a:lvl1pPr>
              <a:defRPr>
                <a:solidFill>
                  <a:schemeClr val="bg1"/>
                </a:solidFill>
              </a:defRPr>
            </a:lvl1pPr>
          </a:lstStyle>
          <a:p>
            <a:pPr algn="r"/>
            <a:fld id="{A37D6D71-8B28-4ED6-B932-04B197003D23}" type="datetimeFigureOut">
              <a:rPr lang="en-US" smtClean="0"/>
              <a:pPr algn="r"/>
              <a:t>7/15/2021</a:t>
            </a:fld>
            <a:endParaRPr lang="en-US" dirty="0"/>
          </a:p>
        </p:txBody>
      </p:sp>
      <p:sp>
        <p:nvSpPr>
          <p:cNvPr id="12" name="Footer Placeholder 11">
            <a:extLst>
              <a:ext uri="{FF2B5EF4-FFF2-40B4-BE49-F238E27FC236}">
                <a16:creationId xmlns:a16="http://schemas.microsoft.com/office/drawing/2014/main" id="{81266E04-79AF-49EF-86BC-DB29D304BBEC}"/>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13" name="Slide Number Placeholder 12">
            <a:extLst>
              <a:ext uri="{FF2B5EF4-FFF2-40B4-BE49-F238E27FC236}">
                <a16:creationId xmlns:a16="http://schemas.microsoft.com/office/drawing/2014/main" id="{90DF5B53-9A9A-46CE-A910-25ADA58753A8}"/>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119402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0910-921F-4143-AB01-0F0AFC2908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0182FC-5A0B-4C24-A6ED-990ED5BA90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B6172F4-3DB0-4AE3-8926-081B78034C68}"/>
              </a:ext>
            </a:extLst>
          </p:cNvPr>
          <p:cNvSpPr>
            <a:spLocks noGrp="1"/>
          </p:cNvSpPr>
          <p:nvPr>
            <p:ph type="dt" sz="half" idx="10"/>
          </p:nvPr>
        </p:nvSpPr>
        <p:spPr/>
        <p:txBody>
          <a:bodyPr/>
          <a:lstStyle/>
          <a:p>
            <a:pPr algn="r"/>
            <a:fld id="{A37D6D71-8B28-4ED6-B932-04B197003D23}" type="datetimeFigureOut">
              <a:rPr lang="en-US" smtClean="0"/>
              <a:pPr algn="r"/>
              <a:t>7/15/2021</a:t>
            </a:fld>
            <a:endParaRPr lang="en-US" dirty="0"/>
          </a:p>
        </p:txBody>
      </p:sp>
      <p:sp>
        <p:nvSpPr>
          <p:cNvPr id="8" name="Footer Placeholder 7">
            <a:extLst>
              <a:ext uri="{FF2B5EF4-FFF2-40B4-BE49-F238E27FC236}">
                <a16:creationId xmlns:a16="http://schemas.microsoft.com/office/drawing/2014/main" id="{825F1358-C731-465B-BCB1-2CCBFD6ECF7E}"/>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C8D59536-57D3-4C8A-A207-568465A32E45}"/>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706427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1E0804-8E9E-4C6E-B18D-44FE715B239E}"/>
              </a:ext>
            </a:extLst>
          </p:cNvPr>
          <p:cNvSpPr/>
          <p:nvPr/>
        </p:nvSpPr>
        <p:spPr>
          <a:xfrm>
            <a:off x="0" y="0"/>
            <a:ext cx="12192000" cy="422497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278AA1-17A5-44BF-8791-EACDA31F5D86}"/>
              </a:ext>
            </a:extLst>
          </p:cNvPr>
          <p:cNvSpPr>
            <a:spLocks noGrp="1"/>
          </p:cNvSpPr>
          <p:nvPr>
            <p:ph type="title"/>
          </p:nvPr>
        </p:nvSpPr>
        <p:spPr>
          <a:xfrm>
            <a:off x="960120" y="768096"/>
            <a:ext cx="10268712" cy="3136392"/>
          </a:xfrm>
        </p:spPr>
        <p:txBody>
          <a:bodyPr anchor="b">
            <a:normAutofit/>
          </a:bodyPr>
          <a:lstStyle>
            <a:lvl1pPr>
              <a:defRPr sz="72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01203A5-DA79-4778-AB85-150365748494}"/>
              </a:ext>
            </a:extLst>
          </p:cNvPr>
          <p:cNvSpPr>
            <a:spLocks noGrp="1"/>
          </p:cNvSpPr>
          <p:nvPr>
            <p:ph type="body" idx="1"/>
          </p:nvPr>
        </p:nvSpPr>
        <p:spPr>
          <a:xfrm>
            <a:off x="960120" y="4544568"/>
            <a:ext cx="10268712" cy="1545336"/>
          </a:xfrm>
        </p:spPr>
        <p:txBody>
          <a:bodyPr>
            <a:normAutofit/>
          </a:bodyPr>
          <a:lstStyle>
            <a:lvl1pPr marL="0" indent="0">
              <a:buNone/>
              <a:defRPr sz="3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Date Placeholder 8">
            <a:extLst>
              <a:ext uri="{FF2B5EF4-FFF2-40B4-BE49-F238E27FC236}">
                <a16:creationId xmlns:a16="http://schemas.microsoft.com/office/drawing/2014/main" id="{CE3B1B5E-0912-44AE-BAED-70B980E53915}"/>
              </a:ext>
            </a:extLst>
          </p:cNvPr>
          <p:cNvSpPr>
            <a:spLocks noGrp="1"/>
          </p:cNvSpPr>
          <p:nvPr>
            <p:ph type="dt" sz="half" idx="10"/>
          </p:nvPr>
        </p:nvSpPr>
        <p:spPr/>
        <p:txBody>
          <a:bodyPr/>
          <a:lstStyle/>
          <a:p>
            <a:pPr algn="r"/>
            <a:fld id="{A37D6D71-8B28-4ED6-B932-04B197003D23}" type="datetimeFigureOut">
              <a:rPr lang="en-US" smtClean="0"/>
              <a:pPr algn="r"/>
              <a:t>7/15/2021</a:t>
            </a:fld>
            <a:endParaRPr lang="en-US" dirty="0"/>
          </a:p>
        </p:txBody>
      </p:sp>
      <p:sp>
        <p:nvSpPr>
          <p:cNvPr id="10" name="Footer Placeholder 9">
            <a:extLst>
              <a:ext uri="{FF2B5EF4-FFF2-40B4-BE49-F238E27FC236}">
                <a16:creationId xmlns:a16="http://schemas.microsoft.com/office/drawing/2014/main" id="{346C82F1-A7B2-4F03-A26B-59D79BF5BFD5}"/>
              </a:ext>
            </a:extLst>
          </p:cNvPr>
          <p:cNvSpPr>
            <a:spLocks noGrp="1"/>
          </p:cNvSpPr>
          <p:nvPr>
            <p:ph type="ftr" sz="quarter" idx="11"/>
          </p:nvPr>
        </p:nvSpPr>
        <p:spPr/>
        <p:txBody>
          <a:bodyPr/>
          <a:lstStyle/>
          <a:p>
            <a:endParaRPr lang="en-US" dirty="0">
              <a:solidFill>
                <a:schemeClr val="tx1"/>
              </a:solidFill>
            </a:endParaRPr>
          </a:p>
        </p:txBody>
      </p:sp>
      <p:sp>
        <p:nvSpPr>
          <p:cNvPr id="11" name="Slide Number Placeholder 10">
            <a:extLst>
              <a:ext uri="{FF2B5EF4-FFF2-40B4-BE49-F238E27FC236}">
                <a16:creationId xmlns:a16="http://schemas.microsoft.com/office/drawing/2014/main" id="{B1DC1ABC-47A9-477B-A29D-F6690EE6B532}"/>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194001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5F398-F05F-4793-9FA5-5B817EB95A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17F1CD-2CD4-4BBB-AB36-73A20B1A8D69}"/>
              </a:ext>
            </a:extLst>
          </p:cNvPr>
          <p:cNvSpPr>
            <a:spLocks noGrp="1"/>
          </p:cNvSpPr>
          <p:nvPr>
            <p:ph sz="half" idx="1"/>
          </p:nvPr>
        </p:nvSpPr>
        <p:spPr>
          <a:xfrm>
            <a:off x="960120" y="2587752"/>
            <a:ext cx="481584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67BBE02-B884-4CCC-9CBD-13B792BBA2BE}"/>
              </a:ext>
            </a:extLst>
          </p:cNvPr>
          <p:cNvSpPr>
            <a:spLocks noGrp="1"/>
          </p:cNvSpPr>
          <p:nvPr>
            <p:ph sz="half" idx="2"/>
          </p:nvPr>
        </p:nvSpPr>
        <p:spPr>
          <a:xfrm>
            <a:off x="6412992" y="2583371"/>
            <a:ext cx="481584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Date Placeholder 11">
            <a:extLst>
              <a:ext uri="{FF2B5EF4-FFF2-40B4-BE49-F238E27FC236}">
                <a16:creationId xmlns:a16="http://schemas.microsoft.com/office/drawing/2014/main" id="{B7FBE509-AA68-4D63-A589-AD5DE7FFFECA}"/>
              </a:ext>
            </a:extLst>
          </p:cNvPr>
          <p:cNvSpPr>
            <a:spLocks noGrp="1"/>
          </p:cNvSpPr>
          <p:nvPr>
            <p:ph type="dt" sz="half" idx="10"/>
          </p:nvPr>
        </p:nvSpPr>
        <p:spPr/>
        <p:txBody>
          <a:bodyPr/>
          <a:lstStyle/>
          <a:p>
            <a:pPr algn="r"/>
            <a:fld id="{A37D6D71-8B28-4ED6-B932-04B197003D23}" type="datetimeFigureOut">
              <a:rPr lang="en-US" smtClean="0"/>
              <a:pPr algn="r"/>
              <a:t>7/15/2021</a:t>
            </a:fld>
            <a:endParaRPr lang="en-US" dirty="0"/>
          </a:p>
        </p:txBody>
      </p:sp>
      <p:sp>
        <p:nvSpPr>
          <p:cNvPr id="13" name="Footer Placeholder 12">
            <a:extLst>
              <a:ext uri="{FF2B5EF4-FFF2-40B4-BE49-F238E27FC236}">
                <a16:creationId xmlns:a16="http://schemas.microsoft.com/office/drawing/2014/main" id="{9C1A4D52-57E4-4F45-BC2C-9FD73E9CEC59}"/>
              </a:ext>
            </a:extLst>
          </p:cNvPr>
          <p:cNvSpPr>
            <a:spLocks noGrp="1"/>
          </p:cNvSpPr>
          <p:nvPr>
            <p:ph type="ftr" sz="quarter" idx="11"/>
          </p:nvPr>
        </p:nvSpPr>
        <p:spPr/>
        <p:txBody>
          <a:bodyPr/>
          <a:lstStyle/>
          <a:p>
            <a:endParaRPr lang="en-US" dirty="0">
              <a:solidFill>
                <a:schemeClr val="tx1"/>
              </a:solidFill>
            </a:endParaRPr>
          </a:p>
        </p:txBody>
      </p:sp>
      <p:sp>
        <p:nvSpPr>
          <p:cNvPr id="14" name="Slide Number Placeholder 13">
            <a:extLst>
              <a:ext uri="{FF2B5EF4-FFF2-40B4-BE49-F238E27FC236}">
                <a16:creationId xmlns:a16="http://schemas.microsoft.com/office/drawing/2014/main" id="{E76AD5E1-358D-4236-85AE-74713259EF08}"/>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521993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87D32C-166A-4FBE-B24D-C25769095429}"/>
              </a:ext>
            </a:extLst>
          </p:cNvPr>
          <p:cNvSpPr>
            <a:spLocks noGrp="1"/>
          </p:cNvSpPr>
          <p:nvPr>
            <p:ph type="body" idx="1"/>
          </p:nvPr>
        </p:nvSpPr>
        <p:spPr>
          <a:xfrm>
            <a:off x="960121"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9EC567-F249-462A-B71A-9C40D50E26AA}"/>
              </a:ext>
            </a:extLst>
          </p:cNvPr>
          <p:cNvSpPr>
            <a:spLocks noGrp="1"/>
          </p:cNvSpPr>
          <p:nvPr>
            <p:ph sz="half" idx="2"/>
          </p:nvPr>
        </p:nvSpPr>
        <p:spPr>
          <a:xfrm>
            <a:off x="960120" y="3594538"/>
            <a:ext cx="4818888" cy="2586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BB7D2C6-69D1-4DE4-BF68-5FB0623DB9E3}"/>
              </a:ext>
            </a:extLst>
          </p:cNvPr>
          <p:cNvSpPr>
            <a:spLocks noGrp="1"/>
          </p:cNvSpPr>
          <p:nvPr>
            <p:ph type="body" sz="quarter" idx="3"/>
          </p:nvPr>
        </p:nvSpPr>
        <p:spPr>
          <a:xfrm>
            <a:off x="6409944"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367CC7-ED09-4F8D-A39A-C5969D33B9F8}"/>
              </a:ext>
            </a:extLst>
          </p:cNvPr>
          <p:cNvSpPr>
            <a:spLocks noGrp="1"/>
          </p:cNvSpPr>
          <p:nvPr>
            <p:ph sz="quarter" idx="4"/>
          </p:nvPr>
        </p:nvSpPr>
        <p:spPr>
          <a:xfrm>
            <a:off x="6409944" y="3594538"/>
            <a:ext cx="4818888" cy="2586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5F92A44F-DE98-4FB5-B474-5DCCDD267A79}"/>
              </a:ext>
            </a:extLst>
          </p:cNvPr>
          <p:cNvSpPr>
            <a:spLocks noGrp="1"/>
          </p:cNvSpPr>
          <p:nvPr>
            <p:ph type="dt" sz="half" idx="10"/>
          </p:nvPr>
        </p:nvSpPr>
        <p:spPr/>
        <p:txBody>
          <a:bodyPr/>
          <a:lstStyle/>
          <a:p>
            <a:pPr algn="r"/>
            <a:fld id="{A37D6D71-8B28-4ED6-B932-04B197003D23}" type="datetimeFigureOut">
              <a:rPr lang="en-US" smtClean="0"/>
              <a:pPr algn="r"/>
              <a:t>7/15/2021</a:t>
            </a:fld>
            <a:endParaRPr lang="en-US" dirty="0"/>
          </a:p>
        </p:txBody>
      </p:sp>
      <p:sp>
        <p:nvSpPr>
          <p:cNvPr id="11" name="Footer Placeholder 10">
            <a:extLst>
              <a:ext uri="{FF2B5EF4-FFF2-40B4-BE49-F238E27FC236}">
                <a16:creationId xmlns:a16="http://schemas.microsoft.com/office/drawing/2014/main" id="{3ACC79DA-A9E4-4E93-93F1-81907A901BBB}"/>
              </a:ext>
            </a:extLst>
          </p:cNvPr>
          <p:cNvSpPr>
            <a:spLocks noGrp="1"/>
          </p:cNvSpPr>
          <p:nvPr>
            <p:ph type="ftr" sz="quarter" idx="11"/>
          </p:nvPr>
        </p:nvSpPr>
        <p:spPr/>
        <p:txBody>
          <a:bodyPr/>
          <a:lstStyle/>
          <a:p>
            <a:endParaRPr lang="en-US" dirty="0">
              <a:solidFill>
                <a:schemeClr val="tx1"/>
              </a:solidFill>
            </a:endParaRPr>
          </a:p>
        </p:txBody>
      </p:sp>
      <p:sp>
        <p:nvSpPr>
          <p:cNvPr id="12" name="Slide Number Placeholder 11">
            <a:extLst>
              <a:ext uri="{FF2B5EF4-FFF2-40B4-BE49-F238E27FC236}">
                <a16:creationId xmlns:a16="http://schemas.microsoft.com/office/drawing/2014/main" id="{404DFE57-AA80-4ED8-AD77-35CC56F3FBC6}"/>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
        <p:nvSpPr>
          <p:cNvPr id="13" name="Title 12">
            <a:extLst>
              <a:ext uri="{FF2B5EF4-FFF2-40B4-BE49-F238E27FC236}">
                <a16:creationId xmlns:a16="http://schemas.microsoft.com/office/drawing/2014/main" id="{FB62259C-ADDF-4293-AD3B-AB2E04A748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52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C7BA0-DC57-452F-85B7-C979AA690920}"/>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F1C53797-8D72-4774-AC93-EB9FDD650CCD}"/>
              </a:ext>
            </a:extLst>
          </p:cNvPr>
          <p:cNvSpPr>
            <a:spLocks noGrp="1"/>
          </p:cNvSpPr>
          <p:nvPr>
            <p:ph type="dt" sz="half" idx="10"/>
          </p:nvPr>
        </p:nvSpPr>
        <p:spPr/>
        <p:txBody>
          <a:bodyPr/>
          <a:lstStyle/>
          <a:p>
            <a:pPr algn="r"/>
            <a:fld id="{A37D6D71-8B28-4ED6-B932-04B197003D23}" type="datetimeFigureOut">
              <a:rPr lang="en-US" smtClean="0"/>
              <a:pPr algn="r"/>
              <a:t>7/15/2021</a:t>
            </a:fld>
            <a:endParaRPr lang="en-US" dirty="0"/>
          </a:p>
        </p:txBody>
      </p:sp>
      <p:sp>
        <p:nvSpPr>
          <p:cNvPr id="7" name="Footer Placeholder 6">
            <a:extLst>
              <a:ext uri="{FF2B5EF4-FFF2-40B4-BE49-F238E27FC236}">
                <a16:creationId xmlns:a16="http://schemas.microsoft.com/office/drawing/2014/main" id="{9E945AB7-1A32-4516-ABF9-B40958AE2E73}"/>
              </a:ext>
            </a:extLst>
          </p:cNvPr>
          <p:cNvSpPr>
            <a:spLocks noGrp="1"/>
          </p:cNvSpPr>
          <p:nvPr>
            <p:ph type="ftr" sz="quarter" idx="11"/>
          </p:nvPr>
        </p:nvSpPr>
        <p:spPr/>
        <p:txBody>
          <a:bodyPr/>
          <a:lstStyle/>
          <a:p>
            <a:endParaRPr lang="en-US" dirty="0">
              <a:solidFill>
                <a:schemeClr val="tx1"/>
              </a:solidFill>
            </a:endParaRPr>
          </a:p>
        </p:txBody>
      </p:sp>
      <p:sp>
        <p:nvSpPr>
          <p:cNvPr id="8" name="Slide Number Placeholder 7">
            <a:extLst>
              <a:ext uri="{FF2B5EF4-FFF2-40B4-BE49-F238E27FC236}">
                <a16:creationId xmlns:a16="http://schemas.microsoft.com/office/drawing/2014/main" id="{B22923C3-1D67-4089-A6B1-9A10315E807F}"/>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241502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C0A8DC1-14F6-453B-A724-D6493F063F83}"/>
              </a:ext>
            </a:extLst>
          </p:cNvPr>
          <p:cNvSpPr>
            <a:spLocks noGrp="1"/>
          </p:cNvSpPr>
          <p:nvPr>
            <p:ph type="dt" sz="half" idx="10"/>
          </p:nvPr>
        </p:nvSpPr>
        <p:spPr/>
        <p:txBody>
          <a:bodyPr/>
          <a:lstStyle/>
          <a:p>
            <a:pPr algn="r"/>
            <a:fld id="{A37D6D71-8B28-4ED6-B932-04B197003D23}" type="datetimeFigureOut">
              <a:rPr lang="en-US" smtClean="0"/>
              <a:pPr algn="r"/>
              <a:t>7/15/2021</a:t>
            </a:fld>
            <a:endParaRPr lang="en-US" dirty="0"/>
          </a:p>
        </p:txBody>
      </p:sp>
      <p:sp>
        <p:nvSpPr>
          <p:cNvPr id="6" name="Footer Placeholder 5">
            <a:extLst>
              <a:ext uri="{FF2B5EF4-FFF2-40B4-BE49-F238E27FC236}">
                <a16:creationId xmlns:a16="http://schemas.microsoft.com/office/drawing/2014/main" id="{66E63FF0-1A91-4698-B12A-112D05373593}"/>
              </a:ext>
            </a:extLst>
          </p:cNvPr>
          <p:cNvSpPr>
            <a:spLocks noGrp="1"/>
          </p:cNvSpPr>
          <p:nvPr>
            <p:ph type="ftr" sz="quarter" idx="11"/>
          </p:nvPr>
        </p:nvSpPr>
        <p:spPr/>
        <p:txBody>
          <a:bodyPr/>
          <a:lstStyle/>
          <a:p>
            <a:endParaRPr lang="en-US" dirty="0">
              <a:solidFill>
                <a:schemeClr val="tx1"/>
              </a:solidFill>
            </a:endParaRPr>
          </a:p>
        </p:txBody>
      </p:sp>
      <p:sp>
        <p:nvSpPr>
          <p:cNvPr id="7" name="Slide Number Placeholder 6">
            <a:extLst>
              <a:ext uri="{FF2B5EF4-FFF2-40B4-BE49-F238E27FC236}">
                <a16:creationId xmlns:a16="http://schemas.microsoft.com/office/drawing/2014/main" id="{1E066D53-44B3-4F04-93FD-9756A60139F9}"/>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299877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83A0FE-F7E3-433E-9A29-D778690D223A}"/>
              </a:ext>
            </a:extLst>
          </p:cNvPr>
          <p:cNvSpPr>
            <a:spLocks noGrp="1"/>
          </p:cNvSpPr>
          <p:nvPr>
            <p:ph idx="1"/>
          </p:nvPr>
        </p:nvSpPr>
        <p:spPr>
          <a:xfrm>
            <a:off x="5183188" y="2591850"/>
            <a:ext cx="6045644" cy="3593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794B15D-55F5-4208-AF40-41CAFEB56F4C}"/>
              </a:ext>
            </a:extLst>
          </p:cNvPr>
          <p:cNvSpPr>
            <a:spLocks noGrp="1"/>
          </p:cNvSpPr>
          <p:nvPr>
            <p:ph type="body" sz="half" idx="2"/>
          </p:nvPr>
        </p:nvSpPr>
        <p:spPr>
          <a:xfrm>
            <a:off x="960120" y="2591850"/>
            <a:ext cx="3811905" cy="3277137"/>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E8A46CE7-2F0F-4C85-B633-B9FCB8347AE7}"/>
              </a:ext>
            </a:extLst>
          </p:cNvPr>
          <p:cNvSpPr>
            <a:spLocks noGrp="1"/>
          </p:cNvSpPr>
          <p:nvPr>
            <p:ph type="dt" sz="half" idx="10"/>
          </p:nvPr>
        </p:nvSpPr>
        <p:spPr/>
        <p:txBody>
          <a:bodyPr/>
          <a:lstStyle/>
          <a:p>
            <a:pPr algn="r"/>
            <a:fld id="{A37D6D71-8B28-4ED6-B932-04B197003D23}" type="datetimeFigureOut">
              <a:rPr lang="en-US" smtClean="0"/>
              <a:pPr algn="r"/>
              <a:t>7/15/2021</a:t>
            </a:fld>
            <a:endParaRPr lang="en-US" dirty="0"/>
          </a:p>
        </p:txBody>
      </p:sp>
      <p:sp>
        <p:nvSpPr>
          <p:cNvPr id="9" name="Footer Placeholder 8">
            <a:extLst>
              <a:ext uri="{FF2B5EF4-FFF2-40B4-BE49-F238E27FC236}">
                <a16:creationId xmlns:a16="http://schemas.microsoft.com/office/drawing/2014/main" id="{D0900919-3A73-4918-9D97-8DBE7ABB7A19}"/>
              </a:ext>
            </a:extLst>
          </p:cNvPr>
          <p:cNvSpPr>
            <a:spLocks noGrp="1"/>
          </p:cNvSpPr>
          <p:nvPr>
            <p:ph type="ftr" sz="quarter" idx="11"/>
          </p:nvPr>
        </p:nvSpPr>
        <p:spPr/>
        <p:txBody>
          <a:bodyPr/>
          <a:lstStyle/>
          <a:p>
            <a:endParaRPr lang="en-US" dirty="0">
              <a:solidFill>
                <a:schemeClr val="tx1"/>
              </a:solidFill>
            </a:endParaRPr>
          </a:p>
        </p:txBody>
      </p:sp>
      <p:sp>
        <p:nvSpPr>
          <p:cNvPr id="10" name="Slide Number Placeholder 9">
            <a:extLst>
              <a:ext uri="{FF2B5EF4-FFF2-40B4-BE49-F238E27FC236}">
                <a16:creationId xmlns:a16="http://schemas.microsoft.com/office/drawing/2014/main" id="{08BC1001-E44E-4A9A-9E60-2E319A844F65}"/>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
        <p:nvSpPr>
          <p:cNvPr id="11" name="Title 10">
            <a:extLst>
              <a:ext uri="{FF2B5EF4-FFF2-40B4-BE49-F238E27FC236}">
                <a16:creationId xmlns:a16="http://schemas.microsoft.com/office/drawing/2014/main" id="{A125AC31-022C-40AA-B65C-C9AC48395A6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65475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797A575-703F-410E-9A84-F9B578FEAE80}"/>
              </a:ext>
            </a:extLst>
          </p:cNvPr>
          <p:cNvSpPr>
            <a:spLocks noGrp="1"/>
          </p:cNvSpPr>
          <p:nvPr>
            <p:ph type="pic" idx="1"/>
          </p:nvPr>
        </p:nvSpPr>
        <p:spPr>
          <a:xfrm>
            <a:off x="0" y="2267712"/>
            <a:ext cx="6571469" cy="4590288"/>
          </a:xfrm>
          <a:solidFill>
            <a:schemeClr val="bg1">
              <a:lumMod val="85000"/>
            </a:schemeClr>
          </a:solidFill>
          <a:ln>
            <a:no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1518B509-934D-400A-A922-45B61AC6EDD8}"/>
              </a:ext>
            </a:extLst>
          </p:cNvPr>
          <p:cNvSpPr>
            <a:spLocks noGrp="1"/>
          </p:cNvSpPr>
          <p:nvPr>
            <p:ph type="body" sz="half" idx="2"/>
          </p:nvPr>
        </p:nvSpPr>
        <p:spPr>
          <a:xfrm>
            <a:off x="7235971" y="2587752"/>
            <a:ext cx="3992856" cy="3593592"/>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9813C51-6954-4F3A-A043-D1BCC8B50F83}"/>
              </a:ext>
            </a:extLst>
          </p:cNvPr>
          <p:cNvSpPr>
            <a:spLocks noGrp="1"/>
          </p:cNvSpPr>
          <p:nvPr>
            <p:ph type="dt" sz="half" idx="10"/>
          </p:nvPr>
        </p:nvSpPr>
        <p:spPr/>
        <p:txBody>
          <a:bodyPr/>
          <a:lstStyle/>
          <a:p>
            <a:pPr algn="r"/>
            <a:fld id="{A37D6D71-8B28-4ED6-B932-04B197003D23}" type="datetimeFigureOut">
              <a:rPr lang="en-US" smtClean="0"/>
              <a:pPr algn="r"/>
              <a:t>7/15/2021</a:t>
            </a:fld>
            <a:endParaRPr lang="en-US" dirty="0"/>
          </a:p>
        </p:txBody>
      </p:sp>
      <p:sp>
        <p:nvSpPr>
          <p:cNvPr id="9" name="Footer Placeholder 8">
            <a:extLst>
              <a:ext uri="{FF2B5EF4-FFF2-40B4-BE49-F238E27FC236}">
                <a16:creationId xmlns:a16="http://schemas.microsoft.com/office/drawing/2014/main" id="{C0AC32FB-49A3-40E4-9D24-177597043627}"/>
              </a:ext>
            </a:extLst>
          </p:cNvPr>
          <p:cNvSpPr>
            <a:spLocks noGrp="1"/>
          </p:cNvSpPr>
          <p:nvPr>
            <p:ph type="ftr" sz="quarter" idx="11"/>
          </p:nvPr>
        </p:nvSpPr>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dirty="0">
              <a:effectLst>
                <a:outerShdw blurRad="50800" dist="38100" dir="2700000" algn="tl" rotWithShape="0">
                  <a:prstClr val="black">
                    <a:alpha val="43000"/>
                  </a:prstClr>
                </a:outerShdw>
              </a:effectLst>
            </a:endParaRPr>
          </a:p>
        </p:txBody>
      </p:sp>
      <p:sp>
        <p:nvSpPr>
          <p:cNvPr id="10" name="Slide Number Placeholder 9">
            <a:extLst>
              <a:ext uri="{FF2B5EF4-FFF2-40B4-BE49-F238E27FC236}">
                <a16:creationId xmlns:a16="http://schemas.microsoft.com/office/drawing/2014/main" id="{EC93F5E6-DAE6-447B-8038-5F4C9A799F57}"/>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
        <p:nvSpPr>
          <p:cNvPr id="2" name="Title 1">
            <a:extLst>
              <a:ext uri="{FF2B5EF4-FFF2-40B4-BE49-F238E27FC236}">
                <a16:creationId xmlns:a16="http://schemas.microsoft.com/office/drawing/2014/main" id="{9BFF97FB-514D-4FE8-A9A4-E9A111A56ED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3597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327B9-64C6-4AFE-8E67-F60CD17A80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92656D-F600-4D76-8A0F-BDBE78759B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A13412-4939-4879-B91F-BB5B029B6CEB}"/>
              </a:ext>
            </a:extLst>
          </p:cNvPr>
          <p:cNvSpPr>
            <a:spLocks noGrp="1"/>
          </p:cNvSpPr>
          <p:nvPr>
            <p:ph type="dt" sz="half" idx="10"/>
          </p:nvPr>
        </p:nvSpPr>
        <p:spPr/>
        <p:txBody>
          <a:bodyPr/>
          <a:lstStyle/>
          <a:p>
            <a:pPr algn="r"/>
            <a:fld id="{A37D6D71-8B28-4ED6-B932-04B197003D23}" type="datetimeFigureOut">
              <a:rPr lang="en-US" smtClean="0"/>
              <a:pPr algn="r"/>
              <a:t>7/15/2021</a:t>
            </a:fld>
            <a:endParaRPr lang="en-US" dirty="0"/>
          </a:p>
        </p:txBody>
      </p:sp>
      <p:sp>
        <p:nvSpPr>
          <p:cNvPr id="8" name="Footer Placeholder 7">
            <a:extLst>
              <a:ext uri="{FF2B5EF4-FFF2-40B4-BE49-F238E27FC236}">
                <a16:creationId xmlns:a16="http://schemas.microsoft.com/office/drawing/2014/main" id="{95237DB9-DE7D-4687-82D7-612600F06C3E}"/>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6C819356-0444-4C23-82D3-E2FDE28D3DCB}"/>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357190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EB51B7C-D548-4AB7-90A4-C196105E6D56}"/>
              </a:ext>
            </a:extLst>
          </p:cNvPr>
          <p:cNvSpPr/>
          <p:nvPr/>
        </p:nvSpPr>
        <p:spPr>
          <a:xfrm>
            <a:off x="7108274" y="0"/>
            <a:ext cx="508372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32DC521B-8B54-4843-9FF4-B2C30FA0043F}"/>
              </a:ext>
            </a:extLst>
          </p:cNvPr>
          <p:cNvSpPr>
            <a:spLocks noGrp="1"/>
          </p:cNvSpPr>
          <p:nvPr>
            <p:ph type="title" orient="vert"/>
          </p:nvPr>
        </p:nvSpPr>
        <p:spPr>
          <a:xfrm>
            <a:off x="7751740" y="643467"/>
            <a:ext cx="3477092" cy="5533495"/>
          </a:xfrm>
        </p:spPr>
        <p:txBody>
          <a:bodyPr vert="eaVert" tIns="91440" bIns="91440"/>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410E3F10-9E27-41E6-A965-4243E37BE3D5}"/>
              </a:ext>
            </a:extLst>
          </p:cNvPr>
          <p:cNvSpPr>
            <a:spLocks noGrp="1"/>
          </p:cNvSpPr>
          <p:nvPr>
            <p:ph type="body" orient="vert" idx="1"/>
          </p:nvPr>
        </p:nvSpPr>
        <p:spPr>
          <a:xfrm>
            <a:off x="960120" y="643467"/>
            <a:ext cx="5504687" cy="5533496"/>
          </a:xfrm>
        </p:spPr>
        <p:txBody>
          <a:bodyPr vert="eaVert" tIns="91440"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6341D62D-51A0-4AD7-8027-BF548FB6AAF3}"/>
              </a:ext>
            </a:extLst>
          </p:cNvPr>
          <p:cNvSpPr>
            <a:spLocks noGrp="1"/>
          </p:cNvSpPr>
          <p:nvPr>
            <p:ph type="dt" sz="half" idx="10"/>
          </p:nvPr>
        </p:nvSpPr>
        <p:spPr>
          <a:xfrm>
            <a:off x="7617898" y="6356350"/>
            <a:ext cx="2522798" cy="365125"/>
          </a:xfrm>
        </p:spPr>
        <p:txBody>
          <a:bodyPr/>
          <a:lstStyle>
            <a:lvl1pPr>
              <a:defRPr>
                <a:solidFill>
                  <a:schemeClr val="bg1"/>
                </a:solidFill>
              </a:defRPr>
            </a:lvl1pPr>
          </a:lstStyle>
          <a:p>
            <a:pPr algn="r"/>
            <a:fld id="{A37D6D71-8B28-4ED6-B932-04B197003D23}" type="datetimeFigureOut">
              <a:rPr lang="en-US" smtClean="0"/>
              <a:pPr algn="r"/>
              <a:t>7/15/2021</a:t>
            </a:fld>
            <a:endParaRPr lang="en-US" dirty="0"/>
          </a:p>
        </p:txBody>
      </p:sp>
      <p:sp>
        <p:nvSpPr>
          <p:cNvPr id="8" name="Footer Placeholder 7">
            <a:extLst>
              <a:ext uri="{FF2B5EF4-FFF2-40B4-BE49-F238E27FC236}">
                <a16:creationId xmlns:a16="http://schemas.microsoft.com/office/drawing/2014/main" id="{A5857492-A701-44A1-B1D5-7B2C8CD06582}"/>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EED2E8AE-F1AA-4D19-A434-102501D3B460}"/>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457699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D153959-30FA-4987-A094-7243641F474B}"/>
              </a:ext>
            </a:extLst>
          </p:cNvPr>
          <p:cNvSpPr/>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50216229-A6DB-436A-B327-667E80F0A563}"/>
              </a:ext>
            </a:extLst>
          </p:cNvPr>
          <p:cNvSpPr>
            <a:spLocks noGrp="1"/>
          </p:cNvSpPr>
          <p:nvPr>
            <p:ph type="title"/>
          </p:nvPr>
        </p:nvSpPr>
        <p:spPr>
          <a:xfrm>
            <a:off x="960120" y="317814"/>
            <a:ext cx="10268712" cy="170078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B2B351D-270D-480D-8AF5-6A213ED2B3FB}"/>
              </a:ext>
            </a:extLst>
          </p:cNvPr>
          <p:cNvSpPr>
            <a:spLocks noGrp="1"/>
          </p:cNvSpPr>
          <p:nvPr>
            <p:ph type="body" idx="1"/>
          </p:nvPr>
        </p:nvSpPr>
        <p:spPr>
          <a:xfrm>
            <a:off x="960120" y="2587752"/>
            <a:ext cx="10268712" cy="35935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1EB0E73-3310-4A8F-BB4A-7A6A99121A61}"/>
              </a:ext>
            </a:extLst>
          </p:cNvPr>
          <p:cNvSpPr>
            <a:spLocks noGrp="1"/>
          </p:cNvSpPr>
          <p:nvPr>
            <p:ph type="dt" sz="half" idx="2"/>
          </p:nvPr>
        </p:nvSpPr>
        <p:spPr>
          <a:xfrm>
            <a:off x="6903720" y="6356350"/>
            <a:ext cx="3236976" cy="365125"/>
          </a:xfrm>
          <a:prstGeom prst="rect">
            <a:avLst/>
          </a:prstGeom>
        </p:spPr>
        <p:txBody>
          <a:bodyPr vert="horz" lIns="91440" tIns="45720" rIns="91440" bIns="45720" rtlCol="0" anchor="ctr"/>
          <a:lstStyle>
            <a:lvl1pPr algn="just">
              <a:defRPr sz="1200" spc="50" baseline="0">
                <a:solidFill>
                  <a:schemeClr val="tx1"/>
                </a:solidFill>
              </a:defRPr>
            </a:lvl1pPr>
          </a:lstStyle>
          <a:p>
            <a:pPr algn="r"/>
            <a:fld id="{A37D6D71-8B28-4ED6-B932-04B197003D23}" type="datetimeFigureOut">
              <a:rPr lang="en-US" smtClean="0"/>
              <a:pPr algn="r"/>
              <a:t>7/15/2021</a:t>
            </a:fld>
            <a:endParaRPr lang="en-US" spc="50" dirty="0"/>
          </a:p>
        </p:txBody>
      </p:sp>
      <p:sp>
        <p:nvSpPr>
          <p:cNvPr id="5" name="Footer Placeholder 4">
            <a:extLst>
              <a:ext uri="{FF2B5EF4-FFF2-40B4-BE49-F238E27FC236}">
                <a16:creationId xmlns:a16="http://schemas.microsoft.com/office/drawing/2014/main" id="{1381C4C0-515B-4404-A780-C31E7DFE54A4}"/>
              </a:ext>
            </a:extLst>
          </p:cNvPr>
          <p:cNvSpPr>
            <a:spLocks noGrp="1"/>
          </p:cNvSpPr>
          <p:nvPr>
            <p:ph type="ftr" sz="quarter" idx="3"/>
          </p:nvPr>
        </p:nvSpPr>
        <p:spPr>
          <a:xfrm>
            <a:off x="960120" y="6356350"/>
            <a:ext cx="5504688" cy="365125"/>
          </a:xfrm>
          <a:prstGeom prst="rect">
            <a:avLst/>
          </a:prstGeom>
        </p:spPr>
        <p:txBody>
          <a:bodyPr vert="horz" lIns="91440" tIns="45720" rIns="91440" bIns="45720" rtlCol="0" anchor="ctr"/>
          <a:lstStyle>
            <a:lvl1pPr algn="l">
              <a:defRPr sz="1100" cap="all" spc="50" baseline="0">
                <a:solidFill>
                  <a:schemeClr val="tx1"/>
                </a:solidFill>
              </a:defRPr>
            </a:lvl1pPr>
          </a:lstStyle>
          <a:p>
            <a:endParaRPr lang="en-US" spc="50" dirty="0"/>
          </a:p>
        </p:txBody>
      </p:sp>
      <p:sp>
        <p:nvSpPr>
          <p:cNvPr id="6" name="Slide Number Placeholder 5">
            <a:extLst>
              <a:ext uri="{FF2B5EF4-FFF2-40B4-BE49-F238E27FC236}">
                <a16:creationId xmlns:a16="http://schemas.microsoft.com/office/drawing/2014/main" id="{944C30C7-F013-428C-A6F7-A8CCCD14CEF4}"/>
              </a:ext>
            </a:extLst>
          </p:cNvPr>
          <p:cNvSpPr>
            <a:spLocks noGrp="1"/>
          </p:cNvSpPr>
          <p:nvPr>
            <p:ph type="sldNum" sz="quarter" idx="4"/>
          </p:nvPr>
        </p:nvSpPr>
        <p:spPr>
          <a:xfrm>
            <a:off x="10296144" y="6356350"/>
            <a:ext cx="932688" cy="365125"/>
          </a:xfrm>
          <a:prstGeom prst="rect">
            <a:avLst/>
          </a:prstGeom>
        </p:spPr>
        <p:txBody>
          <a:bodyPr vert="horz" lIns="91440" tIns="45720" rIns="91440" bIns="45720" rtlCol="0" anchor="ctr"/>
          <a:lstStyle>
            <a:lvl1pPr algn="r">
              <a:defRPr sz="1200">
                <a:solidFill>
                  <a:schemeClr val="tx1"/>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70313543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78" r:id="rId6"/>
    <p:sldLayoutId id="2147483674" r:id="rId7"/>
    <p:sldLayoutId id="2147483675" r:id="rId8"/>
    <p:sldLayoutId id="2147483676" r:id="rId9"/>
    <p:sldLayoutId id="2147483677" r:id="rId10"/>
    <p:sldLayoutId id="2147483679" r:id="rId11"/>
  </p:sldLayoutIdLst>
  <p:txStyles>
    <p:titleStyle>
      <a:lvl1pPr algn="l" defTabSz="914400" rtl="0" eaLnBrk="1" latinLnBrk="0" hangingPunct="1">
        <a:lnSpc>
          <a:spcPct val="90000"/>
        </a:lnSpc>
        <a:spcBef>
          <a:spcPct val="0"/>
        </a:spcBef>
        <a:buNone/>
        <a:defRPr sz="6600" kern="1200" cap="all" spc="120" baseline="0">
          <a:solidFill>
            <a:schemeClr val="bg1"/>
          </a:solidFill>
          <a:latin typeface="+mj-lt"/>
          <a:ea typeface="+mj-ea"/>
          <a:cs typeface="+mj-cs"/>
        </a:defRPr>
      </a:lvl1pPr>
    </p:titleStyle>
    <p:body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5.sv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https://www.kaggle.com/mlg-ulb/creditcardfraud"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hyperlink" Target="https://fraud-detection-handbook.github.io/fraud-detection-handbook/Chapter_4_PerformanceMetrics/Assessment_RealWorldData.html" TargetMode="External"/><Relationship Id="rId4" Type="http://schemas.openxmlformats.org/officeDocument/2006/relationships/hyperlink" Target="https://fraud-detection-handbook.github.io/fraud-detection-handbook/Foreword.html#author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A13AD3-0A4F-475A-BEBB-DEEFF5C09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05BB74C-33FB-4335-8808-49E247F7B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1225106"/>
            <a:ext cx="8132066" cy="37889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A115F8-B5FE-4E67-A4C0-66A96EEAD5ED}"/>
              </a:ext>
            </a:extLst>
          </p:cNvPr>
          <p:cNvSpPr>
            <a:spLocks noGrp="1"/>
          </p:cNvSpPr>
          <p:nvPr>
            <p:ph type="ctrTitle"/>
          </p:nvPr>
        </p:nvSpPr>
        <p:spPr>
          <a:xfrm>
            <a:off x="4703402" y="1841412"/>
            <a:ext cx="6406559" cy="2688020"/>
          </a:xfrm>
        </p:spPr>
        <p:txBody>
          <a:bodyPr>
            <a:normAutofit/>
          </a:bodyPr>
          <a:lstStyle/>
          <a:p>
            <a:pPr algn="l"/>
            <a:r>
              <a:rPr lang="en-SG" sz="6200" dirty="0">
                <a:solidFill>
                  <a:schemeClr val="bg1"/>
                </a:solidFill>
              </a:rPr>
              <a:t>Credit Card Fraud Detection using ML</a:t>
            </a:r>
          </a:p>
        </p:txBody>
      </p:sp>
      <p:sp>
        <p:nvSpPr>
          <p:cNvPr id="3" name="Subtitle 2">
            <a:extLst>
              <a:ext uri="{FF2B5EF4-FFF2-40B4-BE49-F238E27FC236}">
                <a16:creationId xmlns:a16="http://schemas.microsoft.com/office/drawing/2014/main" id="{7D9E6CD7-3378-4C5E-9EFF-E8BC1296A3E0}"/>
              </a:ext>
            </a:extLst>
          </p:cNvPr>
          <p:cNvSpPr>
            <a:spLocks noGrp="1"/>
          </p:cNvSpPr>
          <p:nvPr>
            <p:ph type="subTitle" idx="1"/>
          </p:nvPr>
        </p:nvSpPr>
        <p:spPr>
          <a:xfrm>
            <a:off x="4703402" y="5206246"/>
            <a:ext cx="4304796" cy="1024128"/>
          </a:xfrm>
        </p:spPr>
        <p:txBody>
          <a:bodyPr>
            <a:normAutofit fontScale="92500" lnSpcReduction="10000"/>
          </a:bodyPr>
          <a:lstStyle/>
          <a:p>
            <a:pPr algn="l"/>
            <a:r>
              <a:rPr lang="en-SG" dirty="0">
                <a:solidFill>
                  <a:schemeClr val="tx1"/>
                </a:solidFill>
              </a:rPr>
              <a:t>Capstone Project by Imran Tan</a:t>
            </a:r>
          </a:p>
        </p:txBody>
      </p:sp>
      <p:pic>
        <p:nvPicPr>
          <p:cNvPr id="1026" name="Picture 2" descr="370,480 Credit Card Stock Photos, Pictures &amp;amp; Royalty-Free Images - iStock">
            <a:extLst>
              <a:ext uri="{FF2B5EF4-FFF2-40B4-BE49-F238E27FC236}">
                <a16:creationId xmlns:a16="http://schemas.microsoft.com/office/drawing/2014/main" id="{794F81A1-BA4C-4D39-AFAE-2928B604BA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25105"/>
            <a:ext cx="4419600" cy="3788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783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E7AF1-2DA5-4216-A576-D00EA21E7EDC}"/>
              </a:ext>
            </a:extLst>
          </p:cNvPr>
          <p:cNvSpPr>
            <a:spLocks noGrp="1"/>
          </p:cNvSpPr>
          <p:nvPr>
            <p:ph type="title"/>
          </p:nvPr>
        </p:nvSpPr>
        <p:spPr/>
        <p:txBody>
          <a:bodyPr/>
          <a:lstStyle/>
          <a:p>
            <a:r>
              <a:rPr lang="en-SG" dirty="0"/>
              <a:t>Intro</a:t>
            </a:r>
          </a:p>
        </p:txBody>
      </p:sp>
      <p:sp>
        <p:nvSpPr>
          <p:cNvPr id="3" name="Content Placeholder 2">
            <a:extLst>
              <a:ext uri="{FF2B5EF4-FFF2-40B4-BE49-F238E27FC236}">
                <a16:creationId xmlns:a16="http://schemas.microsoft.com/office/drawing/2014/main" id="{B74E02CC-D593-4558-B036-CA88D36D33B8}"/>
              </a:ext>
            </a:extLst>
          </p:cNvPr>
          <p:cNvSpPr>
            <a:spLocks noGrp="1"/>
          </p:cNvSpPr>
          <p:nvPr>
            <p:ph idx="1"/>
          </p:nvPr>
        </p:nvSpPr>
        <p:spPr/>
        <p:txBody>
          <a:bodyPr/>
          <a:lstStyle/>
          <a:p>
            <a:r>
              <a:rPr lang="en-SG" dirty="0"/>
              <a:t>Background: Bachelor’s Degree in Accountancy from NTU</a:t>
            </a:r>
          </a:p>
          <a:p>
            <a:r>
              <a:rPr lang="en-SG" dirty="0"/>
              <a:t>Work experience: 2.5 years of financial audit experience at a Big4</a:t>
            </a:r>
          </a:p>
          <a:p>
            <a:r>
              <a:rPr lang="en-SG" dirty="0"/>
              <a:t>Main skills: Accounting, Financial reporting, Financial Audit, Controls testing</a:t>
            </a:r>
          </a:p>
          <a:p>
            <a:r>
              <a:rPr lang="en-SG" dirty="0"/>
              <a:t>New skills: Python, Machine Learning, SQL, Data analysis</a:t>
            </a:r>
          </a:p>
          <a:p>
            <a:r>
              <a:rPr lang="en-SG" dirty="0"/>
              <a:t>Interests: Machine Learning in providing business solutions</a:t>
            </a:r>
          </a:p>
        </p:txBody>
      </p:sp>
    </p:spTree>
    <p:extLst>
      <p:ext uri="{BB962C8B-B14F-4D97-AF65-F5344CB8AC3E}">
        <p14:creationId xmlns:p14="http://schemas.microsoft.com/office/powerpoint/2010/main" val="910460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22B423-2C72-4715-9804-20A00DF892F1}"/>
              </a:ext>
            </a:extLst>
          </p:cNvPr>
          <p:cNvPicPr>
            <a:picLocks noChangeAspect="1"/>
          </p:cNvPicPr>
          <p:nvPr/>
        </p:nvPicPr>
        <p:blipFill>
          <a:blip r:embed="rId3"/>
          <a:stretch>
            <a:fillRect/>
          </a:stretch>
        </p:blipFill>
        <p:spPr>
          <a:xfrm>
            <a:off x="1634307" y="935112"/>
            <a:ext cx="8191355" cy="5267379"/>
          </a:xfrm>
          <a:prstGeom prst="rect">
            <a:avLst/>
          </a:prstGeom>
        </p:spPr>
      </p:pic>
      <p:sp>
        <p:nvSpPr>
          <p:cNvPr id="8" name="Rectangle 7">
            <a:extLst>
              <a:ext uri="{FF2B5EF4-FFF2-40B4-BE49-F238E27FC236}">
                <a16:creationId xmlns:a16="http://schemas.microsoft.com/office/drawing/2014/main" id="{4DBD6BB0-C3CA-4C83-AFB6-F9436C18BD0B}"/>
              </a:ext>
            </a:extLst>
          </p:cNvPr>
          <p:cNvSpPr/>
          <p:nvPr/>
        </p:nvSpPr>
        <p:spPr>
          <a:xfrm>
            <a:off x="8365660" y="1293329"/>
            <a:ext cx="375920" cy="28188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extBox 1">
            <a:extLst>
              <a:ext uri="{FF2B5EF4-FFF2-40B4-BE49-F238E27FC236}">
                <a16:creationId xmlns:a16="http://schemas.microsoft.com/office/drawing/2014/main" id="{1F4306A7-C50A-4B42-9AAD-CBDC3EAD87F7}"/>
              </a:ext>
            </a:extLst>
          </p:cNvPr>
          <p:cNvSpPr txBox="1"/>
          <p:nvPr/>
        </p:nvSpPr>
        <p:spPr>
          <a:xfrm>
            <a:off x="2790334" y="348295"/>
            <a:ext cx="7268066" cy="369332"/>
          </a:xfrm>
          <a:prstGeom prst="rect">
            <a:avLst/>
          </a:prstGeom>
          <a:noFill/>
        </p:spPr>
        <p:txBody>
          <a:bodyPr wrap="square" rtlCol="0">
            <a:spAutoFit/>
          </a:bodyPr>
          <a:lstStyle/>
          <a:p>
            <a:r>
              <a:rPr lang="en-SG" dirty="0">
                <a:solidFill>
                  <a:schemeClr val="bg1"/>
                </a:solidFill>
              </a:rPr>
              <a:t>Survey on credit card usage in the last 3 months</a:t>
            </a:r>
          </a:p>
        </p:txBody>
      </p:sp>
    </p:spTree>
    <p:extLst>
      <p:ext uri="{BB962C8B-B14F-4D97-AF65-F5344CB8AC3E}">
        <p14:creationId xmlns:p14="http://schemas.microsoft.com/office/powerpoint/2010/main" val="1906390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4286D8-0B1A-4839-A856-0706893E6369}"/>
              </a:ext>
            </a:extLst>
          </p:cNvPr>
          <p:cNvPicPr>
            <a:picLocks noChangeAspect="1"/>
          </p:cNvPicPr>
          <p:nvPr/>
        </p:nvPicPr>
        <p:blipFill>
          <a:blip r:embed="rId3"/>
          <a:stretch>
            <a:fillRect/>
          </a:stretch>
        </p:blipFill>
        <p:spPr>
          <a:xfrm>
            <a:off x="3687128" y="4799522"/>
            <a:ext cx="7795577" cy="1802581"/>
          </a:xfrm>
          <a:prstGeom prst="rect">
            <a:avLst/>
          </a:prstGeom>
        </p:spPr>
      </p:pic>
      <p:pic>
        <p:nvPicPr>
          <p:cNvPr id="9" name="Picture 8">
            <a:extLst>
              <a:ext uri="{FF2B5EF4-FFF2-40B4-BE49-F238E27FC236}">
                <a16:creationId xmlns:a16="http://schemas.microsoft.com/office/drawing/2014/main" id="{91699030-88A4-4108-8F5C-0D04BD3E45BF}"/>
              </a:ext>
            </a:extLst>
          </p:cNvPr>
          <p:cNvPicPr>
            <a:picLocks noChangeAspect="1"/>
          </p:cNvPicPr>
          <p:nvPr/>
        </p:nvPicPr>
        <p:blipFill>
          <a:blip r:embed="rId4"/>
          <a:stretch>
            <a:fillRect/>
          </a:stretch>
        </p:blipFill>
        <p:spPr>
          <a:xfrm>
            <a:off x="3990023" y="1419464"/>
            <a:ext cx="7867650" cy="1409700"/>
          </a:xfrm>
          <a:prstGeom prst="rect">
            <a:avLst/>
          </a:prstGeom>
        </p:spPr>
      </p:pic>
      <p:pic>
        <p:nvPicPr>
          <p:cNvPr id="11" name="Picture 10">
            <a:extLst>
              <a:ext uri="{FF2B5EF4-FFF2-40B4-BE49-F238E27FC236}">
                <a16:creationId xmlns:a16="http://schemas.microsoft.com/office/drawing/2014/main" id="{4CFA8009-244E-480B-BB5A-C8909939F0ED}"/>
              </a:ext>
            </a:extLst>
          </p:cNvPr>
          <p:cNvPicPr>
            <a:picLocks noChangeAspect="1"/>
          </p:cNvPicPr>
          <p:nvPr/>
        </p:nvPicPr>
        <p:blipFill>
          <a:blip r:embed="rId5"/>
          <a:stretch>
            <a:fillRect/>
          </a:stretch>
        </p:blipFill>
        <p:spPr>
          <a:xfrm>
            <a:off x="158432" y="195135"/>
            <a:ext cx="5361305" cy="1818244"/>
          </a:xfrm>
          <a:prstGeom prst="rect">
            <a:avLst/>
          </a:prstGeom>
        </p:spPr>
      </p:pic>
      <p:pic>
        <p:nvPicPr>
          <p:cNvPr id="4" name="Picture 3">
            <a:extLst>
              <a:ext uri="{FF2B5EF4-FFF2-40B4-BE49-F238E27FC236}">
                <a16:creationId xmlns:a16="http://schemas.microsoft.com/office/drawing/2014/main" id="{11856E34-D8F9-42F8-805B-B20562CFE3F7}"/>
              </a:ext>
            </a:extLst>
          </p:cNvPr>
          <p:cNvPicPr>
            <a:picLocks noChangeAspect="1"/>
          </p:cNvPicPr>
          <p:nvPr/>
        </p:nvPicPr>
        <p:blipFill>
          <a:blip r:embed="rId6"/>
          <a:stretch>
            <a:fillRect/>
          </a:stretch>
        </p:blipFill>
        <p:spPr>
          <a:xfrm>
            <a:off x="158432" y="2916550"/>
            <a:ext cx="8057115" cy="1795586"/>
          </a:xfrm>
          <a:prstGeom prst="rect">
            <a:avLst/>
          </a:prstGeom>
        </p:spPr>
      </p:pic>
    </p:spTree>
    <p:extLst>
      <p:ext uri="{BB962C8B-B14F-4D97-AF65-F5344CB8AC3E}">
        <p14:creationId xmlns:p14="http://schemas.microsoft.com/office/powerpoint/2010/main" val="1354191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0FE22-DBFD-405D-816C-5F0853AB77F1}"/>
              </a:ext>
            </a:extLst>
          </p:cNvPr>
          <p:cNvSpPr>
            <a:spLocks noGrp="1"/>
          </p:cNvSpPr>
          <p:nvPr>
            <p:ph type="title"/>
          </p:nvPr>
        </p:nvSpPr>
        <p:spPr/>
        <p:txBody>
          <a:bodyPr>
            <a:normAutofit fontScale="90000"/>
          </a:bodyPr>
          <a:lstStyle/>
          <a:p>
            <a:r>
              <a:rPr lang="en-SG" dirty="0"/>
              <a:t>Types of credit card fraud</a:t>
            </a:r>
          </a:p>
        </p:txBody>
      </p:sp>
      <p:sp>
        <p:nvSpPr>
          <p:cNvPr id="3" name="Content Placeholder 2">
            <a:extLst>
              <a:ext uri="{FF2B5EF4-FFF2-40B4-BE49-F238E27FC236}">
                <a16:creationId xmlns:a16="http://schemas.microsoft.com/office/drawing/2014/main" id="{2FDEFE82-239B-4E8F-ADA8-6449338036B9}"/>
              </a:ext>
            </a:extLst>
          </p:cNvPr>
          <p:cNvSpPr>
            <a:spLocks noGrp="1"/>
          </p:cNvSpPr>
          <p:nvPr>
            <p:ph idx="1"/>
          </p:nvPr>
        </p:nvSpPr>
        <p:spPr/>
        <p:txBody>
          <a:bodyPr>
            <a:normAutofit/>
          </a:bodyPr>
          <a:lstStyle/>
          <a:p>
            <a:pPr marL="457200" indent="-457200">
              <a:buFont typeface="Arial" panose="020B0604020202020204" pitchFamily="34" charset="0"/>
              <a:buChar char="•"/>
            </a:pPr>
            <a:endParaRPr lang="en-US" b="0" i="0" dirty="0">
              <a:solidFill>
                <a:srgbClr val="333333"/>
              </a:solidFill>
              <a:effectLst/>
              <a:latin typeface="Lato"/>
            </a:endParaRPr>
          </a:p>
          <a:p>
            <a:pPr marL="457200" indent="-457200">
              <a:buFont typeface="Arial" panose="020B0604020202020204" pitchFamily="34" charset="0"/>
              <a:buChar char="•"/>
            </a:pPr>
            <a:endParaRPr lang="en-SG" dirty="0"/>
          </a:p>
        </p:txBody>
      </p:sp>
      <p:sp>
        <p:nvSpPr>
          <p:cNvPr id="5" name="TextBox 4">
            <a:extLst>
              <a:ext uri="{FF2B5EF4-FFF2-40B4-BE49-F238E27FC236}">
                <a16:creationId xmlns:a16="http://schemas.microsoft.com/office/drawing/2014/main" id="{1169C5B8-6ED7-4DDD-AA81-39917A0D6B6D}"/>
              </a:ext>
            </a:extLst>
          </p:cNvPr>
          <p:cNvSpPr txBox="1"/>
          <p:nvPr/>
        </p:nvSpPr>
        <p:spPr>
          <a:xfrm>
            <a:off x="751252" y="2482977"/>
            <a:ext cx="10686448" cy="3695050"/>
          </a:xfrm>
          <a:prstGeom prst="rect">
            <a:avLst/>
          </a:prstGeom>
          <a:noFill/>
        </p:spPr>
        <p:txBody>
          <a:bodyPr wrap="square">
            <a:spAutoFit/>
          </a:bodyPr>
          <a:lstStyle/>
          <a:p>
            <a:pPr marL="457200" indent="-457200" defTabSz="914400">
              <a:lnSpc>
                <a:spcPct val="101000"/>
              </a:lnSpc>
              <a:spcBef>
                <a:spcPts val="700"/>
              </a:spcBef>
              <a:spcAft>
                <a:spcPts val="700"/>
              </a:spcAft>
              <a:buFont typeface="+mj-lt"/>
              <a:buAutoNum type="arabicPeriod"/>
            </a:pPr>
            <a:r>
              <a:rPr lang="en-US" sz="2000" b="1" spc="50" dirty="0">
                <a:solidFill>
                  <a:srgbClr val="333333"/>
                </a:solidFill>
                <a:latin typeface="Lato"/>
              </a:rPr>
              <a:t>Card-present (CP) scenarios </a:t>
            </a:r>
            <a:r>
              <a:rPr lang="en-US" sz="2000" spc="50" dirty="0">
                <a:solidFill>
                  <a:srgbClr val="333333"/>
                </a:solidFill>
                <a:latin typeface="Lato"/>
              </a:rPr>
              <a:t>- refer to scenarios where a physical card is needed. </a:t>
            </a:r>
          </a:p>
          <a:p>
            <a:pPr marL="914400" lvl="1" indent="-457200" defTabSz="914400">
              <a:lnSpc>
                <a:spcPct val="101000"/>
              </a:lnSpc>
              <a:spcBef>
                <a:spcPts val="700"/>
              </a:spcBef>
              <a:spcAft>
                <a:spcPts val="700"/>
              </a:spcAft>
              <a:buFont typeface="Arial" panose="020B0604020202020204" pitchFamily="34" charset="0"/>
              <a:buChar char="•"/>
            </a:pPr>
            <a:r>
              <a:rPr lang="en-SG" sz="2000" i="0" dirty="0">
                <a:solidFill>
                  <a:srgbClr val="333333"/>
                </a:solidFill>
                <a:effectLst/>
                <a:latin typeface="Lato"/>
              </a:rPr>
              <a:t>Lost or stolen card</a:t>
            </a:r>
            <a:endParaRPr lang="en-US" sz="2000" i="0" spc="50" dirty="0">
              <a:solidFill>
                <a:srgbClr val="333333"/>
              </a:solidFill>
              <a:effectLst/>
              <a:latin typeface="Lato"/>
            </a:endParaRPr>
          </a:p>
          <a:p>
            <a:pPr marL="914400" lvl="1" indent="-457200" defTabSz="914400">
              <a:lnSpc>
                <a:spcPct val="101000"/>
              </a:lnSpc>
              <a:spcBef>
                <a:spcPts val="700"/>
              </a:spcBef>
              <a:spcAft>
                <a:spcPts val="700"/>
              </a:spcAft>
              <a:buFont typeface="Arial" panose="020B0604020202020204" pitchFamily="34" charset="0"/>
              <a:buChar char="•"/>
            </a:pPr>
            <a:r>
              <a:rPr lang="en-SG" sz="2000" i="0" dirty="0">
                <a:solidFill>
                  <a:srgbClr val="333333"/>
                </a:solidFill>
                <a:effectLst/>
                <a:latin typeface="Lato"/>
              </a:rPr>
              <a:t>Counterfeited card</a:t>
            </a:r>
          </a:p>
          <a:p>
            <a:pPr marL="914400" lvl="1" indent="-457200" defTabSz="914400">
              <a:lnSpc>
                <a:spcPct val="101000"/>
              </a:lnSpc>
              <a:spcBef>
                <a:spcPts val="700"/>
              </a:spcBef>
              <a:spcAft>
                <a:spcPts val="700"/>
              </a:spcAft>
              <a:buFont typeface="Arial" panose="020B0604020202020204" pitchFamily="34" charset="0"/>
              <a:buChar char="•"/>
            </a:pPr>
            <a:r>
              <a:rPr lang="en-SG" sz="2000" i="0" dirty="0">
                <a:solidFill>
                  <a:srgbClr val="333333"/>
                </a:solidFill>
                <a:effectLst/>
                <a:latin typeface="Lato"/>
              </a:rPr>
              <a:t>Card not received</a:t>
            </a:r>
          </a:p>
          <a:p>
            <a:pPr marL="457200" indent="-457200" defTabSz="914400">
              <a:lnSpc>
                <a:spcPct val="101000"/>
              </a:lnSpc>
              <a:spcBef>
                <a:spcPts val="700"/>
              </a:spcBef>
              <a:spcAft>
                <a:spcPts val="700"/>
              </a:spcAft>
              <a:buFont typeface="+mj-lt"/>
              <a:buAutoNum type="arabicPeriod"/>
            </a:pPr>
            <a:r>
              <a:rPr lang="en-US" sz="2000" b="1" spc="50" dirty="0">
                <a:solidFill>
                  <a:srgbClr val="333333"/>
                </a:solidFill>
                <a:latin typeface="Lato"/>
              </a:rPr>
              <a:t>Card-not-present (CNP) scenarios </a:t>
            </a:r>
            <a:r>
              <a:rPr lang="en-US" sz="2000" spc="50" dirty="0">
                <a:solidFill>
                  <a:srgbClr val="333333"/>
                </a:solidFill>
                <a:latin typeface="Lato"/>
              </a:rPr>
              <a:t>- refers to scenarios where a physical card does not need to be used. </a:t>
            </a:r>
          </a:p>
          <a:p>
            <a:pPr marL="914400" lvl="1" indent="-457200" defTabSz="914400">
              <a:lnSpc>
                <a:spcPct val="101000"/>
              </a:lnSpc>
              <a:spcBef>
                <a:spcPts val="700"/>
              </a:spcBef>
              <a:spcAft>
                <a:spcPts val="700"/>
              </a:spcAft>
              <a:buFont typeface="Arial" panose="020B0604020202020204" pitchFamily="34" charset="0"/>
              <a:buChar char="•"/>
            </a:pPr>
            <a:r>
              <a:rPr lang="en-SG" sz="2000" dirty="0">
                <a:solidFill>
                  <a:srgbClr val="333333"/>
                </a:solidFill>
                <a:latin typeface="Lato"/>
              </a:rPr>
              <a:t>I</a:t>
            </a:r>
            <a:r>
              <a:rPr lang="en-SG" sz="2000" b="0" i="0" dirty="0">
                <a:solidFill>
                  <a:srgbClr val="333333"/>
                </a:solidFill>
                <a:effectLst/>
                <a:latin typeface="Lato"/>
              </a:rPr>
              <a:t>llegally obtained payment credentials via phishing, scam text message</a:t>
            </a:r>
            <a:endParaRPr lang="en-US" sz="2000" i="0" spc="50" dirty="0">
              <a:solidFill>
                <a:srgbClr val="333333"/>
              </a:solidFill>
              <a:effectLst/>
              <a:latin typeface="Lato"/>
            </a:endParaRPr>
          </a:p>
          <a:p>
            <a:pPr marL="914400" lvl="1" indent="-457200" defTabSz="914400">
              <a:lnSpc>
                <a:spcPct val="101000"/>
              </a:lnSpc>
              <a:spcBef>
                <a:spcPts val="700"/>
              </a:spcBef>
              <a:spcAft>
                <a:spcPts val="700"/>
              </a:spcAft>
              <a:buFont typeface="Arial" panose="020B0604020202020204" pitchFamily="34" charset="0"/>
              <a:buChar char="•"/>
            </a:pPr>
            <a:endParaRPr lang="en-US" sz="2400" spc="50" dirty="0">
              <a:solidFill>
                <a:srgbClr val="333333"/>
              </a:solidFill>
              <a:latin typeface="Lato"/>
            </a:endParaRPr>
          </a:p>
        </p:txBody>
      </p:sp>
    </p:spTree>
    <p:extLst>
      <p:ext uri="{BB962C8B-B14F-4D97-AF65-F5344CB8AC3E}">
        <p14:creationId xmlns:p14="http://schemas.microsoft.com/office/powerpoint/2010/main" val="2865921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EB6D1D7F-141C-4D8E-BFBA-D95B68E16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58DA214-7FDA-4C9D-A7CF-9AD725E29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734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40FE22-DBFD-405D-816C-5F0853AB77F1}"/>
              </a:ext>
            </a:extLst>
          </p:cNvPr>
          <p:cNvSpPr>
            <a:spLocks noGrp="1"/>
          </p:cNvSpPr>
          <p:nvPr>
            <p:ph type="title"/>
          </p:nvPr>
        </p:nvSpPr>
        <p:spPr>
          <a:xfrm>
            <a:off x="960120" y="643467"/>
            <a:ext cx="3212593" cy="5571066"/>
          </a:xfrm>
        </p:spPr>
        <p:txBody>
          <a:bodyPr>
            <a:normAutofit/>
          </a:bodyPr>
          <a:lstStyle/>
          <a:p>
            <a:r>
              <a:rPr lang="en-US" sz="5100" dirty="0"/>
              <a:t>Credit card fraud detection system</a:t>
            </a:r>
            <a:endParaRPr lang="en-SG" sz="5100" dirty="0"/>
          </a:p>
        </p:txBody>
      </p:sp>
      <p:sp>
        <p:nvSpPr>
          <p:cNvPr id="6" name="Content Placeholder 2">
            <a:extLst>
              <a:ext uri="{FF2B5EF4-FFF2-40B4-BE49-F238E27FC236}">
                <a16:creationId xmlns:a16="http://schemas.microsoft.com/office/drawing/2014/main" id="{F4669F72-453D-48B4-A9D8-D78D12C41664}"/>
              </a:ext>
            </a:extLst>
          </p:cNvPr>
          <p:cNvSpPr txBox="1">
            <a:spLocks/>
          </p:cNvSpPr>
          <p:nvPr/>
        </p:nvSpPr>
        <p:spPr>
          <a:xfrm>
            <a:off x="960120" y="2587752"/>
            <a:ext cx="10268712" cy="3593592"/>
          </a:xfrm>
          <a:prstGeom prst="rect">
            <a:avLst/>
          </a:prstGeom>
        </p:spPr>
        <p:txBody>
          <a:bodyPr vert="horz" lIns="91440" tIns="45720" rIns="91440" bIns="45720" rtlCol="0">
            <a:normAutofit/>
          </a:bodyPr>
          <a:lst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endParaRPr lang="en-SG" dirty="0"/>
          </a:p>
        </p:txBody>
      </p:sp>
      <p:graphicFrame>
        <p:nvGraphicFramePr>
          <p:cNvPr id="18" name="Content Placeholder 2">
            <a:extLst>
              <a:ext uri="{FF2B5EF4-FFF2-40B4-BE49-F238E27FC236}">
                <a16:creationId xmlns:a16="http://schemas.microsoft.com/office/drawing/2014/main" id="{14AC2DFF-2CE7-4AC5-93C3-F0CDF7528B25}"/>
              </a:ext>
            </a:extLst>
          </p:cNvPr>
          <p:cNvGraphicFramePr>
            <a:graphicFrameLocks noGrp="1"/>
          </p:cNvGraphicFramePr>
          <p:nvPr>
            <p:ph idx="1"/>
            <p:extLst>
              <p:ext uri="{D42A27DB-BD31-4B8C-83A1-F6EECF244321}">
                <p14:modId xmlns:p14="http://schemas.microsoft.com/office/powerpoint/2010/main" val="3117769538"/>
              </p:ext>
            </p:extLst>
          </p:nvPr>
        </p:nvGraphicFramePr>
        <p:xfrm>
          <a:off x="5300812" y="643466"/>
          <a:ext cx="5927575" cy="5554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52314389"/>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11709ACA-BE88-463C-81D7-475AF060B95D}"/>
              </a:ext>
            </a:extLst>
          </p:cNvPr>
          <p:cNvPicPr>
            <a:picLocks noChangeAspect="1"/>
          </p:cNvPicPr>
          <p:nvPr/>
        </p:nvPicPr>
        <p:blipFill>
          <a:blip r:embed="rId3"/>
          <a:stretch>
            <a:fillRect/>
          </a:stretch>
        </p:blipFill>
        <p:spPr>
          <a:xfrm>
            <a:off x="2624455" y="1698999"/>
            <a:ext cx="6638925" cy="4486275"/>
          </a:xfrm>
          <a:prstGeom prst="rect">
            <a:avLst/>
          </a:prstGeom>
        </p:spPr>
      </p:pic>
      <p:sp>
        <p:nvSpPr>
          <p:cNvPr id="3" name="TextBox 2">
            <a:extLst>
              <a:ext uri="{FF2B5EF4-FFF2-40B4-BE49-F238E27FC236}">
                <a16:creationId xmlns:a16="http://schemas.microsoft.com/office/drawing/2014/main" id="{C49BE30C-44AE-4CC5-A204-92A3B024A195}"/>
              </a:ext>
            </a:extLst>
          </p:cNvPr>
          <p:cNvSpPr txBox="1"/>
          <p:nvPr/>
        </p:nvSpPr>
        <p:spPr>
          <a:xfrm>
            <a:off x="487680" y="170237"/>
            <a:ext cx="3058160" cy="1188852"/>
          </a:xfrm>
          <a:prstGeom prst="rect">
            <a:avLst/>
          </a:prstGeom>
          <a:noFill/>
        </p:spPr>
        <p:txBody>
          <a:bodyPr wrap="square">
            <a:spAutoFit/>
          </a:bodyPr>
          <a:lstStyle/>
          <a:p>
            <a:pPr lvl="1" defTabSz="914400">
              <a:lnSpc>
                <a:spcPct val="101000"/>
              </a:lnSpc>
              <a:spcBef>
                <a:spcPts val="700"/>
              </a:spcBef>
              <a:spcAft>
                <a:spcPts val="700"/>
              </a:spcAft>
            </a:pPr>
            <a:r>
              <a:rPr lang="en-US" sz="2400" dirty="0">
                <a:solidFill>
                  <a:schemeClr val="accent2">
                    <a:lumMod val="60000"/>
                    <a:lumOff val="40000"/>
                  </a:schemeClr>
                </a:solidFill>
              </a:rPr>
              <a:t>Performs conventional security checks</a:t>
            </a:r>
            <a:endParaRPr lang="en-US" sz="2400" spc="50" dirty="0">
              <a:solidFill>
                <a:schemeClr val="accent2">
                  <a:lumMod val="60000"/>
                  <a:lumOff val="40000"/>
                </a:schemeClr>
              </a:solidFill>
              <a:latin typeface="Lato"/>
            </a:endParaRPr>
          </a:p>
        </p:txBody>
      </p:sp>
      <p:cxnSp>
        <p:nvCxnSpPr>
          <p:cNvPr id="5" name="Straight Arrow Connector 4">
            <a:extLst>
              <a:ext uri="{FF2B5EF4-FFF2-40B4-BE49-F238E27FC236}">
                <a16:creationId xmlns:a16="http://schemas.microsoft.com/office/drawing/2014/main" id="{4BACB638-B349-483E-B413-07FE5801ADFE}"/>
              </a:ext>
            </a:extLst>
          </p:cNvPr>
          <p:cNvCxnSpPr>
            <a:stCxn id="3" idx="2"/>
          </p:cNvCxnSpPr>
          <p:nvPr/>
        </p:nvCxnSpPr>
        <p:spPr>
          <a:xfrm>
            <a:off x="2016760" y="1359089"/>
            <a:ext cx="1783080" cy="18819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0578458-649F-4E66-B48D-3F95B4135B1A}"/>
              </a:ext>
            </a:extLst>
          </p:cNvPr>
          <p:cNvSpPr txBox="1"/>
          <p:nvPr/>
        </p:nvSpPr>
        <p:spPr>
          <a:xfrm>
            <a:off x="3474720" y="312477"/>
            <a:ext cx="3058160" cy="1189043"/>
          </a:xfrm>
          <a:prstGeom prst="rect">
            <a:avLst/>
          </a:prstGeom>
          <a:noFill/>
        </p:spPr>
        <p:txBody>
          <a:bodyPr wrap="square">
            <a:spAutoFit/>
          </a:bodyPr>
          <a:lstStyle/>
          <a:p>
            <a:pPr lvl="1" defTabSz="914400">
              <a:lnSpc>
                <a:spcPct val="101000"/>
              </a:lnSpc>
              <a:spcBef>
                <a:spcPts val="700"/>
              </a:spcBef>
              <a:spcAft>
                <a:spcPts val="700"/>
              </a:spcAft>
            </a:pPr>
            <a:r>
              <a:rPr lang="en-US" sz="2400" b="1" dirty="0">
                <a:solidFill>
                  <a:schemeClr val="accent2">
                    <a:lumMod val="60000"/>
                    <a:lumOff val="40000"/>
                  </a:schemeClr>
                </a:solidFill>
              </a:rPr>
              <a:t>Statements that Block transaction requests</a:t>
            </a:r>
          </a:p>
        </p:txBody>
      </p:sp>
      <p:cxnSp>
        <p:nvCxnSpPr>
          <p:cNvPr id="7" name="Straight Arrow Connector 6">
            <a:extLst>
              <a:ext uri="{FF2B5EF4-FFF2-40B4-BE49-F238E27FC236}">
                <a16:creationId xmlns:a16="http://schemas.microsoft.com/office/drawing/2014/main" id="{3C5D4362-F4C8-4AB3-A49D-3BE8D62F8CF3}"/>
              </a:ext>
            </a:extLst>
          </p:cNvPr>
          <p:cNvCxnSpPr>
            <a:cxnSpLocks/>
            <a:stCxn id="6" idx="2"/>
          </p:cNvCxnSpPr>
          <p:nvPr/>
        </p:nvCxnSpPr>
        <p:spPr>
          <a:xfrm>
            <a:off x="5003800" y="1501520"/>
            <a:ext cx="254000" cy="1526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4ECF58E-D6FE-4AC0-AAC2-185656660EA1}"/>
              </a:ext>
            </a:extLst>
          </p:cNvPr>
          <p:cNvSpPr txBox="1"/>
          <p:nvPr/>
        </p:nvSpPr>
        <p:spPr>
          <a:xfrm>
            <a:off x="6883400" y="348842"/>
            <a:ext cx="2428240" cy="815802"/>
          </a:xfrm>
          <a:prstGeom prst="rect">
            <a:avLst/>
          </a:prstGeom>
          <a:noFill/>
        </p:spPr>
        <p:txBody>
          <a:bodyPr wrap="square">
            <a:spAutoFit/>
          </a:bodyPr>
          <a:lstStyle/>
          <a:p>
            <a:pPr lvl="1" defTabSz="914400">
              <a:lnSpc>
                <a:spcPct val="101000"/>
              </a:lnSpc>
              <a:spcBef>
                <a:spcPts val="700"/>
              </a:spcBef>
              <a:spcAft>
                <a:spcPts val="700"/>
              </a:spcAft>
            </a:pPr>
            <a:r>
              <a:rPr lang="en-US" sz="2400" dirty="0">
                <a:solidFill>
                  <a:schemeClr val="accent2">
                    <a:lumMod val="60000"/>
                    <a:lumOff val="40000"/>
                  </a:schemeClr>
                </a:solidFill>
              </a:rPr>
              <a:t>Assigns a fraud score</a:t>
            </a:r>
            <a:endParaRPr lang="en-US" sz="2400" b="1" dirty="0">
              <a:solidFill>
                <a:schemeClr val="accent2">
                  <a:lumMod val="60000"/>
                  <a:lumOff val="40000"/>
                </a:schemeClr>
              </a:solidFill>
            </a:endParaRPr>
          </a:p>
        </p:txBody>
      </p:sp>
      <p:cxnSp>
        <p:nvCxnSpPr>
          <p:cNvPr id="12" name="Straight Arrow Connector 11">
            <a:extLst>
              <a:ext uri="{FF2B5EF4-FFF2-40B4-BE49-F238E27FC236}">
                <a16:creationId xmlns:a16="http://schemas.microsoft.com/office/drawing/2014/main" id="{1FB08024-333D-4AAB-B6A8-F152A9982BF7}"/>
              </a:ext>
            </a:extLst>
          </p:cNvPr>
          <p:cNvCxnSpPr>
            <a:cxnSpLocks/>
          </p:cNvCxnSpPr>
          <p:nvPr/>
        </p:nvCxnSpPr>
        <p:spPr>
          <a:xfrm flipH="1">
            <a:off x="6934202" y="1128279"/>
            <a:ext cx="1163318" cy="1432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580B8CA-AA03-4C06-AFB0-06199D180923}"/>
              </a:ext>
            </a:extLst>
          </p:cNvPr>
          <p:cNvSpPr txBox="1"/>
          <p:nvPr/>
        </p:nvSpPr>
        <p:spPr>
          <a:xfrm>
            <a:off x="9368934" y="274145"/>
            <a:ext cx="2428240" cy="1189043"/>
          </a:xfrm>
          <a:prstGeom prst="rect">
            <a:avLst/>
          </a:prstGeom>
          <a:noFill/>
        </p:spPr>
        <p:txBody>
          <a:bodyPr wrap="square">
            <a:spAutoFit/>
          </a:bodyPr>
          <a:lstStyle/>
          <a:p>
            <a:pPr lvl="1" defTabSz="914400">
              <a:lnSpc>
                <a:spcPct val="101000"/>
              </a:lnSpc>
              <a:spcBef>
                <a:spcPts val="700"/>
              </a:spcBef>
              <a:spcAft>
                <a:spcPts val="700"/>
              </a:spcAft>
            </a:pPr>
            <a:r>
              <a:rPr lang="en-US" sz="2400" dirty="0">
                <a:solidFill>
                  <a:schemeClr val="accent2">
                    <a:lumMod val="60000"/>
                    <a:lumOff val="40000"/>
                  </a:schemeClr>
                </a:solidFill>
              </a:rPr>
              <a:t>Analyzing credit card transactions</a:t>
            </a:r>
            <a:endParaRPr lang="en-US" sz="2400" b="1" dirty="0">
              <a:solidFill>
                <a:schemeClr val="accent2">
                  <a:lumMod val="60000"/>
                  <a:lumOff val="40000"/>
                </a:schemeClr>
              </a:solidFill>
            </a:endParaRPr>
          </a:p>
        </p:txBody>
      </p:sp>
      <p:cxnSp>
        <p:nvCxnSpPr>
          <p:cNvPr id="15" name="Straight Arrow Connector 14">
            <a:extLst>
              <a:ext uri="{FF2B5EF4-FFF2-40B4-BE49-F238E27FC236}">
                <a16:creationId xmlns:a16="http://schemas.microsoft.com/office/drawing/2014/main" id="{1A69F3D8-BD6D-4F8B-843B-13B5BB5AE446}"/>
              </a:ext>
            </a:extLst>
          </p:cNvPr>
          <p:cNvCxnSpPr>
            <a:cxnSpLocks/>
          </p:cNvCxnSpPr>
          <p:nvPr/>
        </p:nvCxnSpPr>
        <p:spPr>
          <a:xfrm flipH="1">
            <a:off x="8351520" y="1463188"/>
            <a:ext cx="1823720" cy="1777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8BC3AE8-6910-491E-87E5-0C346D7F3AF7}"/>
              </a:ext>
            </a:extLst>
          </p:cNvPr>
          <p:cNvSpPr txBox="1"/>
          <p:nvPr/>
        </p:nvSpPr>
        <p:spPr>
          <a:xfrm>
            <a:off x="9053974" y="3982873"/>
            <a:ext cx="3058160" cy="815993"/>
          </a:xfrm>
          <a:prstGeom prst="rect">
            <a:avLst/>
          </a:prstGeom>
          <a:noFill/>
        </p:spPr>
        <p:txBody>
          <a:bodyPr wrap="square">
            <a:spAutoFit/>
          </a:bodyPr>
          <a:lstStyle/>
          <a:p>
            <a:pPr lvl="1" defTabSz="914400">
              <a:lnSpc>
                <a:spcPct val="101000"/>
              </a:lnSpc>
              <a:spcBef>
                <a:spcPts val="700"/>
              </a:spcBef>
              <a:spcAft>
                <a:spcPts val="700"/>
              </a:spcAft>
            </a:pPr>
            <a:r>
              <a:rPr lang="en-US" sz="2400" b="1" dirty="0">
                <a:solidFill>
                  <a:srgbClr val="00B0F0"/>
                </a:solidFill>
              </a:rPr>
              <a:t>Machine Learning Model</a:t>
            </a:r>
          </a:p>
        </p:txBody>
      </p:sp>
      <p:cxnSp>
        <p:nvCxnSpPr>
          <p:cNvPr id="20" name="Straight Arrow Connector 19">
            <a:extLst>
              <a:ext uri="{FF2B5EF4-FFF2-40B4-BE49-F238E27FC236}">
                <a16:creationId xmlns:a16="http://schemas.microsoft.com/office/drawing/2014/main" id="{62BBE1EE-F466-4403-BA0A-746B2209F247}"/>
              </a:ext>
            </a:extLst>
          </p:cNvPr>
          <p:cNvCxnSpPr>
            <a:cxnSpLocks/>
          </p:cNvCxnSpPr>
          <p:nvPr/>
        </p:nvCxnSpPr>
        <p:spPr>
          <a:xfrm flipH="1">
            <a:off x="7228114" y="4390869"/>
            <a:ext cx="2211977" cy="39214"/>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6820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B6D1D7F-141C-4D8E-BFBA-D95B68E16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40FE22-DBFD-405D-816C-5F0853AB77F1}"/>
              </a:ext>
            </a:extLst>
          </p:cNvPr>
          <p:cNvSpPr>
            <a:spLocks noGrp="1"/>
          </p:cNvSpPr>
          <p:nvPr>
            <p:ph type="title"/>
          </p:nvPr>
        </p:nvSpPr>
        <p:spPr>
          <a:xfrm>
            <a:off x="960120" y="317814"/>
            <a:ext cx="10268712" cy="1700784"/>
          </a:xfrm>
        </p:spPr>
        <p:txBody>
          <a:bodyPr>
            <a:normAutofit/>
          </a:bodyPr>
          <a:lstStyle/>
          <a:p>
            <a:r>
              <a:rPr lang="en-SG" dirty="0"/>
              <a:t>The Problem</a:t>
            </a:r>
          </a:p>
        </p:txBody>
      </p:sp>
      <p:sp>
        <p:nvSpPr>
          <p:cNvPr id="12" name="Rectangle 11">
            <a:extLst>
              <a:ext uri="{FF2B5EF4-FFF2-40B4-BE49-F238E27FC236}">
                <a16:creationId xmlns:a16="http://schemas.microsoft.com/office/drawing/2014/main" id="{27248369-464E-49D1-91FC-BC34A50A6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2264989"/>
            <a:ext cx="12188952" cy="39521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6258CD56-4835-4A9A-87D6-E539067C7385}"/>
              </a:ext>
            </a:extLst>
          </p:cNvPr>
          <p:cNvGraphicFramePr>
            <a:graphicFrameLocks noGrp="1"/>
          </p:cNvGraphicFramePr>
          <p:nvPr>
            <p:ph idx="1"/>
            <p:extLst>
              <p:ext uri="{D42A27DB-BD31-4B8C-83A1-F6EECF244321}">
                <p14:modId xmlns:p14="http://schemas.microsoft.com/office/powerpoint/2010/main" val="2363090320"/>
              </p:ext>
            </p:extLst>
          </p:nvPr>
        </p:nvGraphicFramePr>
        <p:xfrm>
          <a:off x="960438" y="2749621"/>
          <a:ext cx="10267950" cy="29829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41096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EB6D1D7F-141C-4D8E-BFBA-D95B68E16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7248369-464E-49D1-91FC-BC34A50A6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64989"/>
            <a:ext cx="7819644" cy="39521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6258CD56-4835-4A9A-87D6-E539067C7385}"/>
              </a:ext>
            </a:extLst>
          </p:cNvPr>
          <p:cNvGraphicFramePr>
            <a:graphicFrameLocks noGrp="1"/>
          </p:cNvGraphicFramePr>
          <p:nvPr>
            <p:ph idx="1"/>
            <p:extLst>
              <p:ext uri="{D42A27DB-BD31-4B8C-83A1-F6EECF244321}">
                <p14:modId xmlns:p14="http://schemas.microsoft.com/office/powerpoint/2010/main" val="4000822896"/>
              </p:ext>
            </p:extLst>
          </p:nvPr>
        </p:nvGraphicFramePr>
        <p:xfrm>
          <a:off x="960120" y="2587625"/>
          <a:ext cx="6214533" cy="3317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09518239"/>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0ABBF-E471-4898-9970-0C1EE1022AAD}"/>
              </a:ext>
            </a:extLst>
          </p:cNvPr>
          <p:cNvSpPr>
            <a:spLocks noGrp="1"/>
          </p:cNvSpPr>
          <p:nvPr>
            <p:ph type="title"/>
          </p:nvPr>
        </p:nvSpPr>
        <p:spPr/>
        <p:txBody>
          <a:bodyPr/>
          <a:lstStyle/>
          <a:p>
            <a:r>
              <a:rPr lang="en-SG" dirty="0"/>
              <a:t>Background of the data</a:t>
            </a:r>
          </a:p>
        </p:txBody>
      </p:sp>
      <p:sp>
        <p:nvSpPr>
          <p:cNvPr id="3" name="Content Placeholder 2">
            <a:extLst>
              <a:ext uri="{FF2B5EF4-FFF2-40B4-BE49-F238E27FC236}">
                <a16:creationId xmlns:a16="http://schemas.microsoft.com/office/drawing/2014/main" id="{45E8B03B-7A43-4E90-B189-314BF35FA1B2}"/>
              </a:ext>
            </a:extLst>
          </p:cNvPr>
          <p:cNvSpPr>
            <a:spLocks noGrp="1"/>
          </p:cNvSpPr>
          <p:nvPr>
            <p:ph idx="1"/>
          </p:nvPr>
        </p:nvSpPr>
        <p:spPr>
          <a:xfrm>
            <a:off x="960120" y="2587753"/>
            <a:ext cx="9732023" cy="1613056"/>
          </a:xfrm>
        </p:spPr>
        <p:txBody>
          <a:bodyPr>
            <a:normAutofit fontScale="62500" lnSpcReduction="20000"/>
          </a:bodyPr>
          <a:lstStyle/>
          <a:p>
            <a:pPr marL="457200" indent="-457200">
              <a:buFont typeface="Arial" panose="020B0604020202020204" pitchFamily="34" charset="0"/>
              <a:buChar char="•"/>
            </a:pPr>
            <a:r>
              <a:rPr lang="en-US" dirty="0">
                <a:latin typeface="Inter"/>
              </a:rPr>
              <a:t>The dataset is a </a:t>
            </a:r>
            <a:r>
              <a:rPr lang="en-US" b="0" i="0" dirty="0">
                <a:solidFill>
                  <a:schemeClr val="accent3">
                    <a:lumMod val="75000"/>
                  </a:schemeClr>
                </a:solidFill>
                <a:effectLst/>
                <a:latin typeface="Lato"/>
              </a:rPr>
              <a:t>transaction data simulator of legitimate and fraudulent transactions</a:t>
            </a:r>
            <a:r>
              <a:rPr lang="en-US" b="0" i="0" dirty="0">
                <a:solidFill>
                  <a:srgbClr val="333333"/>
                </a:solidFill>
                <a:effectLst/>
                <a:latin typeface="Lato"/>
              </a:rPr>
              <a:t> which mimics a real-world dataset.</a:t>
            </a:r>
          </a:p>
          <a:p>
            <a:pPr marL="457200" indent="-457200">
              <a:buFont typeface="Arial" panose="020B0604020202020204" pitchFamily="34" charset="0"/>
              <a:buChar char="•"/>
            </a:pPr>
            <a:r>
              <a:rPr lang="en-US" b="0" i="0" dirty="0">
                <a:solidFill>
                  <a:srgbClr val="333333"/>
                </a:solidFill>
                <a:effectLst/>
                <a:latin typeface="Inter"/>
              </a:rPr>
              <a:t>The dataset was generated in 2021 by a collaboration between </a:t>
            </a:r>
            <a:r>
              <a:rPr lang="en-US" b="0" i="0" u="none" strike="noStrike" dirty="0">
                <a:solidFill>
                  <a:srgbClr val="0071BC"/>
                </a:solidFill>
                <a:effectLst/>
                <a:latin typeface="Lato"/>
              </a:rPr>
              <a:t>Machine Learning Group, </a:t>
            </a:r>
            <a:r>
              <a:rPr lang="en-US" b="0" i="0" u="none" strike="noStrike" dirty="0">
                <a:effectLst/>
                <a:latin typeface="Lato"/>
              </a:rPr>
              <a:t>University of Brussels, Belgium</a:t>
            </a:r>
            <a:r>
              <a:rPr lang="en-US" b="0" i="0" dirty="0">
                <a:effectLst/>
                <a:latin typeface="Lato"/>
              </a:rPr>
              <a:t> and </a:t>
            </a:r>
            <a:r>
              <a:rPr lang="en-US" b="0" i="0" u="none" strike="noStrike" dirty="0">
                <a:effectLst/>
                <a:latin typeface="Lato"/>
              </a:rPr>
              <a:t>Worldline</a:t>
            </a:r>
            <a:r>
              <a:rPr lang="en-US" dirty="0">
                <a:latin typeface="Lato"/>
              </a:rPr>
              <a:t>.</a:t>
            </a:r>
            <a:endParaRPr lang="en-US" u="none" strike="noStrike" dirty="0">
              <a:latin typeface="Lato"/>
            </a:endParaRPr>
          </a:p>
          <a:p>
            <a:pPr marL="457200" indent="-457200">
              <a:buFont typeface="Arial" panose="020B0604020202020204" pitchFamily="34" charset="0"/>
              <a:buChar char="•"/>
            </a:pPr>
            <a:r>
              <a:rPr lang="en-US" dirty="0">
                <a:solidFill>
                  <a:srgbClr val="0071BC"/>
                </a:solidFill>
                <a:latin typeface="Lato"/>
              </a:rPr>
              <a:t>Machine Learning Group </a:t>
            </a:r>
            <a:r>
              <a:rPr lang="en-US" dirty="0">
                <a:latin typeface="Lato"/>
              </a:rPr>
              <a:t>previously released the only publicly available dataset 3 years ago.</a:t>
            </a:r>
            <a:endParaRPr lang="en-US" u="none" strike="noStrike" dirty="0">
              <a:latin typeface="Lato"/>
            </a:endParaRPr>
          </a:p>
        </p:txBody>
      </p:sp>
      <p:pic>
        <p:nvPicPr>
          <p:cNvPr id="6" name="Picture 5">
            <a:extLst>
              <a:ext uri="{FF2B5EF4-FFF2-40B4-BE49-F238E27FC236}">
                <a16:creationId xmlns:a16="http://schemas.microsoft.com/office/drawing/2014/main" id="{1870295B-CCA7-412F-865F-72DED7E6C2A3}"/>
              </a:ext>
            </a:extLst>
          </p:cNvPr>
          <p:cNvPicPr>
            <a:picLocks noChangeAspect="1"/>
          </p:cNvPicPr>
          <p:nvPr/>
        </p:nvPicPr>
        <p:blipFill>
          <a:blip r:embed="rId3"/>
          <a:stretch>
            <a:fillRect/>
          </a:stretch>
        </p:blipFill>
        <p:spPr>
          <a:xfrm>
            <a:off x="3643577" y="4769964"/>
            <a:ext cx="8155303" cy="1473261"/>
          </a:xfrm>
          <a:prstGeom prst="rect">
            <a:avLst/>
          </a:prstGeom>
        </p:spPr>
      </p:pic>
      <p:pic>
        <p:nvPicPr>
          <p:cNvPr id="8" name="Picture 7">
            <a:extLst>
              <a:ext uri="{FF2B5EF4-FFF2-40B4-BE49-F238E27FC236}">
                <a16:creationId xmlns:a16="http://schemas.microsoft.com/office/drawing/2014/main" id="{EFA4872D-0955-467D-8D7E-8F6A25D28FBF}"/>
              </a:ext>
            </a:extLst>
          </p:cNvPr>
          <p:cNvPicPr>
            <a:picLocks noChangeAspect="1"/>
          </p:cNvPicPr>
          <p:nvPr/>
        </p:nvPicPr>
        <p:blipFill>
          <a:blip r:embed="rId4"/>
          <a:stretch>
            <a:fillRect/>
          </a:stretch>
        </p:blipFill>
        <p:spPr>
          <a:xfrm>
            <a:off x="960120" y="4331295"/>
            <a:ext cx="1971865" cy="2293802"/>
          </a:xfrm>
          <a:prstGeom prst="rect">
            <a:avLst/>
          </a:prstGeom>
        </p:spPr>
      </p:pic>
    </p:spTree>
    <p:extLst>
      <p:ext uri="{BB962C8B-B14F-4D97-AF65-F5344CB8AC3E}">
        <p14:creationId xmlns:p14="http://schemas.microsoft.com/office/powerpoint/2010/main" val="4236461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9B91D-27B7-4B79-A47D-8505379445BB}"/>
              </a:ext>
            </a:extLst>
          </p:cNvPr>
          <p:cNvSpPr>
            <a:spLocks noGrp="1"/>
          </p:cNvSpPr>
          <p:nvPr>
            <p:ph type="title"/>
          </p:nvPr>
        </p:nvSpPr>
        <p:spPr/>
        <p:txBody>
          <a:bodyPr/>
          <a:lstStyle/>
          <a:p>
            <a:r>
              <a:rPr lang="en-SG" dirty="0"/>
              <a:t>The Features I</a:t>
            </a:r>
          </a:p>
        </p:txBody>
      </p:sp>
      <p:sp>
        <p:nvSpPr>
          <p:cNvPr id="3" name="Content Placeholder 2">
            <a:extLst>
              <a:ext uri="{FF2B5EF4-FFF2-40B4-BE49-F238E27FC236}">
                <a16:creationId xmlns:a16="http://schemas.microsoft.com/office/drawing/2014/main" id="{FD7C6146-12BB-46E7-A4DB-329CEC8FA02C}"/>
              </a:ext>
            </a:extLst>
          </p:cNvPr>
          <p:cNvSpPr>
            <a:spLocks noGrp="1"/>
          </p:cNvSpPr>
          <p:nvPr>
            <p:ph idx="1"/>
          </p:nvPr>
        </p:nvSpPr>
        <p:spPr>
          <a:xfrm>
            <a:off x="960120" y="2653066"/>
            <a:ext cx="10268712" cy="3593592"/>
          </a:xfrm>
        </p:spPr>
        <p:txBody>
          <a:bodyPr>
            <a:normAutofit/>
          </a:bodyPr>
          <a:lstStyle/>
          <a:p>
            <a:pPr marL="457200" indent="-457200">
              <a:buFontTx/>
              <a:buChar char="-"/>
            </a:pPr>
            <a:endParaRPr lang="en-US" dirty="0"/>
          </a:p>
          <a:p>
            <a:pPr marL="457200" indent="-457200">
              <a:buFontTx/>
              <a:buChar char="-"/>
            </a:pPr>
            <a:endParaRPr lang="en-SG" dirty="0"/>
          </a:p>
        </p:txBody>
      </p:sp>
      <p:sp>
        <p:nvSpPr>
          <p:cNvPr id="7" name="TextBox 6">
            <a:extLst>
              <a:ext uri="{FF2B5EF4-FFF2-40B4-BE49-F238E27FC236}">
                <a16:creationId xmlns:a16="http://schemas.microsoft.com/office/drawing/2014/main" id="{1520F68C-5BFA-4080-9E5A-A18F7EC15338}"/>
              </a:ext>
            </a:extLst>
          </p:cNvPr>
          <p:cNvSpPr txBox="1"/>
          <p:nvPr/>
        </p:nvSpPr>
        <p:spPr>
          <a:xfrm>
            <a:off x="490089" y="2553339"/>
            <a:ext cx="11208773" cy="3457228"/>
          </a:xfrm>
          <a:prstGeom prst="rect">
            <a:avLst/>
          </a:prstGeom>
          <a:noFill/>
        </p:spPr>
        <p:txBody>
          <a:bodyPr wrap="square">
            <a:spAutoFit/>
          </a:bodyPr>
          <a:lstStyle/>
          <a:p>
            <a:pPr marL="457200" indent="-457200" defTabSz="914400">
              <a:lnSpc>
                <a:spcPct val="101000"/>
              </a:lnSpc>
              <a:spcBef>
                <a:spcPts val="700"/>
              </a:spcBef>
              <a:spcAft>
                <a:spcPts val="700"/>
              </a:spcAft>
              <a:buFont typeface="+mj-lt"/>
              <a:buAutoNum type="arabicPeriod"/>
            </a:pPr>
            <a:r>
              <a:rPr lang="en-US" sz="2000" b="1" spc="50" dirty="0">
                <a:solidFill>
                  <a:srgbClr val="333333"/>
                </a:solidFill>
                <a:latin typeface="Lato"/>
              </a:rPr>
              <a:t>Transaction ID</a:t>
            </a:r>
            <a:r>
              <a:rPr lang="en-US" sz="2000" spc="50" dirty="0">
                <a:solidFill>
                  <a:srgbClr val="333333"/>
                </a:solidFill>
                <a:latin typeface="Lato"/>
              </a:rPr>
              <a:t>: A </a:t>
            </a:r>
            <a:r>
              <a:rPr lang="en-US" sz="2000" u="sng" spc="50" dirty="0">
                <a:solidFill>
                  <a:srgbClr val="333333"/>
                </a:solidFill>
                <a:latin typeface="Lato"/>
              </a:rPr>
              <a:t>unique identifier</a:t>
            </a:r>
            <a:r>
              <a:rPr lang="en-US" sz="2000" spc="50" dirty="0">
                <a:solidFill>
                  <a:srgbClr val="333333"/>
                </a:solidFill>
                <a:latin typeface="Lato"/>
              </a:rPr>
              <a:t> for the transaction</a:t>
            </a:r>
          </a:p>
          <a:p>
            <a:pPr marL="457200" indent="-457200" defTabSz="914400">
              <a:lnSpc>
                <a:spcPct val="101000"/>
              </a:lnSpc>
              <a:spcBef>
                <a:spcPts val="700"/>
              </a:spcBef>
              <a:spcAft>
                <a:spcPts val="700"/>
              </a:spcAft>
              <a:buFont typeface="+mj-lt"/>
              <a:buAutoNum type="arabicPeriod"/>
            </a:pPr>
            <a:r>
              <a:rPr lang="en-US" sz="2000" b="1" spc="50" dirty="0">
                <a:solidFill>
                  <a:srgbClr val="333333"/>
                </a:solidFill>
                <a:latin typeface="Lato"/>
              </a:rPr>
              <a:t>Date &amp; Time</a:t>
            </a:r>
            <a:r>
              <a:rPr lang="en-US" sz="2000" spc="50" dirty="0">
                <a:solidFill>
                  <a:srgbClr val="333333"/>
                </a:solidFill>
                <a:latin typeface="Lato"/>
              </a:rPr>
              <a:t>: </a:t>
            </a:r>
            <a:r>
              <a:rPr lang="en-US" sz="2000" u="sng" spc="50" dirty="0">
                <a:solidFill>
                  <a:srgbClr val="333333"/>
                </a:solidFill>
                <a:latin typeface="Lato"/>
              </a:rPr>
              <a:t>Date and time</a:t>
            </a:r>
            <a:r>
              <a:rPr lang="en-US" sz="2000" spc="50" dirty="0">
                <a:solidFill>
                  <a:srgbClr val="333333"/>
                </a:solidFill>
                <a:latin typeface="Lato"/>
              </a:rPr>
              <a:t> at which the transaction occurs</a:t>
            </a:r>
          </a:p>
          <a:p>
            <a:pPr marL="457200" indent="-457200" defTabSz="914400">
              <a:lnSpc>
                <a:spcPct val="101000"/>
              </a:lnSpc>
              <a:spcBef>
                <a:spcPts val="700"/>
              </a:spcBef>
              <a:spcAft>
                <a:spcPts val="700"/>
              </a:spcAft>
              <a:buFont typeface="+mj-lt"/>
              <a:buAutoNum type="arabicPeriod"/>
            </a:pPr>
            <a:r>
              <a:rPr lang="en-US" sz="2000" b="1" spc="50" dirty="0">
                <a:solidFill>
                  <a:srgbClr val="333333"/>
                </a:solidFill>
                <a:latin typeface="Lato"/>
              </a:rPr>
              <a:t>Customer ID</a:t>
            </a:r>
            <a:r>
              <a:rPr lang="en-US" sz="2000" spc="50" dirty="0">
                <a:solidFill>
                  <a:srgbClr val="333333"/>
                </a:solidFill>
                <a:latin typeface="Lato"/>
              </a:rPr>
              <a:t>: The </a:t>
            </a:r>
            <a:r>
              <a:rPr lang="en-US" sz="2000" u="sng" spc="50" dirty="0">
                <a:solidFill>
                  <a:srgbClr val="333333"/>
                </a:solidFill>
                <a:latin typeface="Lato"/>
              </a:rPr>
              <a:t>identifier for the customer</a:t>
            </a:r>
            <a:r>
              <a:rPr lang="en-US" sz="2000" spc="50" dirty="0">
                <a:solidFill>
                  <a:srgbClr val="333333"/>
                </a:solidFill>
                <a:latin typeface="Lato"/>
              </a:rPr>
              <a:t>. Each customer has a unique identifier</a:t>
            </a:r>
          </a:p>
          <a:p>
            <a:pPr marL="457200" indent="-457200" defTabSz="914400">
              <a:lnSpc>
                <a:spcPct val="101000"/>
              </a:lnSpc>
              <a:spcBef>
                <a:spcPts val="700"/>
              </a:spcBef>
              <a:spcAft>
                <a:spcPts val="700"/>
              </a:spcAft>
              <a:buFont typeface="+mj-lt"/>
              <a:buAutoNum type="arabicPeriod"/>
            </a:pPr>
            <a:r>
              <a:rPr lang="en-US" sz="2000" b="1" spc="50" dirty="0">
                <a:solidFill>
                  <a:srgbClr val="333333"/>
                </a:solidFill>
                <a:latin typeface="Lato"/>
              </a:rPr>
              <a:t>Terminal ID</a:t>
            </a:r>
            <a:r>
              <a:rPr lang="en-US" sz="2000" spc="50" dirty="0">
                <a:solidFill>
                  <a:srgbClr val="333333"/>
                </a:solidFill>
                <a:latin typeface="Lato"/>
              </a:rPr>
              <a:t>: The identifier for the merchant (or more precisely the terminal). Each </a:t>
            </a:r>
            <a:r>
              <a:rPr lang="en-US" sz="2000" u="sng" spc="50" dirty="0">
                <a:solidFill>
                  <a:srgbClr val="333333"/>
                </a:solidFill>
                <a:latin typeface="Lato"/>
              </a:rPr>
              <a:t>terminal has a unique identifier</a:t>
            </a:r>
          </a:p>
          <a:p>
            <a:pPr marL="457200" indent="-457200" defTabSz="914400">
              <a:lnSpc>
                <a:spcPct val="101000"/>
              </a:lnSpc>
              <a:spcBef>
                <a:spcPts val="700"/>
              </a:spcBef>
              <a:spcAft>
                <a:spcPts val="700"/>
              </a:spcAft>
              <a:buFont typeface="+mj-lt"/>
              <a:buAutoNum type="arabicPeriod"/>
            </a:pPr>
            <a:r>
              <a:rPr lang="en-US" sz="2000" b="1" spc="50" dirty="0">
                <a:solidFill>
                  <a:srgbClr val="333333"/>
                </a:solidFill>
                <a:latin typeface="Lato"/>
              </a:rPr>
              <a:t>Transaction Amount</a:t>
            </a:r>
            <a:r>
              <a:rPr lang="en-US" sz="2000" spc="50" dirty="0">
                <a:solidFill>
                  <a:srgbClr val="333333"/>
                </a:solidFill>
                <a:latin typeface="Lato"/>
              </a:rPr>
              <a:t>: The </a:t>
            </a:r>
            <a:r>
              <a:rPr lang="en-US" sz="2000" u="sng" spc="50" dirty="0">
                <a:solidFill>
                  <a:srgbClr val="333333"/>
                </a:solidFill>
                <a:latin typeface="Lato"/>
              </a:rPr>
              <a:t>amount</a:t>
            </a:r>
            <a:r>
              <a:rPr lang="en-US" sz="2000" spc="50" dirty="0">
                <a:solidFill>
                  <a:srgbClr val="333333"/>
                </a:solidFill>
                <a:latin typeface="Lato"/>
              </a:rPr>
              <a:t> of the transaction.</a:t>
            </a:r>
          </a:p>
          <a:p>
            <a:pPr marL="457200" indent="-457200" defTabSz="914400">
              <a:lnSpc>
                <a:spcPct val="101000"/>
              </a:lnSpc>
              <a:spcBef>
                <a:spcPts val="700"/>
              </a:spcBef>
              <a:spcAft>
                <a:spcPts val="700"/>
              </a:spcAft>
              <a:buFont typeface="+mj-lt"/>
              <a:buAutoNum type="arabicPeriod"/>
            </a:pPr>
            <a:r>
              <a:rPr lang="en-US" sz="2000" b="1" spc="50" dirty="0">
                <a:solidFill>
                  <a:srgbClr val="333333"/>
                </a:solidFill>
                <a:latin typeface="Lato"/>
              </a:rPr>
              <a:t>The Fraud Label</a:t>
            </a:r>
            <a:r>
              <a:rPr lang="en-US" sz="2000" spc="50" dirty="0">
                <a:solidFill>
                  <a:srgbClr val="333333"/>
                </a:solidFill>
                <a:latin typeface="Lato"/>
              </a:rPr>
              <a:t>: A binary variable, with the value </a:t>
            </a:r>
            <a:r>
              <a:rPr lang="en-US" sz="2000" spc="50" dirty="0">
                <a:solidFill>
                  <a:srgbClr val="0070C0"/>
                </a:solidFill>
                <a:latin typeface="Lato"/>
              </a:rPr>
              <a:t>0 for a legitimate transaction</a:t>
            </a:r>
            <a:r>
              <a:rPr lang="en-US" sz="2000" spc="50" dirty="0">
                <a:solidFill>
                  <a:srgbClr val="333333"/>
                </a:solidFill>
                <a:latin typeface="Lato"/>
              </a:rPr>
              <a:t>, or the value </a:t>
            </a:r>
            <a:r>
              <a:rPr lang="en-US" sz="2000" spc="50" dirty="0">
                <a:solidFill>
                  <a:srgbClr val="FF0000"/>
                </a:solidFill>
                <a:latin typeface="Lato"/>
              </a:rPr>
              <a:t>1 for a fraudulent transaction</a:t>
            </a:r>
            <a:r>
              <a:rPr lang="en-US" sz="2000" spc="50" dirty="0">
                <a:solidFill>
                  <a:srgbClr val="333333"/>
                </a:solidFill>
                <a:latin typeface="Lato"/>
              </a:rPr>
              <a:t>.</a:t>
            </a:r>
          </a:p>
        </p:txBody>
      </p:sp>
    </p:spTree>
    <p:extLst>
      <p:ext uri="{BB962C8B-B14F-4D97-AF65-F5344CB8AC3E}">
        <p14:creationId xmlns:p14="http://schemas.microsoft.com/office/powerpoint/2010/main" val="126362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9B91D-27B7-4B79-A47D-8505379445BB}"/>
              </a:ext>
            </a:extLst>
          </p:cNvPr>
          <p:cNvSpPr>
            <a:spLocks noGrp="1"/>
          </p:cNvSpPr>
          <p:nvPr>
            <p:ph type="title"/>
          </p:nvPr>
        </p:nvSpPr>
        <p:spPr/>
        <p:txBody>
          <a:bodyPr/>
          <a:lstStyle/>
          <a:p>
            <a:r>
              <a:rPr lang="en-SG" dirty="0"/>
              <a:t>The Features II</a:t>
            </a:r>
          </a:p>
        </p:txBody>
      </p:sp>
      <p:sp>
        <p:nvSpPr>
          <p:cNvPr id="3" name="Content Placeholder 2">
            <a:extLst>
              <a:ext uri="{FF2B5EF4-FFF2-40B4-BE49-F238E27FC236}">
                <a16:creationId xmlns:a16="http://schemas.microsoft.com/office/drawing/2014/main" id="{FD7C6146-12BB-46E7-A4DB-329CEC8FA02C}"/>
              </a:ext>
            </a:extLst>
          </p:cNvPr>
          <p:cNvSpPr>
            <a:spLocks noGrp="1"/>
          </p:cNvSpPr>
          <p:nvPr>
            <p:ph idx="1"/>
          </p:nvPr>
        </p:nvSpPr>
        <p:spPr>
          <a:xfrm>
            <a:off x="960120" y="2653066"/>
            <a:ext cx="10268712" cy="3593592"/>
          </a:xfrm>
        </p:spPr>
        <p:txBody>
          <a:bodyPr>
            <a:normAutofit/>
          </a:bodyPr>
          <a:lstStyle/>
          <a:p>
            <a:pPr marL="457200" indent="-457200">
              <a:buFontTx/>
              <a:buChar char="-"/>
            </a:pPr>
            <a:endParaRPr lang="en-US" dirty="0"/>
          </a:p>
          <a:p>
            <a:pPr marL="457200" indent="-457200">
              <a:buFontTx/>
              <a:buChar char="-"/>
            </a:pPr>
            <a:endParaRPr lang="en-SG" dirty="0"/>
          </a:p>
        </p:txBody>
      </p:sp>
      <p:sp>
        <p:nvSpPr>
          <p:cNvPr id="5" name="Content Placeholder 2">
            <a:extLst>
              <a:ext uri="{FF2B5EF4-FFF2-40B4-BE49-F238E27FC236}">
                <a16:creationId xmlns:a16="http://schemas.microsoft.com/office/drawing/2014/main" id="{B01D1C46-58BF-47CD-83F8-CE473A3B34E4}"/>
              </a:ext>
            </a:extLst>
          </p:cNvPr>
          <p:cNvSpPr txBox="1">
            <a:spLocks/>
          </p:cNvSpPr>
          <p:nvPr/>
        </p:nvSpPr>
        <p:spPr>
          <a:xfrm>
            <a:off x="960120" y="2587752"/>
            <a:ext cx="10268712" cy="3593592"/>
          </a:xfrm>
          <a:prstGeom prst="rect">
            <a:avLst/>
          </a:prstGeom>
        </p:spPr>
        <p:txBody>
          <a:bodyPr vert="horz" lIns="91440" tIns="45720" rIns="91440" bIns="45720" rtlCol="0">
            <a:normAutofit/>
          </a:bodyPr>
          <a:lst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latin typeface="Inter"/>
              </a:rPr>
              <a:t>The dataset contains the </a:t>
            </a:r>
            <a:r>
              <a:rPr lang="en-US" dirty="0">
                <a:solidFill>
                  <a:schemeClr val="accent2">
                    <a:lumMod val="75000"/>
                  </a:schemeClr>
                </a:solidFill>
                <a:latin typeface="Inter"/>
              </a:rPr>
              <a:t>essential features</a:t>
            </a:r>
            <a:r>
              <a:rPr lang="en-US" dirty="0">
                <a:latin typeface="Inter"/>
              </a:rPr>
              <a:t> that characterize a payment card transaction.</a:t>
            </a:r>
          </a:p>
          <a:p>
            <a:br>
              <a:rPr lang="en-US" dirty="0"/>
            </a:br>
            <a:endParaRPr lang="en-SG" dirty="0"/>
          </a:p>
        </p:txBody>
      </p:sp>
      <p:pic>
        <p:nvPicPr>
          <p:cNvPr id="4" name="Picture 3">
            <a:extLst>
              <a:ext uri="{FF2B5EF4-FFF2-40B4-BE49-F238E27FC236}">
                <a16:creationId xmlns:a16="http://schemas.microsoft.com/office/drawing/2014/main" id="{3F4FAFE7-7FF6-47FC-BB32-04384D584C73}"/>
              </a:ext>
            </a:extLst>
          </p:cNvPr>
          <p:cNvPicPr>
            <a:picLocks noChangeAspect="1"/>
          </p:cNvPicPr>
          <p:nvPr/>
        </p:nvPicPr>
        <p:blipFill>
          <a:blip r:embed="rId3"/>
          <a:stretch>
            <a:fillRect/>
          </a:stretch>
        </p:blipFill>
        <p:spPr>
          <a:xfrm>
            <a:off x="1312745" y="3670634"/>
            <a:ext cx="9239250" cy="2019300"/>
          </a:xfrm>
          <a:prstGeom prst="rect">
            <a:avLst/>
          </a:prstGeom>
        </p:spPr>
      </p:pic>
    </p:spTree>
    <p:extLst>
      <p:ext uri="{BB962C8B-B14F-4D97-AF65-F5344CB8AC3E}">
        <p14:creationId xmlns:p14="http://schemas.microsoft.com/office/powerpoint/2010/main" val="3132781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9B91D-27B7-4B79-A47D-8505379445BB}"/>
              </a:ext>
            </a:extLst>
          </p:cNvPr>
          <p:cNvSpPr>
            <a:spLocks noGrp="1"/>
          </p:cNvSpPr>
          <p:nvPr>
            <p:ph type="title"/>
          </p:nvPr>
        </p:nvSpPr>
        <p:spPr/>
        <p:txBody>
          <a:bodyPr>
            <a:normAutofit fontScale="90000"/>
          </a:bodyPr>
          <a:lstStyle/>
          <a:p>
            <a:r>
              <a:rPr lang="en-SG" dirty="0"/>
              <a:t>fraud scenarios in the data</a:t>
            </a:r>
          </a:p>
        </p:txBody>
      </p:sp>
      <p:sp>
        <p:nvSpPr>
          <p:cNvPr id="7" name="TextBox 6">
            <a:extLst>
              <a:ext uri="{FF2B5EF4-FFF2-40B4-BE49-F238E27FC236}">
                <a16:creationId xmlns:a16="http://schemas.microsoft.com/office/drawing/2014/main" id="{1520F68C-5BFA-4080-9E5A-A18F7EC15338}"/>
              </a:ext>
            </a:extLst>
          </p:cNvPr>
          <p:cNvSpPr txBox="1"/>
          <p:nvPr/>
        </p:nvSpPr>
        <p:spPr>
          <a:xfrm>
            <a:off x="8279923" y="3468143"/>
            <a:ext cx="3654528" cy="1806520"/>
          </a:xfrm>
          <a:prstGeom prst="rect">
            <a:avLst/>
          </a:prstGeom>
          <a:noFill/>
        </p:spPr>
        <p:txBody>
          <a:bodyPr wrap="square">
            <a:spAutoFit/>
          </a:bodyPr>
          <a:lstStyle/>
          <a:p>
            <a:pPr defTabSz="914400">
              <a:lnSpc>
                <a:spcPct val="101000"/>
              </a:lnSpc>
              <a:spcBef>
                <a:spcPts val="700"/>
              </a:spcBef>
              <a:spcAft>
                <a:spcPts val="700"/>
              </a:spcAft>
            </a:pPr>
            <a:r>
              <a:rPr lang="en-US" sz="2000" b="1" spc="50" dirty="0">
                <a:solidFill>
                  <a:srgbClr val="333333"/>
                </a:solidFill>
                <a:latin typeface="Lato"/>
              </a:rPr>
              <a:t>Scenario 3</a:t>
            </a:r>
            <a:r>
              <a:rPr lang="en-US" sz="2000" spc="50" dirty="0">
                <a:solidFill>
                  <a:srgbClr val="333333"/>
                </a:solidFill>
                <a:latin typeface="Lato"/>
              </a:rPr>
              <a:t>: </a:t>
            </a:r>
          </a:p>
          <a:p>
            <a:pPr defTabSz="914400">
              <a:lnSpc>
                <a:spcPct val="101000"/>
              </a:lnSpc>
              <a:spcBef>
                <a:spcPts val="700"/>
              </a:spcBef>
              <a:spcAft>
                <a:spcPts val="700"/>
              </a:spcAft>
            </a:pPr>
            <a:r>
              <a:rPr lang="en-US" sz="2000" spc="50" dirty="0">
                <a:solidFill>
                  <a:srgbClr val="333333"/>
                </a:solidFill>
                <a:latin typeface="Lato"/>
              </a:rPr>
              <a:t>A</a:t>
            </a:r>
            <a:r>
              <a:rPr lang="en-US" sz="2000" spc="50" dirty="0">
                <a:solidFill>
                  <a:srgbClr val="FF0000"/>
                </a:solidFill>
                <a:latin typeface="Lato"/>
              </a:rPr>
              <a:t> </a:t>
            </a:r>
            <a:r>
              <a:rPr lang="en-US" sz="2000" spc="50" dirty="0">
                <a:latin typeface="Lato"/>
              </a:rPr>
              <a:t>scenario which simulates a</a:t>
            </a:r>
            <a:r>
              <a:rPr lang="en-US" sz="2000" spc="50" dirty="0">
                <a:solidFill>
                  <a:srgbClr val="0070C0"/>
                </a:solidFill>
                <a:latin typeface="Lato"/>
              </a:rPr>
              <a:t> card-not-present fraud </a:t>
            </a:r>
            <a:r>
              <a:rPr lang="en-US" sz="2000" spc="50" dirty="0">
                <a:solidFill>
                  <a:srgbClr val="333333"/>
                </a:solidFill>
                <a:latin typeface="Lato"/>
              </a:rPr>
              <a:t>where the credentials of a customer have been leaked.</a:t>
            </a:r>
          </a:p>
        </p:txBody>
      </p:sp>
      <p:sp>
        <p:nvSpPr>
          <p:cNvPr id="5" name="TextBox 4">
            <a:extLst>
              <a:ext uri="{FF2B5EF4-FFF2-40B4-BE49-F238E27FC236}">
                <a16:creationId xmlns:a16="http://schemas.microsoft.com/office/drawing/2014/main" id="{886D8112-E9FC-446C-A9C9-ADF7970A0A9D}"/>
              </a:ext>
            </a:extLst>
          </p:cNvPr>
          <p:cNvSpPr txBox="1"/>
          <p:nvPr/>
        </p:nvSpPr>
        <p:spPr>
          <a:xfrm>
            <a:off x="257549" y="3435790"/>
            <a:ext cx="3346415" cy="2117375"/>
          </a:xfrm>
          <a:prstGeom prst="rect">
            <a:avLst/>
          </a:prstGeom>
          <a:noFill/>
        </p:spPr>
        <p:txBody>
          <a:bodyPr wrap="square">
            <a:spAutoFit/>
          </a:bodyPr>
          <a:lstStyle/>
          <a:p>
            <a:pPr defTabSz="914400">
              <a:lnSpc>
                <a:spcPct val="101000"/>
              </a:lnSpc>
              <a:spcBef>
                <a:spcPts val="700"/>
              </a:spcBef>
              <a:spcAft>
                <a:spcPts val="700"/>
              </a:spcAft>
            </a:pPr>
            <a:r>
              <a:rPr lang="en-US" sz="2000" b="1" spc="50" dirty="0">
                <a:solidFill>
                  <a:srgbClr val="333333"/>
                </a:solidFill>
                <a:latin typeface="Lato"/>
              </a:rPr>
              <a:t>Scenario 1</a:t>
            </a:r>
            <a:r>
              <a:rPr lang="en-US" sz="2000" spc="50" dirty="0">
                <a:solidFill>
                  <a:srgbClr val="333333"/>
                </a:solidFill>
                <a:latin typeface="Lato"/>
              </a:rPr>
              <a:t>: </a:t>
            </a:r>
          </a:p>
          <a:p>
            <a:pPr defTabSz="914400">
              <a:lnSpc>
                <a:spcPct val="101000"/>
              </a:lnSpc>
              <a:spcBef>
                <a:spcPts val="700"/>
              </a:spcBef>
              <a:spcAft>
                <a:spcPts val="700"/>
              </a:spcAft>
            </a:pPr>
            <a:r>
              <a:rPr lang="en-US" sz="2000" spc="50" dirty="0">
                <a:solidFill>
                  <a:srgbClr val="333333"/>
                </a:solidFill>
                <a:latin typeface="Lato"/>
              </a:rPr>
              <a:t>A scenario which provides an </a:t>
            </a:r>
            <a:r>
              <a:rPr lang="en-US" sz="2000" spc="50" dirty="0">
                <a:solidFill>
                  <a:srgbClr val="FF0000"/>
                </a:solidFill>
                <a:latin typeface="Lato"/>
              </a:rPr>
              <a:t>obvious fraud pattern </a:t>
            </a:r>
            <a:r>
              <a:rPr lang="en-US" sz="2000" spc="50" dirty="0">
                <a:latin typeface="Lato"/>
              </a:rPr>
              <a:t>that should be detected </a:t>
            </a:r>
            <a:r>
              <a:rPr lang="en-US" sz="2000" spc="50" dirty="0">
                <a:solidFill>
                  <a:srgbClr val="333333"/>
                </a:solidFill>
                <a:latin typeface="Lato"/>
              </a:rPr>
              <a:t>by any baseline fraud detector.</a:t>
            </a:r>
          </a:p>
        </p:txBody>
      </p:sp>
      <p:sp>
        <p:nvSpPr>
          <p:cNvPr id="6" name="TextBox 5">
            <a:extLst>
              <a:ext uri="{FF2B5EF4-FFF2-40B4-BE49-F238E27FC236}">
                <a16:creationId xmlns:a16="http://schemas.microsoft.com/office/drawing/2014/main" id="{7E965F60-15FA-407B-B29E-24D5D6C5CA2D}"/>
              </a:ext>
            </a:extLst>
          </p:cNvPr>
          <p:cNvSpPr txBox="1"/>
          <p:nvPr/>
        </p:nvSpPr>
        <p:spPr>
          <a:xfrm>
            <a:off x="4065969" y="3468143"/>
            <a:ext cx="3654528" cy="1806520"/>
          </a:xfrm>
          <a:prstGeom prst="rect">
            <a:avLst/>
          </a:prstGeom>
          <a:noFill/>
        </p:spPr>
        <p:txBody>
          <a:bodyPr wrap="square">
            <a:spAutoFit/>
          </a:bodyPr>
          <a:lstStyle/>
          <a:p>
            <a:pPr defTabSz="914400">
              <a:lnSpc>
                <a:spcPct val="101000"/>
              </a:lnSpc>
              <a:spcBef>
                <a:spcPts val="700"/>
              </a:spcBef>
              <a:spcAft>
                <a:spcPts val="700"/>
              </a:spcAft>
            </a:pPr>
            <a:r>
              <a:rPr lang="en-US" sz="2000" b="1" spc="50" dirty="0">
                <a:solidFill>
                  <a:srgbClr val="333333"/>
                </a:solidFill>
                <a:latin typeface="Lato"/>
              </a:rPr>
              <a:t>Scenario 2</a:t>
            </a:r>
            <a:r>
              <a:rPr lang="en-US" sz="2000" spc="50" dirty="0">
                <a:solidFill>
                  <a:srgbClr val="333333"/>
                </a:solidFill>
                <a:latin typeface="Lato"/>
              </a:rPr>
              <a:t>: </a:t>
            </a:r>
          </a:p>
          <a:p>
            <a:pPr defTabSz="914400">
              <a:lnSpc>
                <a:spcPct val="101000"/>
              </a:lnSpc>
              <a:spcBef>
                <a:spcPts val="700"/>
              </a:spcBef>
              <a:spcAft>
                <a:spcPts val="700"/>
              </a:spcAft>
            </a:pPr>
            <a:r>
              <a:rPr lang="en-US" sz="2000" spc="50" dirty="0">
                <a:solidFill>
                  <a:srgbClr val="333333"/>
                </a:solidFill>
                <a:latin typeface="Lato"/>
              </a:rPr>
              <a:t>A </a:t>
            </a:r>
            <a:r>
              <a:rPr lang="en-US" sz="2000" spc="50" dirty="0">
                <a:latin typeface="Lato"/>
              </a:rPr>
              <a:t>scenario which simulates a </a:t>
            </a:r>
            <a:r>
              <a:rPr lang="en-US" sz="2000" spc="50" dirty="0">
                <a:solidFill>
                  <a:srgbClr val="00B050"/>
                </a:solidFill>
                <a:latin typeface="Lato"/>
              </a:rPr>
              <a:t>criminal use of a terminal</a:t>
            </a:r>
            <a:r>
              <a:rPr lang="en-US" sz="2000" spc="50" dirty="0">
                <a:solidFill>
                  <a:srgbClr val="333333"/>
                </a:solidFill>
                <a:latin typeface="Lato"/>
              </a:rPr>
              <a:t>, through </a:t>
            </a:r>
            <a:r>
              <a:rPr lang="en-US" sz="2000" spc="50" dirty="0">
                <a:latin typeface="Lato"/>
              </a:rPr>
              <a:t>phishing</a:t>
            </a:r>
            <a:r>
              <a:rPr lang="en-US" sz="2000" spc="50" dirty="0">
                <a:solidFill>
                  <a:srgbClr val="333333"/>
                </a:solidFill>
                <a:latin typeface="Lato"/>
              </a:rPr>
              <a:t> for example. </a:t>
            </a:r>
          </a:p>
        </p:txBody>
      </p:sp>
    </p:spTree>
    <p:extLst>
      <p:ext uri="{BB962C8B-B14F-4D97-AF65-F5344CB8AC3E}">
        <p14:creationId xmlns:p14="http://schemas.microsoft.com/office/powerpoint/2010/main" val="2279771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2" name="Rectangle 191">
            <a:extLst>
              <a:ext uri="{FF2B5EF4-FFF2-40B4-BE49-F238E27FC236}">
                <a16:creationId xmlns:a16="http://schemas.microsoft.com/office/drawing/2014/main" id="{EB6D1D7F-141C-4D8E-BFBA-D95B68E16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9047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B7B54865-0417-4422-B63B-3E74C04CD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64432"/>
            <a:ext cx="6255757" cy="20608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E97B0583-1AAD-4F5A-AB0D-73082897A873}"/>
              </a:ext>
            </a:extLst>
          </p:cNvPr>
          <p:cNvSpPr>
            <a:spLocks noGrp="1"/>
          </p:cNvSpPr>
          <p:nvPr>
            <p:ph type="title"/>
          </p:nvPr>
        </p:nvSpPr>
        <p:spPr>
          <a:xfrm>
            <a:off x="960120" y="990599"/>
            <a:ext cx="4857751" cy="1563989"/>
          </a:xfrm>
        </p:spPr>
        <p:txBody>
          <a:bodyPr vert="horz" lIns="91440" tIns="45720" rIns="91440" bIns="45720" rtlCol="0" anchor="ctr">
            <a:normAutofit/>
          </a:bodyPr>
          <a:lstStyle/>
          <a:p>
            <a:r>
              <a:rPr lang="en-US" sz="5100" kern="1200" cap="all" spc="120" baseline="0">
                <a:solidFill>
                  <a:schemeClr val="bg1"/>
                </a:solidFill>
                <a:latin typeface="+mj-lt"/>
                <a:ea typeface="+mj-ea"/>
                <a:cs typeface="+mj-cs"/>
              </a:rPr>
              <a:t>Analyse the data</a:t>
            </a:r>
          </a:p>
        </p:txBody>
      </p:sp>
      <p:pic>
        <p:nvPicPr>
          <p:cNvPr id="1026" name="Picture 2" descr="Chart&#10;&#10;Description automatically generated">
            <a:extLst>
              <a:ext uri="{FF2B5EF4-FFF2-40B4-BE49-F238E27FC236}">
                <a16:creationId xmlns:a16="http://schemas.microsoft.com/office/drawing/2014/main" id="{EB7CA78A-0212-43CD-BD44-B737F6A0BE4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928320" y="633172"/>
            <a:ext cx="4300512" cy="3182380"/>
          </a:xfrm>
          <a:prstGeom prst="rect">
            <a:avLst/>
          </a:prstGeom>
          <a:noFill/>
          <a:extLst>
            <a:ext uri="{909E8E84-426E-40DD-AFC4-6F175D3DCCD1}">
              <a14:hiddenFill xmlns:a14="http://schemas.microsoft.com/office/drawing/2010/main">
                <a:solidFill>
                  <a:srgbClr val="FFFFFF"/>
                </a:solidFill>
              </a14:hiddenFill>
            </a:ext>
          </a:extLst>
        </p:spPr>
      </p:pic>
      <p:sp>
        <p:nvSpPr>
          <p:cNvPr id="19" name="Content Placeholder 10">
            <a:extLst>
              <a:ext uri="{FF2B5EF4-FFF2-40B4-BE49-F238E27FC236}">
                <a16:creationId xmlns:a16="http://schemas.microsoft.com/office/drawing/2014/main" id="{546C51F3-B7CA-4F9E-8ABB-691922AA0A1C}"/>
              </a:ext>
            </a:extLst>
          </p:cNvPr>
          <p:cNvSpPr txBox="1">
            <a:spLocks/>
          </p:cNvSpPr>
          <p:nvPr/>
        </p:nvSpPr>
        <p:spPr>
          <a:xfrm>
            <a:off x="589987" y="3111422"/>
            <a:ext cx="4924426" cy="2795492"/>
          </a:xfrm>
          <a:prstGeom prst="rect">
            <a:avLst/>
          </a:prstGeom>
        </p:spPr>
        <p:txBody>
          <a:bodyPr vert="horz" lIns="91440" tIns="45720" rIns="91440" bIns="45720" rtlCol="0">
            <a:normAutofit/>
          </a:bodyPr>
          <a:lst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62940" lvl="3" indent="-342900">
              <a:spcBef>
                <a:spcPts val="700"/>
              </a:spcBef>
              <a:spcAft>
                <a:spcPts val="700"/>
              </a:spcAft>
              <a:buFont typeface="+mj-lt"/>
              <a:buAutoNum type="arabicPeriod"/>
            </a:pPr>
            <a:r>
              <a:rPr lang="en-US" dirty="0"/>
              <a:t>Data set is heavily imbalanced</a:t>
            </a:r>
          </a:p>
          <a:p>
            <a:pPr marL="662940" lvl="3" indent="-342900">
              <a:spcBef>
                <a:spcPts val="700"/>
              </a:spcBef>
              <a:spcAft>
                <a:spcPts val="700"/>
              </a:spcAft>
              <a:buFont typeface="+mj-lt"/>
              <a:buAutoNum type="arabicPeriod"/>
            </a:pPr>
            <a:r>
              <a:rPr lang="en-US" dirty="0"/>
              <a:t>About 10,000 transactions per day</a:t>
            </a:r>
          </a:p>
          <a:p>
            <a:pPr marL="662940" lvl="3" indent="-342900">
              <a:spcBef>
                <a:spcPts val="700"/>
              </a:spcBef>
              <a:spcAft>
                <a:spcPts val="700"/>
              </a:spcAft>
              <a:buFont typeface="+mj-lt"/>
              <a:buAutoNum type="arabicPeriod"/>
            </a:pPr>
            <a:r>
              <a:rPr lang="en-US" dirty="0"/>
              <a:t>Test period will be set 1 week after the Training period</a:t>
            </a:r>
          </a:p>
          <a:p>
            <a:pPr marL="457200" lvl="1" indent="-457200">
              <a:spcBef>
                <a:spcPts val="700"/>
              </a:spcBef>
              <a:spcAft>
                <a:spcPts val="700"/>
              </a:spcAft>
              <a:buFont typeface="Arial" panose="020B0604020202020204" pitchFamily="34" charset="0"/>
              <a:buChar char="•"/>
            </a:pPr>
            <a:endParaRPr lang="en-US" dirty="0"/>
          </a:p>
          <a:p>
            <a:pPr marL="457200" lvl="1" indent="-457200">
              <a:spcBef>
                <a:spcPts val="700"/>
              </a:spcBef>
              <a:spcAft>
                <a:spcPts val="700"/>
              </a:spcAft>
              <a:buFont typeface="Arial" panose="020B0604020202020204" pitchFamily="34" charset="0"/>
              <a:buChar char="•"/>
            </a:pPr>
            <a:endParaRPr lang="en-US" dirty="0"/>
          </a:p>
        </p:txBody>
      </p:sp>
      <p:sp>
        <p:nvSpPr>
          <p:cNvPr id="6" name="Content Placeholder 2">
            <a:extLst>
              <a:ext uri="{FF2B5EF4-FFF2-40B4-BE49-F238E27FC236}">
                <a16:creationId xmlns:a16="http://schemas.microsoft.com/office/drawing/2014/main" id="{F4669F72-453D-48B4-A9D8-D78D12C41664}"/>
              </a:ext>
            </a:extLst>
          </p:cNvPr>
          <p:cNvSpPr txBox="1">
            <a:spLocks/>
          </p:cNvSpPr>
          <p:nvPr/>
        </p:nvSpPr>
        <p:spPr>
          <a:xfrm>
            <a:off x="960120" y="2587752"/>
            <a:ext cx="10268712" cy="3593592"/>
          </a:xfrm>
          <a:prstGeom prst="rect">
            <a:avLst/>
          </a:prstGeom>
        </p:spPr>
        <p:txBody>
          <a:bodyPr vert="horz" lIns="91440" tIns="45720" rIns="91440" bIns="45720" rtlCol="0">
            <a:normAutofit/>
          </a:bodyPr>
          <a:lst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endParaRPr lang="en-SG" dirty="0"/>
          </a:p>
        </p:txBody>
      </p:sp>
      <p:pic>
        <p:nvPicPr>
          <p:cNvPr id="1028" name="Picture 4">
            <a:extLst>
              <a:ext uri="{FF2B5EF4-FFF2-40B4-BE49-F238E27FC236}">
                <a16:creationId xmlns:a16="http://schemas.microsoft.com/office/drawing/2014/main" id="{592DFE33-F664-4243-B8A3-50C3518CB9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3926" y="3952133"/>
            <a:ext cx="6255757" cy="2721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1678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 name="Rectangle 77">
            <a:extLst>
              <a:ext uri="{FF2B5EF4-FFF2-40B4-BE49-F238E27FC236}">
                <a16:creationId xmlns:a16="http://schemas.microsoft.com/office/drawing/2014/main" id="{EB6D1D7F-141C-4D8E-BFBA-D95B68E16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09B91D-27B7-4B79-A47D-8505379445BB}"/>
              </a:ext>
            </a:extLst>
          </p:cNvPr>
          <p:cNvSpPr>
            <a:spLocks noGrp="1"/>
          </p:cNvSpPr>
          <p:nvPr>
            <p:ph type="title"/>
          </p:nvPr>
        </p:nvSpPr>
        <p:spPr>
          <a:xfrm>
            <a:off x="960120" y="317814"/>
            <a:ext cx="10268712" cy="1700784"/>
          </a:xfrm>
        </p:spPr>
        <p:txBody>
          <a:bodyPr vert="horz" lIns="91440" tIns="45720" rIns="91440" bIns="45720" rtlCol="0" anchor="ctr">
            <a:normAutofit/>
          </a:bodyPr>
          <a:lstStyle/>
          <a:p>
            <a:r>
              <a:rPr lang="en-US" kern="1200" cap="all" spc="120" baseline="0" dirty="0">
                <a:solidFill>
                  <a:schemeClr val="bg1"/>
                </a:solidFill>
                <a:latin typeface="+mj-lt"/>
                <a:ea typeface="+mj-ea"/>
                <a:cs typeface="+mj-cs"/>
              </a:rPr>
              <a:t>Feature Engineering</a:t>
            </a:r>
          </a:p>
        </p:txBody>
      </p:sp>
      <p:sp>
        <p:nvSpPr>
          <p:cNvPr id="83" name="Rectangle 79">
            <a:extLst>
              <a:ext uri="{FF2B5EF4-FFF2-40B4-BE49-F238E27FC236}">
                <a16:creationId xmlns:a16="http://schemas.microsoft.com/office/drawing/2014/main" id="{27248369-464E-49D1-91FC-BC34A50A6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64989"/>
            <a:ext cx="12188952" cy="39521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ntent Placeholder 10">
            <a:extLst>
              <a:ext uri="{FF2B5EF4-FFF2-40B4-BE49-F238E27FC236}">
                <a16:creationId xmlns:a16="http://schemas.microsoft.com/office/drawing/2014/main" id="{44768E79-A9D8-4255-8750-691A4EB11DEC}"/>
              </a:ext>
            </a:extLst>
          </p:cNvPr>
          <p:cNvSpPr txBox="1">
            <a:spLocks/>
          </p:cNvSpPr>
          <p:nvPr/>
        </p:nvSpPr>
        <p:spPr>
          <a:xfrm>
            <a:off x="572805" y="2780384"/>
            <a:ext cx="2943497" cy="2604402"/>
          </a:xfrm>
          <a:prstGeom prst="rect">
            <a:avLst/>
          </a:prstGeom>
        </p:spPr>
        <p:txBody>
          <a:bodyPr vert="horz" lIns="91440" tIns="45720" rIns="91440" bIns="45720" rtlCol="0">
            <a:normAutofit/>
          </a:bodyPr>
          <a:lst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80000"/>
              </a:lnSpc>
              <a:spcBef>
                <a:spcPts val="700"/>
              </a:spcBef>
              <a:spcAft>
                <a:spcPts val="700"/>
              </a:spcAft>
              <a:buFont typeface="Wingdings" panose="05000000000000000000" pitchFamily="2" charset="2"/>
              <a:buNone/>
            </a:pPr>
            <a:r>
              <a:rPr lang="en-US" sz="2000" dirty="0">
                <a:solidFill>
                  <a:srgbClr val="92D050"/>
                </a:solidFill>
                <a:latin typeface="Lato"/>
              </a:rPr>
              <a:t>Date/Time</a:t>
            </a:r>
          </a:p>
          <a:p>
            <a:pPr marL="0" lvl="1" indent="0">
              <a:lnSpc>
                <a:spcPct val="80000"/>
              </a:lnSpc>
              <a:spcBef>
                <a:spcPts val="700"/>
              </a:spcBef>
              <a:spcAft>
                <a:spcPts val="700"/>
              </a:spcAft>
              <a:buFont typeface="Wingdings" panose="05000000000000000000" pitchFamily="2" charset="2"/>
              <a:buNone/>
            </a:pPr>
            <a:r>
              <a:rPr lang="en-US" sz="2000" dirty="0">
                <a:solidFill>
                  <a:srgbClr val="92D050"/>
                </a:solidFill>
                <a:latin typeface="Lato"/>
              </a:rPr>
              <a:t>One-hot encoding</a:t>
            </a:r>
            <a:r>
              <a:rPr lang="en-US" sz="2000" dirty="0">
                <a:latin typeface="Lato"/>
              </a:rPr>
              <a:t>:</a:t>
            </a:r>
          </a:p>
          <a:p>
            <a:pPr marL="777240" lvl="1" indent="-457200">
              <a:lnSpc>
                <a:spcPct val="80000"/>
              </a:lnSpc>
              <a:spcBef>
                <a:spcPts val="700"/>
              </a:spcBef>
              <a:spcAft>
                <a:spcPts val="700"/>
              </a:spcAft>
              <a:buFont typeface="Arial" panose="020B0604020202020204" pitchFamily="34" charset="0"/>
              <a:buChar char="•"/>
            </a:pPr>
            <a:r>
              <a:rPr lang="en-US" sz="2000" dirty="0">
                <a:latin typeface="Lato"/>
              </a:rPr>
              <a:t>0 – Weekday &amp; 1 – Weekend</a:t>
            </a:r>
          </a:p>
          <a:p>
            <a:pPr marL="777240" lvl="1" indent="-457200">
              <a:lnSpc>
                <a:spcPct val="80000"/>
              </a:lnSpc>
              <a:spcBef>
                <a:spcPts val="700"/>
              </a:spcBef>
              <a:spcAft>
                <a:spcPts val="700"/>
              </a:spcAft>
              <a:buFont typeface="Arial" panose="020B0604020202020204" pitchFamily="34" charset="0"/>
              <a:buChar char="•"/>
            </a:pPr>
            <a:r>
              <a:rPr lang="en-US" sz="2000" dirty="0">
                <a:latin typeface="Lato"/>
              </a:rPr>
              <a:t>0  - Morning &amp; 1 – Night</a:t>
            </a:r>
          </a:p>
          <a:p>
            <a:pPr marL="320040" lvl="3" indent="0">
              <a:spcBef>
                <a:spcPts val="700"/>
              </a:spcBef>
              <a:spcAft>
                <a:spcPts val="700"/>
              </a:spcAft>
              <a:buFont typeface="Wingdings" panose="05000000000000000000" pitchFamily="2" charset="2"/>
              <a:buNone/>
            </a:pPr>
            <a:endParaRPr lang="en-US" dirty="0"/>
          </a:p>
          <a:p>
            <a:pPr marL="457200" lvl="1" indent="-457200">
              <a:spcBef>
                <a:spcPts val="700"/>
              </a:spcBef>
              <a:spcAft>
                <a:spcPts val="700"/>
              </a:spcAft>
              <a:buFont typeface="Arial" panose="020B0604020202020204" pitchFamily="34" charset="0"/>
              <a:buChar char="•"/>
            </a:pPr>
            <a:endParaRPr lang="en-US" dirty="0"/>
          </a:p>
          <a:p>
            <a:pPr marL="457200" lvl="1" indent="-457200">
              <a:spcBef>
                <a:spcPts val="700"/>
              </a:spcBef>
              <a:spcAft>
                <a:spcPts val="700"/>
              </a:spcAft>
              <a:buFont typeface="Arial" panose="020B0604020202020204" pitchFamily="34" charset="0"/>
              <a:buChar char="•"/>
            </a:pPr>
            <a:endParaRPr lang="en-US" dirty="0"/>
          </a:p>
        </p:txBody>
      </p:sp>
      <p:sp>
        <p:nvSpPr>
          <p:cNvPr id="13" name="Content Placeholder 10">
            <a:extLst>
              <a:ext uri="{FF2B5EF4-FFF2-40B4-BE49-F238E27FC236}">
                <a16:creationId xmlns:a16="http://schemas.microsoft.com/office/drawing/2014/main" id="{8D3FB05A-C5A8-499A-8A4D-38149453E413}"/>
              </a:ext>
            </a:extLst>
          </p:cNvPr>
          <p:cNvSpPr txBox="1">
            <a:spLocks/>
          </p:cNvSpPr>
          <p:nvPr/>
        </p:nvSpPr>
        <p:spPr>
          <a:xfrm>
            <a:off x="8377863" y="2588796"/>
            <a:ext cx="2943497" cy="2504803"/>
          </a:xfrm>
          <a:prstGeom prst="rect">
            <a:avLst/>
          </a:prstGeom>
        </p:spPr>
        <p:txBody>
          <a:bodyPr vert="horz" lIns="91440" tIns="45720" rIns="91440" bIns="45720" rtlCol="0" anchor="t">
            <a:normAutofit/>
          </a:bodyPr>
          <a:lst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21000"/>
              </a:lnSpc>
              <a:spcBef>
                <a:spcPts val="700"/>
              </a:spcBef>
              <a:spcAft>
                <a:spcPts val="700"/>
              </a:spcAft>
              <a:buFont typeface="Wingdings" panose="05000000000000000000" pitchFamily="2" charset="2"/>
              <a:buNone/>
            </a:pPr>
            <a:r>
              <a:rPr lang="en-US" sz="2000" b="0" i="0" dirty="0">
                <a:solidFill>
                  <a:srgbClr val="FFC000"/>
                </a:solidFill>
                <a:effectLst/>
                <a:latin typeface="Lato"/>
              </a:rPr>
              <a:t>Terminal ID</a:t>
            </a:r>
            <a:endParaRPr lang="en-US" sz="2000" dirty="0">
              <a:solidFill>
                <a:srgbClr val="FFC000"/>
              </a:solidFill>
              <a:latin typeface="Lato"/>
            </a:endParaRPr>
          </a:p>
          <a:p>
            <a:pPr marL="0" lvl="1" indent="0">
              <a:lnSpc>
                <a:spcPct val="121000"/>
              </a:lnSpc>
              <a:spcBef>
                <a:spcPts val="700"/>
              </a:spcBef>
              <a:spcAft>
                <a:spcPts val="700"/>
              </a:spcAft>
              <a:buFont typeface="Wingdings" panose="05000000000000000000" pitchFamily="2" charset="2"/>
              <a:buNone/>
            </a:pPr>
            <a:r>
              <a:rPr lang="en-US" sz="2000" dirty="0">
                <a:solidFill>
                  <a:srgbClr val="FFC000"/>
                </a:solidFill>
                <a:latin typeface="Lato"/>
              </a:rPr>
              <a:t>Risk Encoding</a:t>
            </a:r>
            <a:r>
              <a:rPr lang="en-US" sz="2000" dirty="0">
                <a:latin typeface="Lato"/>
              </a:rPr>
              <a:t>:</a:t>
            </a:r>
          </a:p>
          <a:p>
            <a:pPr marL="777240" lvl="1" indent="-457200">
              <a:lnSpc>
                <a:spcPct val="121000"/>
              </a:lnSpc>
              <a:spcBef>
                <a:spcPts val="700"/>
              </a:spcBef>
              <a:spcAft>
                <a:spcPts val="700"/>
              </a:spcAft>
              <a:buFont typeface="Arial" panose="020B0604020202020204" pitchFamily="34" charset="0"/>
              <a:buChar char="•"/>
            </a:pPr>
            <a:r>
              <a:rPr lang="en-US" sz="2000" dirty="0">
                <a:latin typeface="Lato"/>
              </a:rPr>
              <a:t>Assign a risk score to a terminal ID</a:t>
            </a:r>
          </a:p>
          <a:p>
            <a:pPr marL="457200" lvl="1" indent="-457200">
              <a:spcBef>
                <a:spcPts val="700"/>
              </a:spcBef>
              <a:spcAft>
                <a:spcPts val="700"/>
              </a:spcAft>
              <a:buFont typeface="Arial" panose="020B0604020202020204" pitchFamily="34" charset="0"/>
              <a:buChar char="•"/>
            </a:pPr>
            <a:endParaRPr lang="en-US" sz="2000" dirty="0">
              <a:latin typeface="Lato"/>
            </a:endParaRPr>
          </a:p>
        </p:txBody>
      </p:sp>
      <p:sp>
        <p:nvSpPr>
          <p:cNvPr id="12" name="Content Placeholder 10">
            <a:extLst>
              <a:ext uri="{FF2B5EF4-FFF2-40B4-BE49-F238E27FC236}">
                <a16:creationId xmlns:a16="http://schemas.microsoft.com/office/drawing/2014/main" id="{89F10BD2-A629-4B3D-9053-CA6B65358424}"/>
              </a:ext>
            </a:extLst>
          </p:cNvPr>
          <p:cNvSpPr txBox="1">
            <a:spLocks/>
          </p:cNvSpPr>
          <p:nvPr/>
        </p:nvSpPr>
        <p:spPr>
          <a:xfrm>
            <a:off x="4270682" y="2780384"/>
            <a:ext cx="2943497" cy="2504803"/>
          </a:xfrm>
          <a:prstGeom prst="rect">
            <a:avLst/>
          </a:prstGeom>
        </p:spPr>
        <p:txBody>
          <a:bodyPr vert="horz" lIns="91440" tIns="45720" rIns="91440" bIns="45720" rtlCol="0" anchor="t">
            <a:normAutofit fontScale="92500" lnSpcReduction="10000"/>
          </a:bodyPr>
          <a:lst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90000"/>
              </a:lnSpc>
              <a:spcBef>
                <a:spcPts val="700"/>
              </a:spcBef>
              <a:spcAft>
                <a:spcPts val="700"/>
              </a:spcAft>
              <a:buNone/>
            </a:pPr>
            <a:r>
              <a:rPr lang="en-US" sz="2000" dirty="0">
                <a:solidFill>
                  <a:srgbClr val="00B0F0"/>
                </a:solidFill>
                <a:latin typeface="Lato"/>
              </a:rPr>
              <a:t>C</a:t>
            </a:r>
            <a:r>
              <a:rPr lang="en-US" sz="2000" b="0" i="0" dirty="0">
                <a:solidFill>
                  <a:srgbClr val="00B0F0"/>
                </a:solidFill>
                <a:effectLst/>
                <a:latin typeface="Lato"/>
              </a:rPr>
              <a:t>ustomer ID </a:t>
            </a:r>
            <a:endParaRPr lang="en-US" sz="2000" dirty="0">
              <a:solidFill>
                <a:srgbClr val="00B0F0"/>
              </a:solidFill>
              <a:latin typeface="Lato"/>
            </a:endParaRPr>
          </a:p>
          <a:p>
            <a:pPr marL="0" lvl="1" indent="0">
              <a:lnSpc>
                <a:spcPct val="90000"/>
              </a:lnSpc>
              <a:spcBef>
                <a:spcPts val="700"/>
              </a:spcBef>
              <a:spcAft>
                <a:spcPts val="700"/>
              </a:spcAft>
              <a:buFont typeface="Wingdings" panose="05000000000000000000" pitchFamily="2" charset="2"/>
              <a:buNone/>
            </a:pPr>
            <a:r>
              <a:rPr lang="en-US" sz="2000" dirty="0">
                <a:solidFill>
                  <a:srgbClr val="00B0F0"/>
                </a:solidFill>
                <a:latin typeface="Lato"/>
              </a:rPr>
              <a:t>Frequency &amp; Monetary</a:t>
            </a:r>
            <a:r>
              <a:rPr lang="en-US" sz="2000" dirty="0">
                <a:latin typeface="Lato"/>
              </a:rPr>
              <a:t>:</a:t>
            </a:r>
          </a:p>
          <a:p>
            <a:pPr marL="777240" lvl="1" indent="-457200">
              <a:lnSpc>
                <a:spcPct val="90000"/>
              </a:lnSpc>
              <a:spcBef>
                <a:spcPts val="700"/>
              </a:spcBef>
              <a:spcAft>
                <a:spcPts val="700"/>
              </a:spcAft>
              <a:buFont typeface="Arial" panose="020B0604020202020204" pitchFamily="34" charset="0"/>
              <a:buChar char="•"/>
            </a:pPr>
            <a:r>
              <a:rPr lang="en-US" sz="2000" dirty="0">
                <a:latin typeface="Lato"/>
              </a:rPr>
              <a:t>No. of transactions that occur</a:t>
            </a:r>
          </a:p>
          <a:p>
            <a:pPr marL="777240" lvl="1" indent="-457200">
              <a:lnSpc>
                <a:spcPct val="90000"/>
              </a:lnSpc>
              <a:spcBef>
                <a:spcPts val="700"/>
              </a:spcBef>
              <a:spcAft>
                <a:spcPts val="700"/>
              </a:spcAft>
              <a:buFont typeface="Arial" panose="020B0604020202020204" pitchFamily="34" charset="0"/>
              <a:buChar char="•"/>
            </a:pPr>
            <a:r>
              <a:rPr lang="en-US" sz="2000" dirty="0">
                <a:latin typeface="Lato"/>
              </a:rPr>
              <a:t>Average amount spent</a:t>
            </a:r>
          </a:p>
          <a:p>
            <a:pPr marL="457200" lvl="1" indent="-457200">
              <a:lnSpc>
                <a:spcPct val="90000"/>
              </a:lnSpc>
              <a:spcBef>
                <a:spcPts val="700"/>
              </a:spcBef>
              <a:spcAft>
                <a:spcPts val="700"/>
              </a:spcAft>
              <a:buFont typeface="Arial" panose="020B0604020202020204" pitchFamily="34" charset="0"/>
              <a:buChar char="•"/>
            </a:pPr>
            <a:endParaRPr lang="en-US" sz="1300" dirty="0">
              <a:latin typeface="Lato"/>
            </a:endParaRPr>
          </a:p>
          <a:p>
            <a:pPr marL="457200" lvl="1" indent="-457200">
              <a:lnSpc>
                <a:spcPct val="90000"/>
              </a:lnSpc>
              <a:spcBef>
                <a:spcPts val="700"/>
              </a:spcBef>
              <a:spcAft>
                <a:spcPts val="700"/>
              </a:spcAft>
              <a:buFont typeface="Arial" panose="020B0604020202020204" pitchFamily="34" charset="0"/>
              <a:buChar char="•"/>
            </a:pPr>
            <a:endParaRPr lang="en-US" sz="1300" dirty="0">
              <a:latin typeface="Lato"/>
            </a:endParaRPr>
          </a:p>
        </p:txBody>
      </p:sp>
    </p:spTree>
    <p:extLst>
      <p:ext uri="{BB962C8B-B14F-4D97-AF65-F5344CB8AC3E}">
        <p14:creationId xmlns:p14="http://schemas.microsoft.com/office/powerpoint/2010/main" val="400443447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B6D1D7F-141C-4D8E-BFBA-D95B68E16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58DA214-7FDA-4C9D-A7CF-9AD725E29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734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C974A5-ADF4-4359-82C1-2314CDA3FD5D}"/>
              </a:ext>
            </a:extLst>
          </p:cNvPr>
          <p:cNvSpPr>
            <a:spLocks noGrp="1"/>
          </p:cNvSpPr>
          <p:nvPr>
            <p:ph type="title"/>
          </p:nvPr>
        </p:nvSpPr>
        <p:spPr>
          <a:xfrm>
            <a:off x="831274" y="643467"/>
            <a:ext cx="3341440" cy="5571066"/>
          </a:xfrm>
        </p:spPr>
        <p:txBody>
          <a:bodyPr>
            <a:normAutofit/>
          </a:bodyPr>
          <a:lstStyle/>
          <a:p>
            <a:r>
              <a:rPr lang="en-SG" sz="5600" dirty="0"/>
              <a:t>Objective of the model</a:t>
            </a:r>
          </a:p>
        </p:txBody>
      </p:sp>
      <p:sp>
        <p:nvSpPr>
          <p:cNvPr id="7" name="Content Placeholder 6">
            <a:extLst>
              <a:ext uri="{FF2B5EF4-FFF2-40B4-BE49-F238E27FC236}">
                <a16:creationId xmlns:a16="http://schemas.microsoft.com/office/drawing/2014/main" id="{5A0A1D28-BB2B-4890-8B9B-76B40E735907}"/>
              </a:ext>
            </a:extLst>
          </p:cNvPr>
          <p:cNvSpPr>
            <a:spLocks noGrp="1"/>
          </p:cNvSpPr>
          <p:nvPr>
            <p:ph idx="1"/>
          </p:nvPr>
        </p:nvSpPr>
        <p:spPr>
          <a:xfrm>
            <a:off x="5294547" y="643467"/>
            <a:ext cx="5934285" cy="5571066"/>
          </a:xfrm>
        </p:spPr>
        <p:txBody>
          <a:bodyPr anchor="ctr">
            <a:normAutofit/>
          </a:bodyPr>
          <a:lstStyle/>
          <a:p>
            <a:r>
              <a:rPr lang="en-US" b="0" i="0" dirty="0">
                <a:effectLst/>
                <a:latin typeface="Lato"/>
              </a:rPr>
              <a:t>For a fraud detection system, the best model can be defined as the model that has the </a:t>
            </a:r>
            <a:r>
              <a:rPr lang="en-US" b="0" i="0" dirty="0">
                <a:solidFill>
                  <a:schemeClr val="accent2">
                    <a:lumMod val="60000"/>
                    <a:lumOff val="40000"/>
                  </a:schemeClr>
                </a:solidFill>
                <a:effectLst/>
                <a:latin typeface="Lato"/>
              </a:rPr>
              <a:t>highest expected fraud detection performances </a:t>
            </a:r>
            <a:r>
              <a:rPr lang="en-US" b="0" i="0" dirty="0">
                <a:effectLst/>
                <a:latin typeface="Lato"/>
              </a:rPr>
              <a:t>on </a:t>
            </a:r>
            <a:r>
              <a:rPr lang="en-US" b="0" i="0" u="sng" dirty="0">
                <a:effectLst/>
                <a:latin typeface="Lato"/>
              </a:rPr>
              <a:t>future</a:t>
            </a:r>
            <a:r>
              <a:rPr lang="en-US" b="0" i="0" dirty="0">
                <a:effectLst/>
                <a:latin typeface="Lato"/>
              </a:rPr>
              <a:t> </a:t>
            </a:r>
            <a:r>
              <a:rPr lang="en-US" b="0" i="0" u="sng" dirty="0">
                <a:effectLst/>
                <a:latin typeface="Lato"/>
              </a:rPr>
              <a:t>transactions</a:t>
            </a:r>
            <a:r>
              <a:rPr lang="en-US" b="0" i="0" dirty="0">
                <a:effectLst/>
                <a:latin typeface="Lato"/>
              </a:rPr>
              <a:t>.</a:t>
            </a:r>
          </a:p>
          <a:p>
            <a:endParaRPr lang="en-SG" dirty="0"/>
          </a:p>
        </p:txBody>
      </p:sp>
    </p:spTree>
    <p:extLst>
      <p:ext uri="{BB962C8B-B14F-4D97-AF65-F5344CB8AC3E}">
        <p14:creationId xmlns:p14="http://schemas.microsoft.com/office/powerpoint/2010/main" val="4258049419"/>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B6D1D7F-141C-4D8E-BFBA-D95B68E16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58DA214-7FDA-4C9D-A7CF-9AD725E29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734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C974A5-ADF4-4359-82C1-2314CDA3FD5D}"/>
              </a:ext>
            </a:extLst>
          </p:cNvPr>
          <p:cNvSpPr>
            <a:spLocks noGrp="1"/>
          </p:cNvSpPr>
          <p:nvPr>
            <p:ph type="title"/>
          </p:nvPr>
        </p:nvSpPr>
        <p:spPr>
          <a:xfrm>
            <a:off x="960120" y="643467"/>
            <a:ext cx="3212593" cy="5571066"/>
          </a:xfrm>
        </p:spPr>
        <p:txBody>
          <a:bodyPr>
            <a:normAutofit/>
          </a:bodyPr>
          <a:lstStyle/>
          <a:p>
            <a:r>
              <a:rPr lang="en-SG" sz="5600"/>
              <a:t>Building the model</a:t>
            </a:r>
          </a:p>
        </p:txBody>
      </p:sp>
      <p:graphicFrame>
        <p:nvGraphicFramePr>
          <p:cNvPr id="5" name="Content Placeholder 2">
            <a:extLst>
              <a:ext uri="{FF2B5EF4-FFF2-40B4-BE49-F238E27FC236}">
                <a16:creationId xmlns:a16="http://schemas.microsoft.com/office/drawing/2014/main" id="{BD8BB0DC-F950-4271-82F4-7C06C24CE5B7}"/>
              </a:ext>
            </a:extLst>
          </p:cNvPr>
          <p:cNvGraphicFramePr>
            <a:graphicFrameLocks noGrp="1"/>
          </p:cNvGraphicFramePr>
          <p:nvPr>
            <p:ph idx="1"/>
            <p:extLst>
              <p:ext uri="{D42A27DB-BD31-4B8C-83A1-F6EECF244321}">
                <p14:modId xmlns:p14="http://schemas.microsoft.com/office/powerpoint/2010/main" val="1299326195"/>
              </p:ext>
            </p:extLst>
          </p:nvPr>
        </p:nvGraphicFramePr>
        <p:xfrm>
          <a:off x="5411638" y="643467"/>
          <a:ext cx="5816750" cy="55710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09215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15">
            <a:extLst>
              <a:ext uri="{FF2B5EF4-FFF2-40B4-BE49-F238E27FC236}">
                <a16:creationId xmlns:a16="http://schemas.microsoft.com/office/drawing/2014/main" id="{EB6D1D7F-141C-4D8E-BFBA-D95B68E16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BF5DE7-2984-4F34-8E57-4BF1E12FA34A}"/>
              </a:ext>
            </a:extLst>
          </p:cNvPr>
          <p:cNvSpPr>
            <a:spLocks noGrp="1"/>
          </p:cNvSpPr>
          <p:nvPr>
            <p:ph type="title"/>
          </p:nvPr>
        </p:nvSpPr>
        <p:spPr>
          <a:xfrm>
            <a:off x="960120" y="317814"/>
            <a:ext cx="10268712" cy="1700784"/>
          </a:xfrm>
        </p:spPr>
        <p:txBody>
          <a:bodyPr>
            <a:normAutofit/>
          </a:bodyPr>
          <a:lstStyle/>
          <a:p>
            <a:r>
              <a:rPr lang="en-SG" dirty="0"/>
              <a:t>Which metrics to choose?</a:t>
            </a:r>
          </a:p>
        </p:txBody>
      </p:sp>
      <p:sp>
        <p:nvSpPr>
          <p:cNvPr id="23" name="Rectangle 17">
            <a:extLst>
              <a:ext uri="{FF2B5EF4-FFF2-40B4-BE49-F238E27FC236}">
                <a16:creationId xmlns:a16="http://schemas.microsoft.com/office/drawing/2014/main" id="{27248369-464E-49D1-91FC-BC34A50A6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2264989"/>
            <a:ext cx="12188952" cy="39521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11" descr="Exclamation mark on a yellow background">
            <a:extLst>
              <a:ext uri="{FF2B5EF4-FFF2-40B4-BE49-F238E27FC236}">
                <a16:creationId xmlns:a16="http://schemas.microsoft.com/office/drawing/2014/main" id="{71F23140-0010-406B-9504-460C698A4A5D}"/>
              </a:ext>
            </a:extLst>
          </p:cNvPr>
          <p:cNvPicPr>
            <a:picLocks noChangeAspect="1"/>
          </p:cNvPicPr>
          <p:nvPr/>
        </p:nvPicPr>
        <p:blipFill rotWithShape="1">
          <a:blip r:embed="rId3"/>
          <a:srcRect l="14986" r="2069"/>
          <a:stretch/>
        </p:blipFill>
        <p:spPr>
          <a:xfrm>
            <a:off x="-3048" y="2264988"/>
            <a:ext cx="4370832" cy="3952189"/>
          </a:xfrm>
          <a:prstGeom prst="rect">
            <a:avLst/>
          </a:prstGeom>
        </p:spPr>
      </p:pic>
      <p:sp>
        <p:nvSpPr>
          <p:cNvPr id="3" name="Content Placeholder 2">
            <a:extLst>
              <a:ext uri="{FF2B5EF4-FFF2-40B4-BE49-F238E27FC236}">
                <a16:creationId xmlns:a16="http://schemas.microsoft.com/office/drawing/2014/main" id="{E199E262-233D-46D2-8AEC-D730F922B08F}"/>
              </a:ext>
            </a:extLst>
          </p:cNvPr>
          <p:cNvSpPr>
            <a:spLocks noGrp="1"/>
          </p:cNvSpPr>
          <p:nvPr>
            <p:ph idx="1"/>
          </p:nvPr>
        </p:nvSpPr>
        <p:spPr>
          <a:xfrm>
            <a:off x="5004426" y="2587625"/>
            <a:ext cx="6223961" cy="3317875"/>
          </a:xfrm>
        </p:spPr>
        <p:txBody>
          <a:bodyPr anchor="ctr">
            <a:normAutofit/>
          </a:bodyPr>
          <a:lstStyle/>
          <a:p>
            <a:r>
              <a:rPr lang="en-US" u="sng" dirty="0">
                <a:latin typeface="Lato"/>
              </a:rPr>
              <a:t>M</a:t>
            </a:r>
            <a:r>
              <a:rPr lang="en-US" b="0" i="0" u="sng" dirty="0">
                <a:effectLst/>
                <a:latin typeface="Lato"/>
              </a:rPr>
              <a:t>issing a fraudulent transaction</a:t>
            </a:r>
            <a:r>
              <a:rPr lang="en-US" b="0" i="0" dirty="0">
                <a:effectLst/>
                <a:latin typeface="Lato"/>
              </a:rPr>
              <a:t> is usually considered </a:t>
            </a:r>
            <a:r>
              <a:rPr lang="en-US" b="0" i="0" u="sng" dirty="0">
                <a:effectLst/>
                <a:latin typeface="Lato"/>
              </a:rPr>
              <a:t>more costly </a:t>
            </a:r>
            <a:r>
              <a:rPr lang="en-US" b="0" i="0" dirty="0">
                <a:effectLst/>
                <a:latin typeface="Lato"/>
              </a:rPr>
              <a:t>than </a:t>
            </a:r>
            <a:r>
              <a:rPr lang="en-US" b="0" i="0" u="sng" dirty="0">
                <a:effectLst/>
                <a:latin typeface="Lato"/>
              </a:rPr>
              <a:t>raising a false alert </a:t>
            </a:r>
            <a:r>
              <a:rPr lang="en-US" b="0" i="0" dirty="0">
                <a:effectLst/>
                <a:latin typeface="Lato"/>
              </a:rPr>
              <a:t>on a legitimate transaction.</a:t>
            </a:r>
            <a:br>
              <a:rPr lang="en-US" dirty="0">
                <a:effectLst/>
              </a:rPr>
            </a:br>
            <a:endParaRPr lang="en-SG" dirty="0"/>
          </a:p>
        </p:txBody>
      </p:sp>
    </p:spTree>
    <p:extLst>
      <p:ext uri="{BB962C8B-B14F-4D97-AF65-F5344CB8AC3E}">
        <p14:creationId xmlns:p14="http://schemas.microsoft.com/office/powerpoint/2010/main" val="3963647043"/>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B6D1D7F-141C-4D8E-BFBA-D95B68E16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58DA214-7FDA-4C9D-A7CF-9AD725E29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734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BF5DE7-2984-4F34-8E57-4BF1E12FA34A}"/>
              </a:ext>
            </a:extLst>
          </p:cNvPr>
          <p:cNvSpPr>
            <a:spLocks noGrp="1"/>
          </p:cNvSpPr>
          <p:nvPr>
            <p:ph type="title"/>
          </p:nvPr>
        </p:nvSpPr>
        <p:spPr>
          <a:xfrm>
            <a:off x="960120" y="643467"/>
            <a:ext cx="3212593" cy="5571066"/>
          </a:xfrm>
        </p:spPr>
        <p:txBody>
          <a:bodyPr>
            <a:normAutofit/>
          </a:bodyPr>
          <a:lstStyle/>
          <a:p>
            <a:r>
              <a:rPr lang="en-SG" sz="5100"/>
              <a:t>Metrics selection</a:t>
            </a:r>
          </a:p>
        </p:txBody>
      </p:sp>
      <p:graphicFrame>
        <p:nvGraphicFramePr>
          <p:cNvPr id="5" name="Content Placeholder 2">
            <a:extLst>
              <a:ext uri="{FF2B5EF4-FFF2-40B4-BE49-F238E27FC236}">
                <a16:creationId xmlns:a16="http://schemas.microsoft.com/office/drawing/2014/main" id="{AA72C7A5-7A64-488A-B889-DC5E625D26B8}"/>
              </a:ext>
            </a:extLst>
          </p:cNvPr>
          <p:cNvGraphicFramePr>
            <a:graphicFrameLocks noGrp="1"/>
          </p:cNvGraphicFramePr>
          <p:nvPr>
            <p:ph idx="1"/>
            <p:extLst>
              <p:ext uri="{D42A27DB-BD31-4B8C-83A1-F6EECF244321}">
                <p14:modId xmlns:p14="http://schemas.microsoft.com/office/powerpoint/2010/main" val="1559270728"/>
              </p:ext>
            </p:extLst>
          </p:nvPr>
        </p:nvGraphicFramePr>
        <p:xfrm>
          <a:off x="5411638" y="643467"/>
          <a:ext cx="5816750" cy="55710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86868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DE7-2984-4F34-8E57-4BF1E12FA34A}"/>
              </a:ext>
            </a:extLst>
          </p:cNvPr>
          <p:cNvSpPr>
            <a:spLocks noGrp="1"/>
          </p:cNvSpPr>
          <p:nvPr>
            <p:ph type="title"/>
          </p:nvPr>
        </p:nvSpPr>
        <p:spPr/>
        <p:txBody>
          <a:bodyPr/>
          <a:lstStyle/>
          <a:p>
            <a:r>
              <a:rPr lang="en-SG" dirty="0"/>
              <a:t>ML tools</a:t>
            </a:r>
          </a:p>
        </p:txBody>
      </p:sp>
      <p:graphicFrame>
        <p:nvGraphicFramePr>
          <p:cNvPr id="5" name="Content Placeholder 2">
            <a:extLst>
              <a:ext uri="{FF2B5EF4-FFF2-40B4-BE49-F238E27FC236}">
                <a16:creationId xmlns:a16="http://schemas.microsoft.com/office/drawing/2014/main" id="{D0D897C6-3F71-47F4-A78A-5DBC4310B3BF}"/>
              </a:ext>
            </a:extLst>
          </p:cNvPr>
          <p:cNvGraphicFramePr>
            <a:graphicFrameLocks noGrp="1"/>
          </p:cNvGraphicFramePr>
          <p:nvPr>
            <p:ph idx="1"/>
            <p:extLst>
              <p:ext uri="{D42A27DB-BD31-4B8C-83A1-F6EECF244321}">
                <p14:modId xmlns:p14="http://schemas.microsoft.com/office/powerpoint/2010/main" val="1015925642"/>
              </p:ext>
            </p:extLst>
          </p:nvPr>
        </p:nvGraphicFramePr>
        <p:xfrm>
          <a:off x="960120" y="2587752"/>
          <a:ext cx="10268712" cy="3593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93007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D7FEE-6DA9-489C-989D-B1414421294E}"/>
              </a:ext>
            </a:extLst>
          </p:cNvPr>
          <p:cNvSpPr>
            <a:spLocks noGrp="1"/>
          </p:cNvSpPr>
          <p:nvPr>
            <p:ph type="title"/>
          </p:nvPr>
        </p:nvSpPr>
        <p:spPr/>
        <p:txBody>
          <a:bodyPr/>
          <a:lstStyle/>
          <a:p>
            <a:r>
              <a:rPr lang="en-SG" dirty="0"/>
              <a:t>Model comparisons</a:t>
            </a:r>
          </a:p>
        </p:txBody>
      </p:sp>
      <p:sp>
        <p:nvSpPr>
          <p:cNvPr id="9" name="Content Placeholder 2">
            <a:extLst>
              <a:ext uri="{FF2B5EF4-FFF2-40B4-BE49-F238E27FC236}">
                <a16:creationId xmlns:a16="http://schemas.microsoft.com/office/drawing/2014/main" id="{8EF0DC7C-EA3C-450A-9B05-7A57FCF2AF94}"/>
              </a:ext>
            </a:extLst>
          </p:cNvPr>
          <p:cNvSpPr>
            <a:spLocks noGrp="1"/>
          </p:cNvSpPr>
          <p:nvPr>
            <p:ph idx="1"/>
          </p:nvPr>
        </p:nvSpPr>
        <p:spPr>
          <a:xfrm>
            <a:off x="792355" y="2786819"/>
            <a:ext cx="3726180" cy="487972"/>
          </a:xfrm>
        </p:spPr>
        <p:txBody>
          <a:bodyPr>
            <a:normAutofit/>
          </a:bodyPr>
          <a:lstStyle/>
          <a:p>
            <a:r>
              <a:rPr lang="en-US" b="0" i="0" dirty="0">
                <a:solidFill>
                  <a:srgbClr val="333333"/>
                </a:solidFill>
                <a:effectLst/>
                <a:latin typeface="Lato"/>
              </a:rPr>
              <a:t>Test results</a:t>
            </a:r>
          </a:p>
        </p:txBody>
      </p:sp>
      <p:sp>
        <p:nvSpPr>
          <p:cNvPr id="10" name="Content Placeholder 2">
            <a:extLst>
              <a:ext uri="{FF2B5EF4-FFF2-40B4-BE49-F238E27FC236}">
                <a16:creationId xmlns:a16="http://schemas.microsoft.com/office/drawing/2014/main" id="{CC1D3CCF-172F-4C63-B9E1-798A150F71EB}"/>
              </a:ext>
            </a:extLst>
          </p:cNvPr>
          <p:cNvSpPr txBox="1">
            <a:spLocks/>
          </p:cNvSpPr>
          <p:nvPr/>
        </p:nvSpPr>
        <p:spPr>
          <a:xfrm>
            <a:off x="6787938" y="2786819"/>
            <a:ext cx="3726180" cy="487972"/>
          </a:xfrm>
          <a:prstGeom prst="rect">
            <a:avLst/>
          </a:prstGeom>
        </p:spPr>
        <p:txBody>
          <a:bodyPr vert="horz" lIns="91440" tIns="45720" rIns="91440" bIns="45720" rtlCol="0">
            <a:normAutofit/>
          </a:bodyPr>
          <a:lst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333333"/>
                </a:solidFill>
                <a:latin typeface="Lato"/>
              </a:rPr>
              <a:t>Training results</a:t>
            </a:r>
          </a:p>
        </p:txBody>
      </p:sp>
      <p:pic>
        <p:nvPicPr>
          <p:cNvPr id="4" name="Picture 3">
            <a:extLst>
              <a:ext uri="{FF2B5EF4-FFF2-40B4-BE49-F238E27FC236}">
                <a16:creationId xmlns:a16="http://schemas.microsoft.com/office/drawing/2014/main" id="{EAB91451-E9A2-4730-87D8-E452B84D5FCD}"/>
              </a:ext>
            </a:extLst>
          </p:cNvPr>
          <p:cNvPicPr>
            <a:picLocks noChangeAspect="1"/>
          </p:cNvPicPr>
          <p:nvPr/>
        </p:nvPicPr>
        <p:blipFill>
          <a:blip r:embed="rId2"/>
          <a:stretch>
            <a:fillRect/>
          </a:stretch>
        </p:blipFill>
        <p:spPr>
          <a:xfrm>
            <a:off x="389281" y="3339549"/>
            <a:ext cx="4234525" cy="1970856"/>
          </a:xfrm>
          <a:prstGeom prst="rect">
            <a:avLst/>
          </a:prstGeom>
        </p:spPr>
      </p:pic>
      <p:pic>
        <p:nvPicPr>
          <p:cNvPr id="8" name="Picture 7">
            <a:extLst>
              <a:ext uri="{FF2B5EF4-FFF2-40B4-BE49-F238E27FC236}">
                <a16:creationId xmlns:a16="http://schemas.microsoft.com/office/drawing/2014/main" id="{57C66FA4-1838-4368-9247-8D1E5B701419}"/>
              </a:ext>
            </a:extLst>
          </p:cNvPr>
          <p:cNvPicPr>
            <a:picLocks noChangeAspect="1"/>
          </p:cNvPicPr>
          <p:nvPr/>
        </p:nvPicPr>
        <p:blipFill>
          <a:blip r:embed="rId3"/>
          <a:stretch>
            <a:fillRect/>
          </a:stretch>
        </p:blipFill>
        <p:spPr>
          <a:xfrm>
            <a:off x="6396626" y="3539558"/>
            <a:ext cx="4117492" cy="1770847"/>
          </a:xfrm>
          <a:prstGeom prst="rect">
            <a:avLst/>
          </a:prstGeom>
        </p:spPr>
      </p:pic>
    </p:spTree>
    <p:extLst>
      <p:ext uri="{BB962C8B-B14F-4D97-AF65-F5344CB8AC3E}">
        <p14:creationId xmlns:p14="http://schemas.microsoft.com/office/powerpoint/2010/main" val="2093453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D7FEE-6DA9-489C-989D-B1414421294E}"/>
              </a:ext>
            </a:extLst>
          </p:cNvPr>
          <p:cNvSpPr>
            <a:spLocks noGrp="1"/>
          </p:cNvSpPr>
          <p:nvPr>
            <p:ph type="title"/>
          </p:nvPr>
        </p:nvSpPr>
        <p:spPr/>
        <p:txBody>
          <a:bodyPr>
            <a:normAutofit fontScale="90000"/>
          </a:bodyPr>
          <a:lstStyle/>
          <a:p>
            <a:r>
              <a:rPr lang="en-SG" dirty="0"/>
              <a:t>Model comparisons </a:t>
            </a:r>
            <a:br>
              <a:rPr lang="en-SG" dirty="0"/>
            </a:br>
            <a:r>
              <a:rPr lang="en-SG" dirty="0"/>
              <a:t>– ROC AUC</a:t>
            </a:r>
          </a:p>
        </p:txBody>
      </p:sp>
      <p:sp>
        <p:nvSpPr>
          <p:cNvPr id="11" name="Content Placeholder 2">
            <a:extLst>
              <a:ext uri="{FF2B5EF4-FFF2-40B4-BE49-F238E27FC236}">
                <a16:creationId xmlns:a16="http://schemas.microsoft.com/office/drawing/2014/main" id="{30CE1046-7060-4223-98D4-7E730304FCA6}"/>
              </a:ext>
            </a:extLst>
          </p:cNvPr>
          <p:cNvSpPr>
            <a:spLocks noGrp="1"/>
          </p:cNvSpPr>
          <p:nvPr>
            <p:ph idx="1"/>
          </p:nvPr>
        </p:nvSpPr>
        <p:spPr>
          <a:xfrm>
            <a:off x="6579704" y="2703443"/>
            <a:ext cx="4649128" cy="3487840"/>
          </a:xfrm>
        </p:spPr>
        <p:txBody>
          <a:bodyPr>
            <a:normAutofit/>
          </a:bodyPr>
          <a:lstStyle/>
          <a:p>
            <a:pPr marL="457200" indent="-457200">
              <a:buFont typeface="Arial" panose="020B0604020202020204" pitchFamily="34" charset="0"/>
              <a:buChar char="•"/>
            </a:pPr>
            <a:r>
              <a:rPr lang="en-US" b="1" i="0" dirty="0">
                <a:solidFill>
                  <a:srgbClr val="333333"/>
                </a:solidFill>
                <a:effectLst/>
                <a:latin typeface="Lato"/>
              </a:rPr>
              <a:t>Lowest performer – Decision Tree </a:t>
            </a:r>
            <a:r>
              <a:rPr lang="en-US" b="1" i="0" dirty="0">
                <a:solidFill>
                  <a:srgbClr val="FF0000"/>
                </a:solidFill>
                <a:effectLst/>
                <a:latin typeface="Lato"/>
              </a:rPr>
              <a:t>0.812</a:t>
            </a:r>
          </a:p>
          <a:p>
            <a:pPr marL="457200" indent="-457200">
              <a:buFont typeface="Arial" panose="020B0604020202020204" pitchFamily="34" charset="0"/>
              <a:buChar char="•"/>
            </a:pPr>
            <a:r>
              <a:rPr lang="en-US" b="1" i="0" dirty="0">
                <a:solidFill>
                  <a:srgbClr val="333333"/>
                </a:solidFill>
                <a:effectLst/>
                <a:latin typeface="Lato"/>
              </a:rPr>
              <a:t>Highest performer - Logistic </a:t>
            </a:r>
            <a:r>
              <a:rPr lang="en-US" b="1" dirty="0">
                <a:solidFill>
                  <a:srgbClr val="333333"/>
                </a:solidFill>
                <a:latin typeface="Lato"/>
              </a:rPr>
              <a:t>R</a:t>
            </a:r>
            <a:r>
              <a:rPr lang="en-US" b="1" i="0" dirty="0">
                <a:solidFill>
                  <a:srgbClr val="333333"/>
                </a:solidFill>
                <a:effectLst/>
                <a:latin typeface="Lato"/>
              </a:rPr>
              <a:t>egression </a:t>
            </a:r>
            <a:r>
              <a:rPr lang="en-US" b="1" i="0" dirty="0">
                <a:solidFill>
                  <a:srgbClr val="00B050"/>
                </a:solidFill>
                <a:effectLst/>
                <a:latin typeface="Lato"/>
              </a:rPr>
              <a:t>0.885</a:t>
            </a:r>
          </a:p>
          <a:p>
            <a:pPr marL="514350" indent="-514350">
              <a:buFont typeface="+mj-lt"/>
              <a:buAutoNum type="arabicPeriod"/>
            </a:pPr>
            <a:endParaRPr lang="en-US" b="0" i="0" dirty="0">
              <a:solidFill>
                <a:srgbClr val="333333"/>
              </a:solidFill>
              <a:effectLst/>
              <a:latin typeface="Lato"/>
            </a:endParaRPr>
          </a:p>
          <a:p>
            <a:pPr marL="514350" indent="-514350">
              <a:buFont typeface="+mj-lt"/>
              <a:buAutoNum type="arabicPeriod"/>
            </a:pPr>
            <a:endParaRPr lang="en-US" b="0" i="0" dirty="0">
              <a:solidFill>
                <a:srgbClr val="333333"/>
              </a:solidFill>
              <a:effectLst/>
              <a:latin typeface="Lato"/>
            </a:endParaRPr>
          </a:p>
          <a:p>
            <a:pPr marL="514350" indent="-514350">
              <a:buFont typeface="+mj-lt"/>
              <a:buAutoNum type="arabicPeriod"/>
            </a:pPr>
            <a:endParaRPr lang="en-SG" dirty="0"/>
          </a:p>
        </p:txBody>
      </p:sp>
      <p:pic>
        <p:nvPicPr>
          <p:cNvPr id="2050" name="Picture 2">
            <a:extLst>
              <a:ext uri="{FF2B5EF4-FFF2-40B4-BE49-F238E27FC236}">
                <a16:creationId xmlns:a16="http://schemas.microsoft.com/office/drawing/2014/main" id="{C9125DC9-8E20-4E37-A644-AA2AA56835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326" y="2766200"/>
            <a:ext cx="5772150" cy="3362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8284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D7FEE-6DA9-489C-989D-B1414421294E}"/>
              </a:ext>
            </a:extLst>
          </p:cNvPr>
          <p:cNvSpPr>
            <a:spLocks noGrp="1"/>
          </p:cNvSpPr>
          <p:nvPr>
            <p:ph type="title"/>
          </p:nvPr>
        </p:nvSpPr>
        <p:spPr/>
        <p:txBody>
          <a:bodyPr>
            <a:normAutofit fontScale="90000"/>
          </a:bodyPr>
          <a:lstStyle/>
          <a:p>
            <a:r>
              <a:rPr lang="en-SG" dirty="0"/>
              <a:t>Model comparisons – </a:t>
            </a:r>
            <a:br>
              <a:rPr lang="en-SG" dirty="0"/>
            </a:br>
            <a:r>
              <a:rPr lang="en-SG" dirty="0"/>
              <a:t>PR Curve</a:t>
            </a:r>
          </a:p>
        </p:txBody>
      </p:sp>
      <p:sp>
        <p:nvSpPr>
          <p:cNvPr id="5" name="Content Placeholder 2">
            <a:extLst>
              <a:ext uri="{FF2B5EF4-FFF2-40B4-BE49-F238E27FC236}">
                <a16:creationId xmlns:a16="http://schemas.microsoft.com/office/drawing/2014/main" id="{0EC7BCDF-3EF9-4389-A51A-1CD0E69C4A5C}"/>
              </a:ext>
            </a:extLst>
          </p:cNvPr>
          <p:cNvSpPr>
            <a:spLocks noGrp="1"/>
          </p:cNvSpPr>
          <p:nvPr>
            <p:ph idx="1"/>
          </p:nvPr>
        </p:nvSpPr>
        <p:spPr>
          <a:xfrm>
            <a:off x="6579704" y="2703443"/>
            <a:ext cx="4649128" cy="3487840"/>
          </a:xfrm>
        </p:spPr>
        <p:txBody>
          <a:bodyPr>
            <a:normAutofit/>
          </a:bodyPr>
          <a:lstStyle/>
          <a:p>
            <a:pPr marL="457200" indent="-457200">
              <a:buFont typeface="Arial" panose="020B0604020202020204" pitchFamily="34" charset="0"/>
              <a:buChar char="•"/>
            </a:pPr>
            <a:r>
              <a:rPr lang="en-US" b="1" i="0" dirty="0">
                <a:solidFill>
                  <a:srgbClr val="333333"/>
                </a:solidFill>
                <a:effectLst/>
                <a:latin typeface="Lato"/>
              </a:rPr>
              <a:t>Lowest performer – Decision Tree </a:t>
            </a:r>
            <a:r>
              <a:rPr lang="en-US" b="1" i="0" dirty="0">
                <a:solidFill>
                  <a:srgbClr val="FF0000"/>
                </a:solidFill>
                <a:effectLst/>
                <a:latin typeface="Lato"/>
              </a:rPr>
              <a:t>0.345</a:t>
            </a:r>
          </a:p>
          <a:p>
            <a:pPr marL="457200" indent="-457200">
              <a:buFont typeface="Arial" panose="020B0604020202020204" pitchFamily="34" charset="0"/>
              <a:buChar char="•"/>
            </a:pPr>
            <a:r>
              <a:rPr lang="en-US" b="1" i="0" dirty="0">
                <a:solidFill>
                  <a:srgbClr val="333333"/>
                </a:solidFill>
                <a:effectLst/>
                <a:latin typeface="Lato"/>
              </a:rPr>
              <a:t>Highest performer – </a:t>
            </a:r>
            <a:r>
              <a:rPr lang="en-US" b="1" i="0" dirty="0" err="1">
                <a:solidFill>
                  <a:srgbClr val="333333"/>
                </a:solidFill>
                <a:effectLst/>
                <a:latin typeface="Lato"/>
              </a:rPr>
              <a:t>XGBoost</a:t>
            </a:r>
            <a:r>
              <a:rPr lang="en-US" b="1" i="0" dirty="0">
                <a:solidFill>
                  <a:srgbClr val="333333"/>
                </a:solidFill>
                <a:effectLst/>
                <a:latin typeface="Lato"/>
              </a:rPr>
              <a:t> </a:t>
            </a:r>
            <a:r>
              <a:rPr lang="en-US" b="1" i="0" dirty="0">
                <a:solidFill>
                  <a:srgbClr val="00B050"/>
                </a:solidFill>
                <a:effectLst/>
                <a:latin typeface="Lato"/>
              </a:rPr>
              <a:t>0.707</a:t>
            </a:r>
          </a:p>
        </p:txBody>
      </p:sp>
      <p:pic>
        <p:nvPicPr>
          <p:cNvPr id="3074" name="Picture 2">
            <a:extLst>
              <a:ext uri="{FF2B5EF4-FFF2-40B4-BE49-F238E27FC236}">
                <a16:creationId xmlns:a16="http://schemas.microsoft.com/office/drawing/2014/main" id="{45D27736-23BC-4129-B053-FA810451B1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778" y="2509025"/>
            <a:ext cx="6019800" cy="3876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69207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28">
            <a:extLst>
              <a:ext uri="{FF2B5EF4-FFF2-40B4-BE49-F238E27FC236}">
                <a16:creationId xmlns:a16="http://schemas.microsoft.com/office/drawing/2014/main" id="{EB6D1D7F-141C-4D8E-BFBA-D95B68E16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BF5DE7-2984-4F34-8E57-4BF1E12FA34A}"/>
              </a:ext>
            </a:extLst>
          </p:cNvPr>
          <p:cNvSpPr>
            <a:spLocks noGrp="1"/>
          </p:cNvSpPr>
          <p:nvPr>
            <p:ph type="title"/>
          </p:nvPr>
        </p:nvSpPr>
        <p:spPr>
          <a:xfrm>
            <a:off x="960120" y="317814"/>
            <a:ext cx="10268712" cy="1700784"/>
          </a:xfrm>
        </p:spPr>
        <p:txBody>
          <a:bodyPr>
            <a:normAutofit/>
          </a:bodyPr>
          <a:lstStyle/>
          <a:p>
            <a:r>
              <a:rPr lang="en-SG"/>
              <a:t>Which Model to choose?</a:t>
            </a:r>
            <a:endParaRPr lang="en-SG" dirty="0"/>
          </a:p>
        </p:txBody>
      </p:sp>
      <p:sp>
        <p:nvSpPr>
          <p:cNvPr id="36" name="Rectangle 30">
            <a:extLst>
              <a:ext uri="{FF2B5EF4-FFF2-40B4-BE49-F238E27FC236}">
                <a16:creationId xmlns:a16="http://schemas.microsoft.com/office/drawing/2014/main" id="{27248369-464E-49D1-91FC-BC34A50A6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2264989"/>
            <a:ext cx="12188952" cy="39521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11" descr="3D black question marks with one yellow question mark">
            <a:extLst>
              <a:ext uri="{FF2B5EF4-FFF2-40B4-BE49-F238E27FC236}">
                <a16:creationId xmlns:a16="http://schemas.microsoft.com/office/drawing/2014/main" id="{71F23140-0010-406B-9504-460C698A4A5D}"/>
              </a:ext>
            </a:extLst>
          </p:cNvPr>
          <p:cNvPicPr>
            <a:picLocks noChangeAspect="1"/>
          </p:cNvPicPr>
          <p:nvPr/>
        </p:nvPicPr>
        <p:blipFill rotWithShape="1">
          <a:blip r:embed="rId3">
            <a:extLst>
              <a:ext uri="{28A0092B-C50C-407E-A947-70E740481C1C}">
                <a14:useLocalDpi xmlns:a14="http://schemas.microsoft.com/office/drawing/2010/main" val="0"/>
              </a:ext>
            </a:extLst>
          </a:blip>
          <a:srcRect l="41429" r="18205" b="1"/>
          <a:stretch/>
        </p:blipFill>
        <p:spPr>
          <a:xfrm>
            <a:off x="-3048" y="2264988"/>
            <a:ext cx="4370832" cy="3952189"/>
          </a:xfrm>
          <a:prstGeom prst="rect">
            <a:avLst/>
          </a:prstGeom>
        </p:spPr>
      </p:pic>
      <p:sp>
        <p:nvSpPr>
          <p:cNvPr id="3" name="Content Placeholder 2">
            <a:extLst>
              <a:ext uri="{FF2B5EF4-FFF2-40B4-BE49-F238E27FC236}">
                <a16:creationId xmlns:a16="http://schemas.microsoft.com/office/drawing/2014/main" id="{E199E262-233D-46D2-8AEC-D730F922B08F}"/>
              </a:ext>
            </a:extLst>
          </p:cNvPr>
          <p:cNvSpPr>
            <a:spLocks noGrp="1"/>
          </p:cNvSpPr>
          <p:nvPr>
            <p:ph idx="1"/>
          </p:nvPr>
        </p:nvSpPr>
        <p:spPr>
          <a:xfrm>
            <a:off x="5004426" y="2587625"/>
            <a:ext cx="6223961" cy="3317875"/>
          </a:xfrm>
        </p:spPr>
        <p:txBody>
          <a:bodyPr anchor="ctr">
            <a:normAutofit fontScale="92500"/>
          </a:bodyPr>
          <a:lstStyle/>
          <a:p>
            <a:pPr marL="457200" indent="-457200">
              <a:buFont typeface="Arial" panose="020B0604020202020204" pitchFamily="34" charset="0"/>
              <a:buChar char="•"/>
            </a:pPr>
            <a:r>
              <a:rPr lang="en-US" b="0" i="0" dirty="0">
                <a:effectLst/>
                <a:latin typeface="Lato"/>
              </a:rPr>
              <a:t>Validation procedures provide an estimate of the generalization of performance.</a:t>
            </a:r>
          </a:p>
          <a:p>
            <a:pPr marL="457200" indent="-457200">
              <a:buFont typeface="Arial" panose="020B0604020202020204" pitchFamily="34" charset="0"/>
              <a:buChar char="•"/>
            </a:pPr>
            <a:r>
              <a:rPr lang="en-US" b="0" i="0" dirty="0">
                <a:effectLst/>
                <a:latin typeface="Lato"/>
              </a:rPr>
              <a:t>What parameters would have provided the best performance on the test set?</a:t>
            </a:r>
          </a:p>
          <a:p>
            <a:br>
              <a:rPr lang="en-US" dirty="0">
                <a:effectLst/>
              </a:rPr>
            </a:br>
            <a:endParaRPr lang="en-SG" dirty="0"/>
          </a:p>
        </p:txBody>
      </p:sp>
    </p:spTree>
    <p:extLst>
      <p:ext uri="{BB962C8B-B14F-4D97-AF65-F5344CB8AC3E}">
        <p14:creationId xmlns:p14="http://schemas.microsoft.com/office/powerpoint/2010/main" val="95190449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18A0D-8E05-4AB7-B635-948D1FFAED2E}"/>
              </a:ext>
            </a:extLst>
          </p:cNvPr>
          <p:cNvSpPr>
            <a:spLocks noGrp="1"/>
          </p:cNvSpPr>
          <p:nvPr>
            <p:ph type="title"/>
          </p:nvPr>
        </p:nvSpPr>
        <p:spPr/>
        <p:txBody>
          <a:bodyPr>
            <a:normAutofit/>
          </a:bodyPr>
          <a:lstStyle/>
          <a:p>
            <a:r>
              <a:rPr lang="en-SG" dirty="0"/>
              <a:t>Validation technique</a:t>
            </a:r>
          </a:p>
        </p:txBody>
      </p:sp>
      <p:pic>
        <p:nvPicPr>
          <p:cNvPr id="12290" name="Picture 2" descr="alt text">
            <a:extLst>
              <a:ext uri="{FF2B5EF4-FFF2-40B4-BE49-F238E27FC236}">
                <a16:creationId xmlns:a16="http://schemas.microsoft.com/office/drawing/2014/main" id="{9DC77132-1A90-48F1-954D-5EAE391AB5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2693503"/>
            <a:ext cx="6321287" cy="3717147"/>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EB239AF5-94A4-41CD-A5CE-566C4B1CC1E5}"/>
              </a:ext>
            </a:extLst>
          </p:cNvPr>
          <p:cNvSpPr>
            <a:spLocks noGrp="1"/>
          </p:cNvSpPr>
          <p:nvPr>
            <p:ph idx="1"/>
          </p:nvPr>
        </p:nvSpPr>
        <p:spPr>
          <a:xfrm>
            <a:off x="6808304" y="2802835"/>
            <a:ext cx="4649128" cy="3487840"/>
          </a:xfrm>
        </p:spPr>
        <p:txBody>
          <a:bodyPr>
            <a:normAutofit/>
          </a:bodyPr>
          <a:lstStyle/>
          <a:p>
            <a:pPr marL="342900" indent="-342900">
              <a:buFont typeface="Arial" panose="020B0604020202020204" pitchFamily="34" charset="0"/>
              <a:buChar char="•"/>
            </a:pPr>
            <a:r>
              <a:rPr lang="en-US" sz="2000" dirty="0">
                <a:solidFill>
                  <a:srgbClr val="333333"/>
                </a:solidFill>
                <a:latin typeface="Lato"/>
              </a:rPr>
              <a:t>An alternative validation procedure consists in using training sets of similar sizes, taken from older historical data. </a:t>
            </a:r>
          </a:p>
          <a:p>
            <a:pPr marL="342900" indent="-342900">
              <a:buFont typeface="Arial" panose="020B0604020202020204" pitchFamily="34" charset="0"/>
              <a:buChar char="•"/>
            </a:pPr>
            <a:r>
              <a:rPr lang="en-US" sz="2000" dirty="0">
                <a:solidFill>
                  <a:srgbClr val="333333"/>
                </a:solidFill>
                <a:latin typeface="Lato"/>
              </a:rPr>
              <a:t>The scheme is called </a:t>
            </a:r>
            <a:r>
              <a:rPr lang="en-US" sz="2000" dirty="0">
                <a:solidFill>
                  <a:schemeClr val="accent2">
                    <a:lumMod val="75000"/>
                  </a:schemeClr>
                </a:solidFill>
                <a:latin typeface="Lato"/>
              </a:rPr>
              <a:t>prequential validation</a:t>
            </a:r>
            <a:r>
              <a:rPr lang="en-US" sz="2000" dirty="0">
                <a:solidFill>
                  <a:srgbClr val="333333"/>
                </a:solidFill>
                <a:latin typeface="Lato"/>
              </a:rPr>
              <a:t>. </a:t>
            </a:r>
          </a:p>
          <a:p>
            <a:pPr marL="342900" indent="-342900">
              <a:buFont typeface="Arial" panose="020B0604020202020204" pitchFamily="34" charset="0"/>
              <a:buChar char="•"/>
            </a:pPr>
            <a:r>
              <a:rPr lang="en-US" sz="2000" dirty="0">
                <a:solidFill>
                  <a:srgbClr val="333333"/>
                </a:solidFill>
                <a:latin typeface="Lato"/>
              </a:rPr>
              <a:t>Each fold shifts the training and validation sets by one block in the past.</a:t>
            </a:r>
            <a:endParaRPr lang="en-SG" sz="2000" dirty="0">
              <a:solidFill>
                <a:srgbClr val="333333"/>
              </a:solidFill>
              <a:latin typeface="Lato"/>
            </a:endParaRPr>
          </a:p>
        </p:txBody>
      </p:sp>
    </p:spTree>
    <p:extLst>
      <p:ext uri="{BB962C8B-B14F-4D97-AF65-F5344CB8AC3E}">
        <p14:creationId xmlns:p14="http://schemas.microsoft.com/office/powerpoint/2010/main" val="2673727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B6D1D7F-141C-4D8E-BFBA-D95B68E16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D7FEE-6DA9-489C-989D-B1414421294E}"/>
              </a:ext>
            </a:extLst>
          </p:cNvPr>
          <p:cNvSpPr>
            <a:spLocks noGrp="1"/>
          </p:cNvSpPr>
          <p:nvPr>
            <p:ph type="title"/>
          </p:nvPr>
        </p:nvSpPr>
        <p:spPr>
          <a:xfrm>
            <a:off x="960120" y="317814"/>
            <a:ext cx="10268712" cy="1700784"/>
          </a:xfrm>
        </p:spPr>
        <p:txBody>
          <a:bodyPr>
            <a:normAutofit/>
          </a:bodyPr>
          <a:lstStyle/>
          <a:p>
            <a:r>
              <a:rPr lang="en-SG"/>
              <a:t>Hyperparameter tuning</a:t>
            </a:r>
            <a:endParaRPr lang="en-SG" dirty="0"/>
          </a:p>
        </p:txBody>
      </p:sp>
      <p:pic>
        <p:nvPicPr>
          <p:cNvPr id="8" name="Graphic 7" descr="Tuning Fork with solid fill">
            <a:extLst>
              <a:ext uri="{FF2B5EF4-FFF2-40B4-BE49-F238E27FC236}">
                <a16:creationId xmlns:a16="http://schemas.microsoft.com/office/drawing/2014/main" id="{B992EB99-EDB5-4DD1-A2A9-37D6DA24E25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p:blipFill>
        <p:spPr>
          <a:xfrm>
            <a:off x="960120" y="2792180"/>
            <a:ext cx="2897804" cy="2897804"/>
          </a:xfrm>
          <a:prstGeom prst="rect">
            <a:avLst/>
          </a:prstGeom>
        </p:spPr>
      </p:pic>
      <p:sp>
        <p:nvSpPr>
          <p:cNvPr id="20" name="Rectangle 19">
            <a:extLst>
              <a:ext uri="{FF2B5EF4-FFF2-40B4-BE49-F238E27FC236}">
                <a16:creationId xmlns:a16="http://schemas.microsoft.com/office/drawing/2014/main" id="{27248369-464E-49D1-91FC-BC34A50A6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67782" y="2264989"/>
            <a:ext cx="7824217" cy="39521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1">
            <a:extLst>
              <a:ext uri="{FF2B5EF4-FFF2-40B4-BE49-F238E27FC236}">
                <a16:creationId xmlns:a16="http://schemas.microsoft.com/office/drawing/2014/main" id="{F43D6A9D-9938-481B-B1AC-A61E8540F1AF}"/>
              </a:ext>
            </a:extLst>
          </p:cNvPr>
          <p:cNvSpPr>
            <a:spLocks noGrp="1" noChangeArrowheads="1"/>
          </p:cNvSpPr>
          <p:nvPr>
            <p:ph idx="1"/>
          </p:nvPr>
        </p:nvSpPr>
        <p:spPr bwMode="auto">
          <a:xfrm>
            <a:off x="5004426" y="2587625"/>
            <a:ext cx="6223961" cy="3317875"/>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0" rIns="91440" bIns="0" numCol="1" anchor="ctr" anchorCtr="0" compatLnSpc="1">
            <a:prstTxWarp prst="textNoShape">
              <a:avLst/>
            </a:prstTxWarp>
            <a:normAutofit/>
          </a:bodyPr>
          <a:lstStyle/>
          <a:p>
            <a:pPr marL="342900" marR="0" lvl="0" indent="-342900" defTabSz="914400" rtl="0" eaLnBrk="0" fontAlgn="base" latinLnBrk="0" hangingPunct="0">
              <a:lnSpc>
                <a:spcPct val="91000"/>
              </a:lnSpc>
              <a:spcBef>
                <a:spcPct val="0"/>
              </a:spcBef>
              <a:spcAft>
                <a:spcPts val="600"/>
              </a:spcAft>
              <a:buClrTx/>
              <a:buSzTx/>
              <a:buFont typeface="Arial" panose="020B0604020202020204" pitchFamily="34" charset="0"/>
              <a:buChar char="•"/>
              <a:tabLst/>
            </a:pPr>
            <a:r>
              <a:rPr lang="en-US" altLang="en-US" sz="2000" dirty="0">
                <a:solidFill>
                  <a:srgbClr val="00B0F0"/>
                </a:solidFill>
                <a:latin typeface="Lato"/>
              </a:rPr>
              <a:t>Default parameters</a:t>
            </a:r>
          </a:p>
          <a:p>
            <a:pPr marL="342900" marR="0" lvl="0" indent="-342900" defTabSz="914400" rtl="0" eaLnBrk="0" fontAlgn="base" latinLnBrk="0" hangingPunct="0">
              <a:lnSpc>
                <a:spcPct val="91000"/>
              </a:lnSpc>
              <a:spcBef>
                <a:spcPct val="0"/>
              </a:spcBef>
              <a:spcAft>
                <a:spcPts val="600"/>
              </a:spcAft>
              <a:buClrTx/>
              <a:buSzTx/>
              <a:buFont typeface="Arial" panose="020B0604020202020204" pitchFamily="34" charset="0"/>
              <a:buChar char="•"/>
              <a:tabLst/>
            </a:pPr>
            <a:r>
              <a:rPr lang="en-US" altLang="en-US" sz="2000" dirty="0">
                <a:solidFill>
                  <a:srgbClr val="92D050"/>
                </a:solidFill>
                <a:latin typeface="Lato"/>
              </a:rPr>
              <a:t>Best estimated parameters</a:t>
            </a:r>
            <a:r>
              <a:rPr lang="en-US" altLang="en-US" sz="2000" dirty="0">
                <a:latin typeface="Lato"/>
              </a:rPr>
              <a:t>: Parameters that provide the highest performances on the </a:t>
            </a:r>
            <a:r>
              <a:rPr lang="en-US" altLang="en-US" sz="2000" dirty="0">
                <a:solidFill>
                  <a:srgbClr val="92D050"/>
                </a:solidFill>
                <a:latin typeface="Lato"/>
              </a:rPr>
              <a:t>validation set</a:t>
            </a:r>
          </a:p>
          <a:p>
            <a:pPr marL="342900" marR="0" lvl="0" indent="-342900" defTabSz="914400" rtl="0" eaLnBrk="0" fontAlgn="base" latinLnBrk="0" hangingPunct="0">
              <a:lnSpc>
                <a:spcPct val="91000"/>
              </a:lnSpc>
              <a:spcBef>
                <a:spcPct val="0"/>
              </a:spcBef>
              <a:spcAft>
                <a:spcPts val="600"/>
              </a:spcAft>
              <a:buClrTx/>
              <a:buSzTx/>
              <a:buFont typeface="Arial" panose="020B0604020202020204" pitchFamily="34" charset="0"/>
              <a:buChar char="•"/>
              <a:tabLst/>
            </a:pPr>
            <a:r>
              <a:rPr lang="en-US" altLang="en-US" sz="2000" dirty="0">
                <a:solidFill>
                  <a:srgbClr val="FF0000"/>
                </a:solidFill>
                <a:latin typeface="Lato"/>
              </a:rPr>
              <a:t>Optimal parameters</a:t>
            </a:r>
            <a:r>
              <a:rPr lang="en-US" altLang="en-US" sz="2000" dirty="0">
                <a:latin typeface="Lato"/>
              </a:rPr>
              <a:t>: Parameters that provide the highest performances on the </a:t>
            </a:r>
            <a:r>
              <a:rPr lang="en-US" altLang="en-US" sz="2000" dirty="0">
                <a:solidFill>
                  <a:srgbClr val="FF0000"/>
                </a:solidFill>
                <a:latin typeface="Lato"/>
              </a:rPr>
              <a:t>test set</a:t>
            </a:r>
            <a:r>
              <a:rPr lang="en-US" altLang="en-US" sz="2000" dirty="0">
                <a:latin typeface="Lato"/>
              </a:rPr>
              <a:t>.</a:t>
            </a:r>
            <a:endParaRPr kumimoji="0" lang="en-US" altLang="en-US" sz="20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1318265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D7FEE-6DA9-489C-989D-B1414421294E}"/>
              </a:ext>
            </a:extLst>
          </p:cNvPr>
          <p:cNvSpPr>
            <a:spLocks noGrp="1"/>
          </p:cNvSpPr>
          <p:nvPr>
            <p:ph type="title"/>
          </p:nvPr>
        </p:nvSpPr>
        <p:spPr/>
        <p:txBody>
          <a:bodyPr/>
          <a:lstStyle/>
          <a:p>
            <a:r>
              <a:rPr lang="en-SG" dirty="0"/>
              <a:t>Model results</a:t>
            </a:r>
          </a:p>
        </p:txBody>
      </p:sp>
      <p:sp>
        <p:nvSpPr>
          <p:cNvPr id="5" name="Content Placeholder 2">
            <a:extLst>
              <a:ext uri="{FF2B5EF4-FFF2-40B4-BE49-F238E27FC236}">
                <a16:creationId xmlns:a16="http://schemas.microsoft.com/office/drawing/2014/main" id="{AE454CF6-775D-42D5-BBF8-700C7607972C}"/>
              </a:ext>
            </a:extLst>
          </p:cNvPr>
          <p:cNvSpPr>
            <a:spLocks noGrp="1"/>
          </p:cNvSpPr>
          <p:nvPr>
            <p:ph idx="1"/>
          </p:nvPr>
        </p:nvSpPr>
        <p:spPr>
          <a:xfrm>
            <a:off x="8096852" y="3031435"/>
            <a:ext cx="3958899" cy="3029951"/>
          </a:xfrm>
        </p:spPr>
        <p:txBody>
          <a:bodyPr>
            <a:normAutofit fontScale="62500" lnSpcReduction="20000"/>
          </a:bodyPr>
          <a:lstStyle/>
          <a:p>
            <a:pPr marL="457200" indent="-457200">
              <a:buFont typeface="Arial" panose="020B0604020202020204" pitchFamily="34" charset="0"/>
              <a:buChar char="•"/>
            </a:pPr>
            <a:endParaRPr lang="en-US" b="0" i="0" dirty="0">
              <a:solidFill>
                <a:srgbClr val="333333"/>
              </a:solidFill>
              <a:effectLst/>
              <a:latin typeface="Lato"/>
            </a:endParaRPr>
          </a:p>
          <a:p>
            <a:pPr marL="457200" indent="-457200">
              <a:buFont typeface="Arial" panose="020B0604020202020204" pitchFamily="34" charset="0"/>
              <a:buChar char="•"/>
            </a:pPr>
            <a:r>
              <a:rPr lang="en-US" b="1" i="0" dirty="0">
                <a:solidFill>
                  <a:srgbClr val="000000"/>
                </a:solidFill>
                <a:effectLst/>
                <a:latin typeface="Helvetica Neue"/>
              </a:rPr>
              <a:t>Similar</a:t>
            </a:r>
            <a:r>
              <a:rPr lang="en-US" b="0" i="0" dirty="0">
                <a:solidFill>
                  <a:srgbClr val="000000"/>
                </a:solidFill>
                <a:effectLst/>
                <a:latin typeface="Helvetica Neue"/>
              </a:rPr>
              <a:t> performances from </a:t>
            </a:r>
            <a:r>
              <a:rPr lang="en-US" b="1" i="0" dirty="0">
                <a:solidFill>
                  <a:srgbClr val="000000"/>
                </a:solidFill>
                <a:effectLst/>
                <a:latin typeface="Helvetica Neue"/>
              </a:rPr>
              <a:t>Logistic </a:t>
            </a:r>
            <a:r>
              <a:rPr lang="en-US" b="1" dirty="0">
                <a:solidFill>
                  <a:srgbClr val="000000"/>
                </a:solidFill>
                <a:latin typeface="Helvetica Neue"/>
              </a:rPr>
              <a:t>R</a:t>
            </a:r>
            <a:r>
              <a:rPr lang="en-US" b="1" i="0" dirty="0">
                <a:solidFill>
                  <a:srgbClr val="000000"/>
                </a:solidFill>
                <a:effectLst/>
                <a:latin typeface="Helvetica Neue"/>
              </a:rPr>
              <a:t>egression</a:t>
            </a:r>
            <a:r>
              <a:rPr lang="en-US" b="0" i="0" dirty="0">
                <a:solidFill>
                  <a:srgbClr val="000000"/>
                </a:solidFill>
                <a:effectLst/>
                <a:latin typeface="Helvetica Neue"/>
              </a:rPr>
              <a:t>, </a:t>
            </a:r>
            <a:r>
              <a:rPr lang="en-US" b="1" i="0" dirty="0">
                <a:solidFill>
                  <a:srgbClr val="000000"/>
                </a:solidFill>
                <a:effectLst/>
                <a:latin typeface="Helvetica Neue"/>
              </a:rPr>
              <a:t>Random </a:t>
            </a:r>
            <a:r>
              <a:rPr lang="en-US" b="1" dirty="0">
                <a:solidFill>
                  <a:srgbClr val="000000"/>
                </a:solidFill>
                <a:latin typeface="Helvetica Neue"/>
              </a:rPr>
              <a:t>F</a:t>
            </a:r>
            <a:r>
              <a:rPr lang="en-US" b="1" i="0" dirty="0">
                <a:solidFill>
                  <a:srgbClr val="000000"/>
                </a:solidFill>
                <a:effectLst/>
                <a:latin typeface="Helvetica Neue"/>
              </a:rPr>
              <a:t>orest </a:t>
            </a:r>
            <a:r>
              <a:rPr lang="en-SG" dirty="0">
                <a:solidFill>
                  <a:srgbClr val="00B050"/>
                </a:solidFill>
              </a:rPr>
              <a:t>0.883</a:t>
            </a:r>
            <a:r>
              <a:rPr lang="en-US" b="0" i="0" dirty="0">
                <a:solidFill>
                  <a:srgbClr val="000000"/>
                </a:solidFill>
                <a:effectLst/>
                <a:latin typeface="Helvetica Neue"/>
              </a:rPr>
              <a:t>, and </a:t>
            </a:r>
            <a:r>
              <a:rPr lang="en-US" b="1" i="0" dirty="0" err="1">
                <a:solidFill>
                  <a:srgbClr val="000000"/>
                </a:solidFill>
                <a:effectLst/>
                <a:latin typeface="Helvetica Neue"/>
              </a:rPr>
              <a:t>XGBoost</a:t>
            </a:r>
            <a:r>
              <a:rPr lang="en-US" b="0" i="0" dirty="0">
                <a:solidFill>
                  <a:srgbClr val="000000"/>
                </a:solidFill>
                <a:effectLst/>
                <a:latin typeface="Helvetica Neue"/>
              </a:rPr>
              <a:t> </a:t>
            </a:r>
            <a:r>
              <a:rPr lang="en-SG" dirty="0">
                <a:solidFill>
                  <a:srgbClr val="0070C0"/>
                </a:solidFill>
              </a:rPr>
              <a:t>0.878</a:t>
            </a:r>
            <a:r>
              <a:rPr lang="en-SG" dirty="0"/>
              <a:t> </a:t>
            </a:r>
            <a:r>
              <a:rPr lang="en-US" b="0" i="0" dirty="0">
                <a:solidFill>
                  <a:srgbClr val="000000"/>
                </a:solidFill>
                <a:effectLst/>
                <a:latin typeface="Helvetica Neue"/>
              </a:rPr>
              <a:t>in terms of </a:t>
            </a:r>
            <a:r>
              <a:rPr lang="en-US" b="1" i="0" dirty="0">
                <a:solidFill>
                  <a:srgbClr val="000000"/>
                </a:solidFill>
                <a:effectLst/>
                <a:latin typeface="Helvetica Neue"/>
              </a:rPr>
              <a:t>AUC ROC</a:t>
            </a:r>
          </a:p>
          <a:p>
            <a:pPr marL="457200" indent="-457200">
              <a:buFont typeface="Arial" panose="020B0604020202020204" pitchFamily="34" charset="0"/>
              <a:buChar char="•"/>
            </a:pPr>
            <a:r>
              <a:rPr lang="en-US" b="1" dirty="0" err="1">
                <a:solidFill>
                  <a:srgbClr val="333333"/>
                </a:solidFill>
                <a:latin typeface="Lato"/>
              </a:rPr>
              <a:t>XGBoost</a:t>
            </a:r>
            <a:r>
              <a:rPr lang="en-US" dirty="0">
                <a:solidFill>
                  <a:srgbClr val="333333"/>
                </a:solidFill>
                <a:latin typeface="Lato"/>
              </a:rPr>
              <a:t> has the best </a:t>
            </a:r>
            <a:r>
              <a:rPr lang="en-US" b="1" dirty="0">
                <a:solidFill>
                  <a:srgbClr val="333333"/>
                </a:solidFill>
                <a:latin typeface="Lato"/>
              </a:rPr>
              <a:t>average precision </a:t>
            </a:r>
            <a:r>
              <a:rPr lang="en-US" dirty="0">
                <a:solidFill>
                  <a:srgbClr val="333333"/>
                </a:solidFill>
                <a:latin typeface="Lato"/>
              </a:rPr>
              <a:t>metric </a:t>
            </a:r>
            <a:r>
              <a:rPr lang="en-SG" dirty="0">
                <a:solidFill>
                  <a:srgbClr val="0070C0"/>
                </a:solidFill>
              </a:rPr>
              <a:t>0.702</a:t>
            </a:r>
            <a:r>
              <a:rPr lang="en-US" dirty="0">
                <a:latin typeface="Lato"/>
              </a:rPr>
              <a:t>.</a:t>
            </a:r>
            <a:r>
              <a:rPr lang="en-US" dirty="0">
                <a:solidFill>
                  <a:srgbClr val="333333"/>
                </a:solidFill>
                <a:latin typeface="Lato"/>
              </a:rPr>
              <a:t> </a:t>
            </a:r>
            <a:r>
              <a:rPr lang="en-US" b="1" dirty="0">
                <a:solidFill>
                  <a:srgbClr val="000000"/>
                </a:solidFill>
                <a:latin typeface="Helvetica Neue"/>
              </a:rPr>
              <a:t>Random Forest </a:t>
            </a:r>
            <a:r>
              <a:rPr lang="en-US" dirty="0">
                <a:solidFill>
                  <a:srgbClr val="000000"/>
                </a:solidFill>
                <a:latin typeface="Helvetica Neue"/>
              </a:rPr>
              <a:t>slightly lower at</a:t>
            </a:r>
            <a:r>
              <a:rPr lang="en-US" b="1" dirty="0">
                <a:solidFill>
                  <a:srgbClr val="000000"/>
                </a:solidFill>
                <a:latin typeface="Helvetica Neue"/>
              </a:rPr>
              <a:t> </a:t>
            </a:r>
            <a:r>
              <a:rPr lang="en-US" b="1" dirty="0">
                <a:solidFill>
                  <a:srgbClr val="00B050"/>
                </a:solidFill>
                <a:latin typeface="Helvetica Neue"/>
              </a:rPr>
              <a:t>0.695</a:t>
            </a:r>
            <a:r>
              <a:rPr lang="en-US" b="1" dirty="0">
                <a:solidFill>
                  <a:srgbClr val="000000"/>
                </a:solidFill>
                <a:latin typeface="Helvetica Neue"/>
              </a:rPr>
              <a:t> </a:t>
            </a:r>
            <a:endParaRPr lang="en-US" b="0" i="0" dirty="0">
              <a:solidFill>
                <a:srgbClr val="000000"/>
              </a:solidFill>
              <a:effectLst/>
              <a:latin typeface="Helvetica Neue"/>
            </a:endParaRPr>
          </a:p>
          <a:p>
            <a:pPr marL="457200" indent="-457200">
              <a:buFont typeface="Arial" panose="020B0604020202020204" pitchFamily="34" charset="0"/>
              <a:buChar char="•"/>
            </a:pPr>
            <a:r>
              <a:rPr lang="en-US" b="1" i="0" dirty="0">
                <a:solidFill>
                  <a:srgbClr val="333333"/>
                </a:solidFill>
                <a:effectLst/>
                <a:latin typeface="Lato"/>
              </a:rPr>
              <a:t>Best performer </a:t>
            </a:r>
            <a:r>
              <a:rPr lang="en-US" b="0" i="0" dirty="0">
                <a:solidFill>
                  <a:srgbClr val="333333"/>
                </a:solidFill>
                <a:effectLst/>
                <a:latin typeface="Lato"/>
              </a:rPr>
              <a:t>- </a:t>
            </a:r>
            <a:r>
              <a:rPr lang="en-US" b="1" i="0" dirty="0" err="1">
                <a:solidFill>
                  <a:schemeClr val="accent2">
                    <a:lumMod val="75000"/>
                  </a:schemeClr>
                </a:solidFill>
                <a:effectLst/>
                <a:latin typeface="Lato"/>
              </a:rPr>
              <a:t>XGBoost</a:t>
            </a:r>
            <a:endParaRPr lang="en-US" b="0" i="0" dirty="0">
              <a:solidFill>
                <a:srgbClr val="333333"/>
              </a:solidFill>
              <a:effectLst/>
              <a:latin typeface="Lato"/>
            </a:endParaRPr>
          </a:p>
          <a:p>
            <a:endParaRPr lang="en-SG" dirty="0"/>
          </a:p>
        </p:txBody>
      </p:sp>
      <p:pic>
        <p:nvPicPr>
          <p:cNvPr id="7" name="Picture 6">
            <a:extLst>
              <a:ext uri="{FF2B5EF4-FFF2-40B4-BE49-F238E27FC236}">
                <a16:creationId xmlns:a16="http://schemas.microsoft.com/office/drawing/2014/main" id="{B6A7F298-3206-4BE6-8F8A-3A1C6C85E42C}"/>
              </a:ext>
            </a:extLst>
          </p:cNvPr>
          <p:cNvPicPr>
            <a:picLocks noChangeAspect="1"/>
          </p:cNvPicPr>
          <p:nvPr/>
        </p:nvPicPr>
        <p:blipFill>
          <a:blip r:embed="rId3"/>
          <a:stretch>
            <a:fillRect/>
          </a:stretch>
        </p:blipFill>
        <p:spPr>
          <a:xfrm>
            <a:off x="381433" y="2899830"/>
            <a:ext cx="7427429" cy="3161556"/>
          </a:xfrm>
          <a:prstGeom prst="rect">
            <a:avLst/>
          </a:prstGeom>
        </p:spPr>
      </p:pic>
    </p:spTree>
    <p:extLst>
      <p:ext uri="{BB962C8B-B14F-4D97-AF65-F5344CB8AC3E}">
        <p14:creationId xmlns:p14="http://schemas.microsoft.com/office/powerpoint/2010/main" val="4037817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5DCFB-1AF1-4943-96B8-74AA52E89123}"/>
              </a:ext>
            </a:extLst>
          </p:cNvPr>
          <p:cNvSpPr>
            <a:spLocks noGrp="1"/>
          </p:cNvSpPr>
          <p:nvPr>
            <p:ph type="title"/>
          </p:nvPr>
        </p:nvSpPr>
        <p:spPr/>
        <p:txBody>
          <a:bodyPr/>
          <a:lstStyle/>
          <a:p>
            <a:r>
              <a:rPr lang="en-SG" dirty="0"/>
              <a:t>Key Notes</a:t>
            </a:r>
          </a:p>
        </p:txBody>
      </p:sp>
      <p:graphicFrame>
        <p:nvGraphicFramePr>
          <p:cNvPr id="5" name="Content Placeholder 2">
            <a:extLst>
              <a:ext uri="{FF2B5EF4-FFF2-40B4-BE49-F238E27FC236}">
                <a16:creationId xmlns:a16="http://schemas.microsoft.com/office/drawing/2014/main" id="{4FFA889D-CCEA-4E5C-BB67-E526089ECA4E}"/>
              </a:ext>
            </a:extLst>
          </p:cNvPr>
          <p:cNvGraphicFramePr>
            <a:graphicFrameLocks noGrp="1"/>
          </p:cNvGraphicFramePr>
          <p:nvPr>
            <p:ph idx="1"/>
            <p:extLst>
              <p:ext uri="{D42A27DB-BD31-4B8C-83A1-F6EECF244321}">
                <p14:modId xmlns:p14="http://schemas.microsoft.com/office/powerpoint/2010/main" val="178420530"/>
              </p:ext>
            </p:extLst>
          </p:nvPr>
        </p:nvGraphicFramePr>
        <p:xfrm>
          <a:off x="960120" y="2587752"/>
          <a:ext cx="10268712" cy="35935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02565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D7FEE-6DA9-489C-989D-B1414421294E}"/>
              </a:ext>
            </a:extLst>
          </p:cNvPr>
          <p:cNvSpPr>
            <a:spLocks noGrp="1"/>
          </p:cNvSpPr>
          <p:nvPr>
            <p:ph type="title"/>
          </p:nvPr>
        </p:nvSpPr>
        <p:spPr/>
        <p:txBody>
          <a:bodyPr>
            <a:normAutofit fontScale="90000"/>
          </a:bodyPr>
          <a:lstStyle/>
          <a:p>
            <a:r>
              <a:rPr lang="en-SG" dirty="0"/>
              <a:t>Real world considerations</a:t>
            </a:r>
          </a:p>
        </p:txBody>
      </p:sp>
      <p:sp>
        <p:nvSpPr>
          <p:cNvPr id="3" name="Content Placeholder 2">
            <a:extLst>
              <a:ext uri="{FF2B5EF4-FFF2-40B4-BE49-F238E27FC236}">
                <a16:creationId xmlns:a16="http://schemas.microsoft.com/office/drawing/2014/main" id="{618C5D04-6121-4937-8173-C963D2E46857}"/>
              </a:ext>
            </a:extLst>
          </p:cNvPr>
          <p:cNvSpPr>
            <a:spLocks noGrp="1"/>
          </p:cNvSpPr>
          <p:nvPr>
            <p:ph idx="1"/>
          </p:nvPr>
        </p:nvSpPr>
        <p:spPr>
          <a:xfrm>
            <a:off x="5467350" y="2587752"/>
            <a:ext cx="5761482" cy="3593592"/>
          </a:xfrm>
        </p:spPr>
        <p:txBody>
          <a:bodyPr>
            <a:normAutofit/>
          </a:bodyPr>
          <a:lstStyle/>
          <a:p>
            <a:pPr marL="457200" indent="-457200">
              <a:buFont typeface="Arial" panose="020B0604020202020204" pitchFamily="34" charset="0"/>
              <a:buChar char="•"/>
            </a:pPr>
            <a:endParaRPr lang="en-US" b="0" i="0" dirty="0">
              <a:solidFill>
                <a:srgbClr val="333333"/>
              </a:solidFill>
              <a:effectLst/>
              <a:latin typeface="Lato"/>
            </a:endParaRPr>
          </a:p>
          <a:p>
            <a:pPr marL="457200" indent="-457200">
              <a:buFont typeface="Arial" panose="020B0604020202020204" pitchFamily="34" charset="0"/>
              <a:buChar char="•"/>
            </a:pPr>
            <a:r>
              <a:rPr lang="en-US" dirty="0">
                <a:solidFill>
                  <a:srgbClr val="000000"/>
                </a:solidFill>
                <a:latin typeface="Helvetica Neue"/>
              </a:rPr>
              <a:t>Although </a:t>
            </a:r>
            <a:r>
              <a:rPr lang="en-US" dirty="0" err="1">
                <a:solidFill>
                  <a:srgbClr val="000000"/>
                </a:solidFill>
                <a:latin typeface="Helvetica Neue"/>
              </a:rPr>
              <a:t>XGBoost</a:t>
            </a:r>
            <a:r>
              <a:rPr lang="en-US" dirty="0">
                <a:solidFill>
                  <a:srgbClr val="000000"/>
                </a:solidFill>
                <a:latin typeface="Helvetica Neue"/>
              </a:rPr>
              <a:t> is the best performing model (on this dataset), it is also computationally intensive.</a:t>
            </a:r>
          </a:p>
        </p:txBody>
      </p:sp>
      <p:pic>
        <p:nvPicPr>
          <p:cNvPr id="17410" name="Picture 2">
            <a:extLst>
              <a:ext uri="{FF2B5EF4-FFF2-40B4-BE49-F238E27FC236}">
                <a16:creationId xmlns:a16="http://schemas.microsoft.com/office/drawing/2014/main" id="{F4F7723E-46D4-4605-AB61-CBCAF292D0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120" y="2491939"/>
            <a:ext cx="3410985" cy="3838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23640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DE7-2984-4F34-8E57-4BF1E12FA34A}"/>
              </a:ext>
            </a:extLst>
          </p:cNvPr>
          <p:cNvSpPr>
            <a:spLocks noGrp="1"/>
          </p:cNvSpPr>
          <p:nvPr>
            <p:ph type="title"/>
          </p:nvPr>
        </p:nvSpPr>
        <p:spPr/>
        <p:txBody>
          <a:bodyPr/>
          <a:lstStyle/>
          <a:p>
            <a:r>
              <a:rPr lang="en-SG" dirty="0"/>
              <a:t>Other possible metrics</a:t>
            </a:r>
          </a:p>
        </p:txBody>
      </p:sp>
      <p:sp>
        <p:nvSpPr>
          <p:cNvPr id="3" name="Content Placeholder 2">
            <a:extLst>
              <a:ext uri="{FF2B5EF4-FFF2-40B4-BE49-F238E27FC236}">
                <a16:creationId xmlns:a16="http://schemas.microsoft.com/office/drawing/2014/main" id="{E199E262-233D-46D2-8AEC-D730F922B08F}"/>
              </a:ext>
            </a:extLst>
          </p:cNvPr>
          <p:cNvSpPr>
            <a:spLocks noGrp="1"/>
          </p:cNvSpPr>
          <p:nvPr>
            <p:ph idx="1"/>
          </p:nvPr>
        </p:nvSpPr>
        <p:spPr>
          <a:xfrm>
            <a:off x="960120" y="2587752"/>
            <a:ext cx="10268712" cy="2031382"/>
          </a:xfrm>
        </p:spPr>
        <p:txBody>
          <a:bodyPr>
            <a:normAutofit/>
          </a:bodyPr>
          <a:lstStyle/>
          <a:p>
            <a:pPr marL="457200" indent="-457200">
              <a:buFont typeface="Arial" panose="020B0604020202020204" pitchFamily="34" charset="0"/>
              <a:buChar char="•"/>
            </a:pPr>
            <a:r>
              <a:rPr lang="en-US" dirty="0">
                <a:solidFill>
                  <a:srgbClr val="0071BC"/>
                </a:solidFill>
                <a:latin typeface="Lato"/>
              </a:rPr>
              <a:t>The Machine Learning Group - </a:t>
            </a:r>
            <a:r>
              <a:rPr lang="en-US" b="0" i="0" dirty="0">
                <a:solidFill>
                  <a:schemeClr val="accent2">
                    <a:lumMod val="75000"/>
                  </a:schemeClr>
                </a:solidFill>
                <a:effectLst/>
                <a:latin typeface="Lato"/>
              </a:rPr>
              <a:t>Card Precision top-k </a:t>
            </a:r>
            <a:r>
              <a:rPr lang="en-US" b="0" i="0" dirty="0">
                <a:solidFill>
                  <a:srgbClr val="333333"/>
                </a:solidFill>
                <a:effectLst/>
                <a:latin typeface="Lato"/>
              </a:rPr>
              <a:t>is a more pragmatic and interpretable measure. </a:t>
            </a:r>
          </a:p>
          <a:p>
            <a:pPr marL="457200" indent="-457200">
              <a:buFont typeface="Arial" panose="020B0604020202020204" pitchFamily="34" charset="0"/>
              <a:buChar char="•"/>
            </a:pPr>
            <a:r>
              <a:rPr lang="en-US" b="0" i="0" dirty="0">
                <a:solidFill>
                  <a:srgbClr val="333333"/>
                </a:solidFill>
                <a:effectLst/>
                <a:latin typeface="Lato"/>
              </a:rPr>
              <a:t>It considers the fact that </a:t>
            </a:r>
            <a:r>
              <a:rPr lang="en-US" b="0" i="0" dirty="0">
                <a:solidFill>
                  <a:schemeClr val="accent2">
                    <a:lumMod val="75000"/>
                  </a:schemeClr>
                </a:solidFill>
                <a:effectLst/>
                <a:latin typeface="Lato"/>
              </a:rPr>
              <a:t>investigators can only check a maximum of k potentially fraudulent cards per day</a:t>
            </a:r>
            <a:r>
              <a:rPr lang="en-US" b="0" i="0" dirty="0">
                <a:solidFill>
                  <a:srgbClr val="333333"/>
                </a:solidFill>
                <a:effectLst/>
                <a:latin typeface="Lato"/>
              </a:rPr>
              <a:t>. </a:t>
            </a:r>
          </a:p>
          <a:p>
            <a:endParaRPr lang="en-US" b="0" i="0" dirty="0">
              <a:solidFill>
                <a:srgbClr val="333333"/>
              </a:solidFill>
              <a:effectLst/>
              <a:latin typeface="Lato"/>
            </a:endParaRPr>
          </a:p>
        </p:txBody>
      </p:sp>
      <p:sp>
        <p:nvSpPr>
          <p:cNvPr id="4" name="Rectangle 1">
            <a:extLst>
              <a:ext uri="{FF2B5EF4-FFF2-40B4-BE49-F238E27FC236}">
                <a16:creationId xmlns:a16="http://schemas.microsoft.com/office/drawing/2014/main" id="{14594542-57E3-4ACF-B6E3-618BCE70102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333333"/>
                </a:solidFill>
                <a:effectLst/>
                <a:latin typeface="Lato"/>
              </a:rPr>
              <a:t>Card Precision top-</a:t>
            </a:r>
            <a:r>
              <a:rPr kumimoji="0" lang="en-US" altLang="en-US" sz="1200" b="0" i="0" u="none" strike="noStrike" cap="none" normalizeH="0" baseline="0">
                <a:ln>
                  <a:noFill/>
                </a:ln>
                <a:solidFill>
                  <a:srgbClr val="333333"/>
                </a:solidFill>
                <a:effectLst/>
                <a:latin typeface="MathJax_Math-italic"/>
              </a:rPr>
              <a:t>k</a:t>
            </a:r>
            <a:r>
              <a:rPr kumimoji="0" lang="en-US" altLang="en-US" sz="1100" b="0" i="0" u="none" strike="noStrike" cap="none" normalizeH="0" baseline="0">
                <a:ln>
                  <a:noFill/>
                </a:ln>
                <a:solidFill>
                  <a:srgbClr val="333333"/>
                </a:solidFill>
                <a:effectLst/>
                <a:latin typeface="Lato"/>
              </a:rPr>
              <a:t>k</a:t>
            </a:r>
            <a:br>
              <a:rPr kumimoji="0" lang="en-US" altLang="en-US" sz="8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AD503B01-9BDF-4360-A656-62EEB480274D}"/>
              </a:ext>
            </a:extLst>
          </p:cNvPr>
          <p:cNvPicPr>
            <a:picLocks noChangeAspect="1"/>
          </p:cNvPicPr>
          <p:nvPr/>
        </p:nvPicPr>
        <p:blipFill>
          <a:blip r:embed="rId3"/>
          <a:stretch>
            <a:fillRect/>
          </a:stretch>
        </p:blipFill>
        <p:spPr>
          <a:xfrm>
            <a:off x="3101422" y="4619134"/>
            <a:ext cx="4895850" cy="1600200"/>
          </a:xfrm>
          <a:prstGeom prst="rect">
            <a:avLst/>
          </a:prstGeom>
        </p:spPr>
      </p:pic>
    </p:spTree>
    <p:extLst>
      <p:ext uri="{BB962C8B-B14F-4D97-AF65-F5344CB8AC3E}">
        <p14:creationId xmlns:p14="http://schemas.microsoft.com/office/powerpoint/2010/main" val="1752312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B6D1D7F-141C-4D8E-BFBA-D95B68E16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58DA214-7FDA-4C9D-A7CF-9AD725E29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734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D7FEE-6DA9-489C-989D-B1414421294E}"/>
              </a:ext>
            </a:extLst>
          </p:cNvPr>
          <p:cNvSpPr>
            <a:spLocks noGrp="1"/>
          </p:cNvSpPr>
          <p:nvPr>
            <p:ph type="title"/>
          </p:nvPr>
        </p:nvSpPr>
        <p:spPr>
          <a:xfrm>
            <a:off x="960120" y="643467"/>
            <a:ext cx="3212593" cy="5571066"/>
          </a:xfrm>
        </p:spPr>
        <p:txBody>
          <a:bodyPr>
            <a:normAutofit/>
          </a:bodyPr>
          <a:lstStyle/>
          <a:p>
            <a:r>
              <a:rPr lang="en-SG" dirty="0"/>
              <a:t>Final word</a:t>
            </a:r>
          </a:p>
        </p:txBody>
      </p:sp>
      <p:sp>
        <p:nvSpPr>
          <p:cNvPr id="3" name="Content Placeholder 2">
            <a:extLst>
              <a:ext uri="{FF2B5EF4-FFF2-40B4-BE49-F238E27FC236}">
                <a16:creationId xmlns:a16="http://schemas.microsoft.com/office/drawing/2014/main" id="{618C5D04-6121-4937-8173-C963D2E46857}"/>
              </a:ext>
            </a:extLst>
          </p:cNvPr>
          <p:cNvSpPr>
            <a:spLocks noGrp="1"/>
          </p:cNvSpPr>
          <p:nvPr>
            <p:ph idx="1"/>
          </p:nvPr>
        </p:nvSpPr>
        <p:spPr>
          <a:xfrm>
            <a:off x="5294547" y="643467"/>
            <a:ext cx="5934285" cy="5571066"/>
          </a:xfrm>
        </p:spPr>
        <p:txBody>
          <a:bodyPr anchor="ctr">
            <a:normAutofit/>
          </a:bodyPr>
          <a:lstStyle/>
          <a:p>
            <a:pPr marL="457200" indent="-457200">
              <a:lnSpc>
                <a:spcPct val="91000"/>
              </a:lnSpc>
              <a:buFont typeface="Arial" panose="020B0604020202020204" pitchFamily="34" charset="0"/>
              <a:buChar char="•"/>
            </a:pPr>
            <a:r>
              <a:rPr lang="en-SG" dirty="0">
                <a:latin typeface="Lato"/>
              </a:rPr>
              <a:t>This is an area where machine learning techniques are still being explored! (Neural Networks)</a:t>
            </a:r>
            <a:endParaRPr lang="en-US" dirty="0">
              <a:latin typeface="Lato"/>
            </a:endParaRPr>
          </a:p>
          <a:p>
            <a:pPr marL="457200" indent="-457200">
              <a:lnSpc>
                <a:spcPct val="91000"/>
              </a:lnSpc>
              <a:buFont typeface="Arial" panose="020B0604020202020204" pitchFamily="34" charset="0"/>
              <a:buChar char="•"/>
            </a:pPr>
            <a:endParaRPr lang="en-US" dirty="0">
              <a:latin typeface="Lato"/>
            </a:endParaRPr>
          </a:p>
          <a:p>
            <a:pPr marL="457200" indent="-457200">
              <a:lnSpc>
                <a:spcPct val="91000"/>
              </a:lnSpc>
              <a:buFont typeface="Arial" panose="020B0604020202020204" pitchFamily="34" charset="0"/>
              <a:buChar char="•"/>
            </a:pPr>
            <a:r>
              <a:rPr lang="en-US" dirty="0">
                <a:solidFill>
                  <a:srgbClr val="00B0F0"/>
                </a:solidFill>
                <a:latin typeface="Lato"/>
              </a:rPr>
              <a:t>The Machine Learning Group – </a:t>
            </a:r>
            <a:r>
              <a:rPr lang="en-US" dirty="0">
                <a:latin typeface="Lato"/>
              </a:rPr>
              <a:t>testing on real world dataset and produced similar conclusions – RF &amp; </a:t>
            </a:r>
            <a:r>
              <a:rPr lang="en-US" dirty="0" err="1">
                <a:latin typeface="Lato"/>
              </a:rPr>
              <a:t>XGBoost</a:t>
            </a:r>
            <a:r>
              <a:rPr lang="en-US" dirty="0">
                <a:latin typeface="Lato"/>
              </a:rPr>
              <a:t>.</a:t>
            </a:r>
          </a:p>
          <a:p>
            <a:pPr marL="457200" indent="-457200">
              <a:lnSpc>
                <a:spcPct val="91000"/>
              </a:lnSpc>
              <a:buFont typeface="Arial" panose="020B0604020202020204" pitchFamily="34" charset="0"/>
              <a:buChar char="•"/>
            </a:pPr>
            <a:endParaRPr lang="en-US" dirty="0">
              <a:latin typeface="Lato"/>
            </a:endParaRPr>
          </a:p>
          <a:p>
            <a:pPr marL="457200" indent="-457200">
              <a:lnSpc>
                <a:spcPct val="91000"/>
              </a:lnSpc>
              <a:buFont typeface="Arial" panose="020B0604020202020204" pitchFamily="34" charset="0"/>
              <a:buChar char="•"/>
            </a:pPr>
            <a:endParaRPr lang="en-US" dirty="0">
              <a:latin typeface="Lato"/>
            </a:endParaRPr>
          </a:p>
          <a:p>
            <a:pPr marL="457200" indent="-457200">
              <a:lnSpc>
                <a:spcPct val="91000"/>
              </a:lnSpc>
              <a:buFont typeface="Arial" panose="020B0604020202020204" pitchFamily="34" charset="0"/>
              <a:buChar char="•"/>
            </a:pPr>
            <a:endParaRPr lang="en-SG" dirty="0">
              <a:latin typeface="Lato"/>
            </a:endParaRPr>
          </a:p>
        </p:txBody>
      </p:sp>
    </p:spTree>
    <p:extLst>
      <p:ext uri="{BB962C8B-B14F-4D97-AF65-F5344CB8AC3E}">
        <p14:creationId xmlns:p14="http://schemas.microsoft.com/office/powerpoint/2010/main" val="374607877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138675C-6528-45B8-ACD2-002CF7EABC45}"/>
              </a:ext>
            </a:extLst>
          </p:cNvPr>
          <p:cNvSpPr txBox="1">
            <a:spLocks/>
          </p:cNvSpPr>
          <p:nvPr/>
        </p:nvSpPr>
        <p:spPr>
          <a:xfrm>
            <a:off x="4602881" y="2962265"/>
            <a:ext cx="2986237" cy="933470"/>
          </a:xfrm>
          <a:prstGeom prst="rect">
            <a:avLst/>
          </a:prstGeom>
        </p:spPr>
        <p:txBody>
          <a:bodyPr>
            <a:normAutofit fontScale="97500" lnSpcReduction="10000"/>
          </a:bodyPr>
          <a:lstStyle>
            <a:lvl1pPr algn="l" defTabSz="914400" rtl="0" eaLnBrk="1" latinLnBrk="0" hangingPunct="1">
              <a:lnSpc>
                <a:spcPct val="90000"/>
              </a:lnSpc>
              <a:spcBef>
                <a:spcPct val="0"/>
              </a:spcBef>
              <a:buNone/>
              <a:defRPr sz="6600" kern="1200" cap="all" spc="120" baseline="0">
                <a:solidFill>
                  <a:schemeClr val="bg1"/>
                </a:solidFill>
                <a:latin typeface="+mj-lt"/>
                <a:ea typeface="+mj-ea"/>
                <a:cs typeface="+mj-cs"/>
              </a:defRPr>
            </a:lvl1pPr>
          </a:lstStyle>
          <a:p>
            <a:r>
              <a:rPr lang="en-SG" dirty="0"/>
              <a:t>The END</a:t>
            </a:r>
          </a:p>
        </p:txBody>
      </p:sp>
    </p:spTree>
    <p:extLst>
      <p:ext uri="{BB962C8B-B14F-4D97-AF65-F5344CB8AC3E}">
        <p14:creationId xmlns:p14="http://schemas.microsoft.com/office/powerpoint/2010/main" val="27390159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0ADDE-CCC5-40A5-AFAC-0BADFC20D7DB}"/>
              </a:ext>
            </a:extLst>
          </p:cNvPr>
          <p:cNvSpPr>
            <a:spLocks noGrp="1"/>
          </p:cNvSpPr>
          <p:nvPr>
            <p:ph type="title"/>
          </p:nvPr>
        </p:nvSpPr>
        <p:spPr/>
        <p:txBody>
          <a:bodyPr>
            <a:normAutofit/>
          </a:bodyPr>
          <a:lstStyle/>
          <a:p>
            <a:r>
              <a:rPr lang="en-SG" dirty="0"/>
              <a:t>References</a:t>
            </a:r>
            <a:br>
              <a:rPr lang="en-SG" dirty="0"/>
            </a:br>
            <a:r>
              <a:rPr lang="en-SG" sz="1000" dirty="0"/>
              <a:t>(in order of appearance)</a:t>
            </a:r>
          </a:p>
        </p:txBody>
      </p:sp>
      <p:sp>
        <p:nvSpPr>
          <p:cNvPr id="3" name="Content Placeholder 2">
            <a:extLst>
              <a:ext uri="{FF2B5EF4-FFF2-40B4-BE49-F238E27FC236}">
                <a16:creationId xmlns:a16="http://schemas.microsoft.com/office/drawing/2014/main" id="{2B3CFDAE-4835-4171-BD85-6CB7F7D23448}"/>
              </a:ext>
            </a:extLst>
          </p:cNvPr>
          <p:cNvSpPr>
            <a:spLocks noGrp="1"/>
          </p:cNvSpPr>
          <p:nvPr>
            <p:ph idx="1"/>
          </p:nvPr>
        </p:nvSpPr>
        <p:spPr/>
        <p:txBody>
          <a:bodyPr>
            <a:normAutofit fontScale="62500" lnSpcReduction="20000"/>
          </a:bodyPr>
          <a:lstStyle/>
          <a:p>
            <a:r>
              <a:rPr lang="en-SG" dirty="0">
                <a:hlinkClick r:id="rId3"/>
              </a:rPr>
              <a:t>https://www.statista.com/statistics/1028439/singapore-most-popular-payment-methods-for-online-purchase/</a:t>
            </a:r>
          </a:p>
          <a:p>
            <a:r>
              <a:rPr lang="en-SG" dirty="0">
                <a:hlinkClick r:id="rId3"/>
              </a:rPr>
              <a:t>https://www.straitstimes.com/singapore/courts-crime/at-least-21-people-in-singapore-fall-prey-to-transnational-online-credit-card</a:t>
            </a:r>
          </a:p>
          <a:p>
            <a:r>
              <a:rPr lang="en-SG" dirty="0">
                <a:hlinkClick r:id="rId3"/>
              </a:rPr>
              <a:t>https://www.police.gov.sg/media-room/news/20210506_woman_arrested_for_unauthorised_transactions_using_stolen_credit_card</a:t>
            </a:r>
          </a:p>
          <a:p>
            <a:r>
              <a:rPr lang="en-SG" dirty="0">
                <a:hlinkClick r:id="rId3"/>
              </a:rPr>
              <a:t>https://mothership.sg/2021/06/dbs-credit-card-fraud-bypass-otp-sms/</a:t>
            </a:r>
          </a:p>
          <a:p>
            <a:r>
              <a:rPr lang="en-SG" dirty="0">
                <a:hlinkClick r:id="rId3"/>
              </a:rPr>
              <a:t>https://www.kaggle.com/mlg-ulb/creditcardfraud</a:t>
            </a:r>
            <a:endParaRPr lang="en-SG" dirty="0"/>
          </a:p>
          <a:p>
            <a:r>
              <a:rPr lang="en-SG" dirty="0">
                <a:hlinkClick r:id="rId4"/>
              </a:rPr>
              <a:t>https://fraud-detection-handbook.github.io/fraud-detection-handbook/Foreword.html#authors</a:t>
            </a:r>
            <a:endParaRPr lang="en-SG" dirty="0"/>
          </a:p>
          <a:p>
            <a:r>
              <a:rPr lang="en-US" b="0" i="0" dirty="0">
                <a:solidFill>
                  <a:srgbClr val="333333"/>
                </a:solidFill>
                <a:effectLst/>
                <a:latin typeface="Lato"/>
                <a:hlinkClick r:id="rId5"/>
              </a:rPr>
              <a:t>https://fraud-detection-handbook.github.io/fraud-detection-handbook/Chapter_4_PerformanceMetrics/Assessment_RealWorldData.html</a:t>
            </a:r>
            <a:endParaRPr lang="en-US" b="0" i="0" dirty="0">
              <a:solidFill>
                <a:srgbClr val="333333"/>
              </a:solidFill>
              <a:effectLst/>
              <a:latin typeface="Lato"/>
            </a:endParaRPr>
          </a:p>
          <a:p>
            <a:endParaRPr lang="en-US" b="0" i="0" dirty="0">
              <a:solidFill>
                <a:srgbClr val="333333"/>
              </a:solidFill>
              <a:effectLst/>
              <a:latin typeface="Lato"/>
            </a:endParaRPr>
          </a:p>
          <a:p>
            <a:endParaRPr lang="en-SG" dirty="0"/>
          </a:p>
          <a:p>
            <a:endParaRPr lang="en-SG" dirty="0"/>
          </a:p>
          <a:p>
            <a:endParaRPr lang="en-SG" dirty="0"/>
          </a:p>
          <a:p>
            <a:endParaRPr lang="en-SG" dirty="0"/>
          </a:p>
        </p:txBody>
      </p:sp>
    </p:spTree>
    <p:extLst>
      <p:ext uri="{BB962C8B-B14F-4D97-AF65-F5344CB8AC3E}">
        <p14:creationId xmlns:p14="http://schemas.microsoft.com/office/powerpoint/2010/main" val="1059584885"/>
      </p:ext>
    </p:extLst>
  </p:cSld>
  <p:clrMapOvr>
    <a:masterClrMapping/>
  </p:clrMapOvr>
</p:sld>
</file>

<file path=ppt/theme/theme1.xml><?xml version="1.0" encoding="utf-8"?>
<a:theme xmlns:a="http://schemas.openxmlformats.org/drawingml/2006/main" name="JuxtaposeVTI">
  <a:themeElements>
    <a:clrScheme name="AnalogousFromLightSeedLeftStep">
      <a:dk1>
        <a:srgbClr val="000000"/>
      </a:dk1>
      <a:lt1>
        <a:srgbClr val="FFFFFF"/>
      </a:lt1>
      <a:dk2>
        <a:srgbClr val="322441"/>
      </a:dk2>
      <a:lt2>
        <a:srgbClr val="E2E8E4"/>
      </a:lt2>
      <a:accent1>
        <a:srgbClr val="C593B4"/>
      </a:accent1>
      <a:accent2>
        <a:srgbClr val="B57FBA"/>
      </a:accent2>
      <a:accent3>
        <a:srgbClr val="AE96C6"/>
      </a:accent3>
      <a:accent4>
        <a:srgbClr val="847FBA"/>
      </a:accent4>
      <a:accent5>
        <a:srgbClr val="93A4C5"/>
      </a:accent5>
      <a:accent6>
        <a:srgbClr val="7BA9B8"/>
      </a:accent6>
      <a:hlink>
        <a:srgbClr val="568E68"/>
      </a:hlink>
      <a:folHlink>
        <a:srgbClr val="7F7F7F"/>
      </a:folHlink>
    </a:clrScheme>
    <a:fontScheme name="Custom 167">
      <a:majorFont>
        <a:latin typeface="Franklin Gothic Demi Cond"/>
        <a:ea typeface=""/>
        <a:cs typeface=""/>
      </a:majorFont>
      <a:minorFont>
        <a:latin typeface="Franklin Gothic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uxtaposeVTI" id="{FBDCC3B4-6EA8-442A-B697-43C068E31FE3}" vid="{090F2E09-E4E2-4F71-A70E-279F5A0D9E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5051</TotalTime>
  <Words>3589</Words>
  <Application>Microsoft Office PowerPoint</Application>
  <PresentationFormat>Widescreen</PresentationFormat>
  <Paragraphs>236</Paragraphs>
  <Slides>33</Slides>
  <Notes>28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33</vt:i4>
      </vt:variant>
    </vt:vector>
  </HeadingPairs>
  <TitlesOfParts>
    <vt:vector size="45" baseType="lpstr">
      <vt:lpstr>Arial</vt:lpstr>
      <vt:lpstr>Calibri</vt:lpstr>
      <vt:lpstr>Franklin Gothic Demi Cond</vt:lpstr>
      <vt:lpstr>Franklin Gothic Medium</vt:lpstr>
      <vt:lpstr>Helvetica Neue</vt:lpstr>
      <vt:lpstr>Inter</vt:lpstr>
      <vt:lpstr>Lato</vt:lpstr>
      <vt:lpstr>MathJax_Main</vt:lpstr>
      <vt:lpstr>MathJax_Math-italic</vt:lpstr>
      <vt:lpstr>Open Sans</vt:lpstr>
      <vt:lpstr>Wingdings</vt:lpstr>
      <vt:lpstr>JuxtaposeVTI</vt:lpstr>
      <vt:lpstr>Credit Card Fraud Detection using ML</vt:lpstr>
      <vt:lpstr>Intro</vt:lpstr>
      <vt:lpstr>PowerPoint Presentation</vt:lpstr>
      <vt:lpstr>PowerPoint Presentation</vt:lpstr>
      <vt:lpstr>Types of credit card fraud</vt:lpstr>
      <vt:lpstr>Credit card fraud detection system</vt:lpstr>
      <vt:lpstr>PowerPoint Presentation</vt:lpstr>
      <vt:lpstr>The Problem</vt:lpstr>
      <vt:lpstr>PowerPoint Presentation</vt:lpstr>
      <vt:lpstr>Background of the data</vt:lpstr>
      <vt:lpstr>The Features I</vt:lpstr>
      <vt:lpstr>The Features II</vt:lpstr>
      <vt:lpstr>fraud scenarios in the data</vt:lpstr>
      <vt:lpstr>Analyse the data</vt:lpstr>
      <vt:lpstr>Feature Engineering</vt:lpstr>
      <vt:lpstr>Objective of the model</vt:lpstr>
      <vt:lpstr>Building the model</vt:lpstr>
      <vt:lpstr>Which metrics to choose?</vt:lpstr>
      <vt:lpstr>Metrics selection</vt:lpstr>
      <vt:lpstr>ML tools</vt:lpstr>
      <vt:lpstr>Model comparisons</vt:lpstr>
      <vt:lpstr>Model comparisons  – ROC AUC</vt:lpstr>
      <vt:lpstr>Model comparisons –  PR Curve</vt:lpstr>
      <vt:lpstr>Which Model to choose?</vt:lpstr>
      <vt:lpstr>Validation technique</vt:lpstr>
      <vt:lpstr>Hyperparameter tuning</vt:lpstr>
      <vt:lpstr>Model results</vt:lpstr>
      <vt:lpstr>Key Notes</vt:lpstr>
      <vt:lpstr>Real world considerations</vt:lpstr>
      <vt:lpstr>Other possible metrics</vt:lpstr>
      <vt:lpstr>Final word</vt:lpstr>
      <vt:lpstr>PowerPoint Presentation</vt:lpstr>
      <vt:lpstr>References (in order of appearance)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dc:title>
  <dc:creator>Lewy AGB</dc:creator>
  <cp:lastModifiedBy>Lewy AGB</cp:lastModifiedBy>
  <cp:revision>139</cp:revision>
  <dcterms:created xsi:type="dcterms:W3CDTF">2021-07-11T13:01:30Z</dcterms:created>
  <dcterms:modified xsi:type="dcterms:W3CDTF">2021-07-15T09:11:12Z</dcterms:modified>
</cp:coreProperties>
</file>